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3" d="100"/>
          <a:sy n="73" d="100"/>
        </p:scale>
        <p:origin x="380" y="2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83560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B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F"/>
          </a:solidFill>
          <a:ln w="12700">
            <a:solidFill>
              <a:srgbClr val="333333">
                <a:alpha val="0"/>
              </a:srgbClr>
            </a:solidFill>
            <a:prstDash val="solid"/>
          </a:ln>
        </p:spPr>
      </p:sp>
      <p:sp>
        <p:nvSpPr>
          <p:cNvPr id="3" name="Shape 1"/>
          <p:cNvSpPr/>
          <p:nvPr/>
        </p:nvSpPr>
        <p:spPr>
          <a:xfrm>
            <a:off x="0" y="0"/>
            <a:ext cx="12191695" cy="6858000"/>
          </a:xfrm>
          <a:prstGeom prst="rect">
            <a:avLst/>
          </a:prstGeom>
          <a:solidFill>
            <a:srgbClr val="1677C8">
              <a:alpha val="12000"/>
            </a:srgbClr>
          </a:solidFill>
          <a:ln w="12700">
            <a:solidFill>
              <a:srgbClr val="333333">
                <a:alpha val="0"/>
              </a:srgbClr>
            </a:solidFill>
            <a:prstDash val="solid"/>
          </a:ln>
        </p:spPr>
      </p:sp>
      <p:sp>
        <p:nvSpPr>
          <p:cNvPr id="4" name="Shape 2"/>
          <p:cNvSpPr/>
          <p:nvPr/>
        </p:nvSpPr>
        <p:spPr>
          <a:xfrm>
            <a:off x="6949440" y="-365760"/>
            <a:ext cx="4937760" cy="3657600"/>
          </a:xfrm>
          <a:prstGeom prst="arc">
            <a:avLst/>
          </a:prstGeom>
          <a:noFill/>
          <a:ln w="38100">
            <a:solidFill>
              <a:srgbClr val="00A3E0">
                <a:alpha val="75000"/>
              </a:srgbClr>
            </a:solidFill>
            <a:prstDash val="solid"/>
          </a:ln>
        </p:spPr>
      </p:sp>
      <p:sp>
        <p:nvSpPr>
          <p:cNvPr id="5" name="Shape 3"/>
          <p:cNvSpPr/>
          <p:nvPr/>
        </p:nvSpPr>
        <p:spPr>
          <a:xfrm>
            <a:off x="9601200" y="822960"/>
            <a:ext cx="1097280" cy="384048"/>
          </a:xfrm>
          <a:prstGeom prst="line">
            <a:avLst/>
          </a:prstGeom>
          <a:noFill/>
          <a:ln w="50800">
            <a:solidFill>
              <a:srgbClr val="F05A28"/>
            </a:solidFill>
            <a:prstDash val="solid"/>
            <a:tailEnd type="triangle"/>
          </a:ln>
        </p:spPr>
      </p:sp>
      <p:sp>
        <p:nvSpPr>
          <p:cNvPr id="6" name="Text 4"/>
          <p:cNvSpPr/>
          <p:nvPr/>
        </p:nvSpPr>
        <p:spPr>
          <a:xfrm>
            <a:off x="594360" y="896112"/>
            <a:ext cx="7498080" cy="1234440"/>
          </a:xfrm>
          <a:prstGeom prst="rect">
            <a:avLst/>
          </a:prstGeom>
          <a:noFill/>
          <a:ln/>
        </p:spPr>
        <p:txBody>
          <a:bodyPr wrap="square" lIns="0" tIns="0" rIns="0" bIns="0" rtlCol="0" anchor="ctr"/>
          <a:lstStyle/>
          <a:p>
            <a:pPr marL="0" indent="0">
              <a:buNone/>
            </a:pPr>
            <a:r>
              <a:rPr lang="en-US" sz="3400" b="1" dirty="0">
                <a:solidFill>
                  <a:srgbClr val="14375F"/>
                </a:solidFill>
                <a:latin typeface="Aptos Display" pitchFamily="34" charset="0"/>
                <a:ea typeface="Aptos Display" pitchFamily="34" charset="-122"/>
                <a:cs typeface="Aptos Display" pitchFamily="34" charset="-120"/>
              </a:rPr>
              <a:t>Goibibo End-to-End</a:t>
            </a:r>
            <a:endParaRPr lang="en-US" sz="3400" dirty="0"/>
          </a:p>
          <a:p>
            <a:pPr marL="0" indent="0">
              <a:buNone/>
            </a:pPr>
            <a:r>
              <a:rPr lang="en-US" sz="3400" b="1" dirty="0">
                <a:solidFill>
                  <a:srgbClr val="14375F"/>
                </a:solidFill>
                <a:latin typeface="Aptos Display" pitchFamily="34" charset="0"/>
                <a:ea typeface="Aptos Display" pitchFamily="34" charset="-122"/>
                <a:cs typeface="Aptos Display" pitchFamily="34" charset="-120"/>
              </a:rPr>
              <a:t>Automation Testing Framework</a:t>
            </a:r>
            <a:endParaRPr lang="en-US" sz="3400" dirty="0"/>
          </a:p>
        </p:txBody>
      </p:sp>
      <p:sp>
        <p:nvSpPr>
          <p:cNvPr id="7" name="Text 5"/>
          <p:cNvSpPr/>
          <p:nvPr/>
        </p:nvSpPr>
        <p:spPr>
          <a:xfrm>
            <a:off x="621792" y="2249424"/>
            <a:ext cx="5852160" cy="292608"/>
          </a:xfrm>
          <a:prstGeom prst="rect">
            <a:avLst/>
          </a:prstGeom>
          <a:noFill/>
          <a:ln/>
        </p:spPr>
        <p:txBody>
          <a:bodyPr wrap="square" lIns="0" tIns="0" rIns="0" bIns="0" rtlCol="0" anchor="ctr"/>
          <a:lstStyle/>
          <a:p>
            <a:pPr marL="0" indent="0">
              <a:buNone/>
            </a:pPr>
            <a:r>
              <a:rPr lang="en-US" sz="1500" dirty="0">
                <a:solidFill>
                  <a:srgbClr val="667085"/>
                </a:solidFill>
              </a:rPr>
              <a:t>Travel &amp; Booking Domain Automation Project</a:t>
            </a:r>
            <a:endParaRPr lang="en-US" sz="1500" dirty="0"/>
          </a:p>
        </p:txBody>
      </p:sp>
      <p:sp>
        <p:nvSpPr>
          <p:cNvPr id="8" name="Shape 6"/>
          <p:cNvSpPr/>
          <p:nvPr/>
        </p:nvSpPr>
        <p:spPr>
          <a:xfrm>
            <a:off x="640080" y="2880360"/>
            <a:ext cx="2971800" cy="512064"/>
          </a:xfrm>
          <a:prstGeom prst="roundRect">
            <a:avLst>
              <a:gd name="adj" fmla="val 14286"/>
            </a:avLst>
          </a:prstGeom>
          <a:solidFill>
            <a:srgbClr val="FFFFFF"/>
          </a:solidFill>
          <a:ln w="12700">
            <a:solidFill>
              <a:srgbClr val="D6E4F2"/>
            </a:solidFill>
            <a:prstDash val="solid"/>
          </a:ln>
        </p:spPr>
      </p:sp>
      <p:sp>
        <p:nvSpPr>
          <p:cNvPr id="9" name="Shape 7"/>
          <p:cNvSpPr/>
          <p:nvPr/>
        </p:nvSpPr>
        <p:spPr>
          <a:xfrm>
            <a:off x="640080" y="2880360"/>
            <a:ext cx="73152" cy="512064"/>
          </a:xfrm>
          <a:prstGeom prst="rect">
            <a:avLst/>
          </a:prstGeom>
          <a:solidFill>
            <a:srgbClr val="1677C8"/>
          </a:solidFill>
          <a:ln w="12700">
            <a:solidFill>
              <a:srgbClr val="1677C8"/>
            </a:solidFill>
            <a:prstDash val="solid"/>
          </a:ln>
        </p:spPr>
      </p:sp>
      <p:sp>
        <p:nvSpPr>
          <p:cNvPr id="10" name="Text 8"/>
          <p:cNvSpPr/>
          <p:nvPr/>
        </p:nvSpPr>
        <p:spPr>
          <a:xfrm>
            <a:off x="786384" y="2990088"/>
            <a:ext cx="2743200" cy="164592"/>
          </a:xfrm>
          <a:prstGeom prst="rect">
            <a:avLst/>
          </a:prstGeom>
          <a:noFill/>
          <a:ln/>
        </p:spPr>
        <p:txBody>
          <a:bodyPr wrap="square" lIns="0" tIns="0" rIns="0" bIns="0" rtlCol="0" anchor="ctr"/>
          <a:lstStyle/>
          <a:p>
            <a:pPr marL="0" indent="0">
              <a:buNone/>
            </a:pPr>
            <a:r>
              <a:rPr lang="en-US" sz="920" b="1" dirty="0">
                <a:solidFill>
                  <a:srgbClr val="1677C8"/>
                </a:solidFill>
              </a:rPr>
              <a:t>Domain</a:t>
            </a:r>
            <a:endParaRPr lang="en-US" sz="920" dirty="0"/>
          </a:p>
        </p:txBody>
      </p:sp>
      <p:sp>
        <p:nvSpPr>
          <p:cNvPr id="11" name="Text 9"/>
          <p:cNvSpPr/>
          <p:nvPr/>
        </p:nvSpPr>
        <p:spPr>
          <a:xfrm>
            <a:off x="786384" y="3227832"/>
            <a:ext cx="2743200" cy="100584"/>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Travel &amp; Booking</a:t>
            </a:r>
            <a:endParaRPr lang="en-US" sz="770" dirty="0"/>
          </a:p>
        </p:txBody>
      </p:sp>
      <p:sp>
        <p:nvSpPr>
          <p:cNvPr id="12" name="Shape 10"/>
          <p:cNvSpPr/>
          <p:nvPr/>
        </p:nvSpPr>
        <p:spPr>
          <a:xfrm>
            <a:off x="640080" y="3502152"/>
            <a:ext cx="2971800" cy="512064"/>
          </a:xfrm>
          <a:prstGeom prst="roundRect">
            <a:avLst>
              <a:gd name="adj" fmla="val 14286"/>
            </a:avLst>
          </a:prstGeom>
          <a:solidFill>
            <a:srgbClr val="FFFFFF"/>
          </a:solidFill>
          <a:ln w="12700">
            <a:solidFill>
              <a:srgbClr val="D6E4F2"/>
            </a:solidFill>
            <a:prstDash val="solid"/>
          </a:ln>
        </p:spPr>
      </p:sp>
      <p:sp>
        <p:nvSpPr>
          <p:cNvPr id="13" name="Shape 11"/>
          <p:cNvSpPr/>
          <p:nvPr/>
        </p:nvSpPr>
        <p:spPr>
          <a:xfrm>
            <a:off x="640080" y="3502152"/>
            <a:ext cx="73152" cy="512064"/>
          </a:xfrm>
          <a:prstGeom prst="rect">
            <a:avLst/>
          </a:prstGeom>
          <a:solidFill>
            <a:srgbClr val="1677C8"/>
          </a:solidFill>
          <a:ln w="12700">
            <a:solidFill>
              <a:srgbClr val="1677C8"/>
            </a:solidFill>
            <a:prstDash val="solid"/>
          </a:ln>
        </p:spPr>
      </p:sp>
      <p:sp>
        <p:nvSpPr>
          <p:cNvPr id="14" name="Text 12"/>
          <p:cNvSpPr/>
          <p:nvPr/>
        </p:nvSpPr>
        <p:spPr>
          <a:xfrm>
            <a:off x="786384" y="3611880"/>
            <a:ext cx="2743200" cy="164592"/>
          </a:xfrm>
          <a:prstGeom prst="rect">
            <a:avLst/>
          </a:prstGeom>
          <a:noFill/>
          <a:ln/>
        </p:spPr>
        <p:txBody>
          <a:bodyPr wrap="square" lIns="0" tIns="0" rIns="0" bIns="0" rtlCol="0" anchor="ctr"/>
          <a:lstStyle/>
          <a:p>
            <a:pPr marL="0" indent="0">
              <a:buNone/>
            </a:pPr>
            <a:r>
              <a:rPr lang="en-US" sz="920" b="1" dirty="0">
                <a:solidFill>
                  <a:srgbClr val="1677C8"/>
                </a:solidFill>
              </a:rPr>
              <a:t>Project Type</a:t>
            </a:r>
            <a:endParaRPr lang="en-US" sz="920" dirty="0"/>
          </a:p>
        </p:txBody>
      </p:sp>
      <p:sp>
        <p:nvSpPr>
          <p:cNvPr id="15" name="Text 13"/>
          <p:cNvSpPr/>
          <p:nvPr/>
        </p:nvSpPr>
        <p:spPr>
          <a:xfrm>
            <a:off x="786384" y="3849624"/>
            <a:ext cx="2743200" cy="100584"/>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Web Automation Testing</a:t>
            </a:r>
            <a:endParaRPr lang="en-US" sz="770" dirty="0"/>
          </a:p>
        </p:txBody>
      </p:sp>
      <p:sp>
        <p:nvSpPr>
          <p:cNvPr id="16" name="Shape 14"/>
          <p:cNvSpPr/>
          <p:nvPr/>
        </p:nvSpPr>
        <p:spPr>
          <a:xfrm>
            <a:off x="640080" y="4123944"/>
            <a:ext cx="2971800" cy="512064"/>
          </a:xfrm>
          <a:prstGeom prst="roundRect">
            <a:avLst>
              <a:gd name="adj" fmla="val 14286"/>
            </a:avLst>
          </a:prstGeom>
          <a:solidFill>
            <a:srgbClr val="FFFFFF"/>
          </a:solidFill>
          <a:ln w="12700">
            <a:solidFill>
              <a:srgbClr val="D6E4F2"/>
            </a:solidFill>
            <a:prstDash val="solid"/>
          </a:ln>
        </p:spPr>
      </p:sp>
      <p:sp>
        <p:nvSpPr>
          <p:cNvPr id="17" name="Shape 15"/>
          <p:cNvSpPr/>
          <p:nvPr/>
        </p:nvSpPr>
        <p:spPr>
          <a:xfrm>
            <a:off x="640080" y="4123944"/>
            <a:ext cx="73152" cy="512064"/>
          </a:xfrm>
          <a:prstGeom prst="rect">
            <a:avLst/>
          </a:prstGeom>
          <a:solidFill>
            <a:srgbClr val="1677C8"/>
          </a:solidFill>
          <a:ln w="12700">
            <a:solidFill>
              <a:srgbClr val="1677C8"/>
            </a:solidFill>
            <a:prstDash val="solid"/>
          </a:ln>
        </p:spPr>
      </p:sp>
      <p:sp>
        <p:nvSpPr>
          <p:cNvPr id="18" name="Text 16"/>
          <p:cNvSpPr/>
          <p:nvPr/>
        </p:nvSpPr>
        <p:spPr>
          <a:xfrm>
            <a:off x="786384" y="4233672"/>
            <a:ext cx="2743200" cy="164592"/>
          </a:xfrm>
          <a:prstGeom prst="rect">
            <a:avLst/>
          </a:prstGeom>
          <a:noFill/>
          <a:ln/>
        </p:spPr>
        <p:txBody>
          <a:bodyPr wrap="square" lIns="0" tIns="0" rIns="0" bIns="0" rtlCol="0" anchor="ctr"/>
          <a:lstStyle/>
          <a:p>
            <a:pPr marL="0" indent="0">
              <a:buNone/>
            </a:pPr>
            <a:r>
              <a:rPr lang="en-US" sz="920" b="1" dirty="0">
                <a:solidFill>
                  <a:srgbClr val="1677C8"/>
                </a:solidFill>
              </a:rPr>
              <a:t>Browser</a:t>
            </a:r>
            <a:endParaRPr lang="en-US" sz="920" dirty="0"/>
          </a:p>
        </p:txBody>
      </p:sp>
      <p:sp>
        <p:nvSpPr>
          <p:cNvPr id="19" name="Text 17"/>
          <p:cNvSpPr/>
          <p:nvPr/>
        </p:nvSpPr>
        <p:spPr>
          <a:xfrm>
            <a:off x="786384" y="4471416"/>
            <a:ext cx="2743200" cy="100584"/>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Google Chrome</a:t>
            </a:r>
            <a:endParaRPr lang="en-US" sz="770" dirty="0"/>
          </a:p>
        </p:txBody>
      </p:sp>
      <p:sp>
        <p:nvSpPr>
          <p:cNvPr id="20" name="Shape 18"/>
          <p:cNvSpPr/>
          <p:nvPr/>
        </p:nvSpPr>
        <p:spPr>
          <a:xfrm>
            <a:off x="640080" y="4745736"/>
            <a:ext cx="2971800" cy="512064"/>
          </a:xfrm>
          <a:prstGeom prst="roundRect">
            <a:avLst>
              <a:gd name="adj" fmla="val 14286"/>
            </a:avLst>
          </a:prstGeom>
          <a:solidFill>
            <a:srgbClr val="FFFFFF"/>
          </a:solidFill>
          <a:ln w="12700">
            <a:solidFill>
              <a:srgbClr val="D6E4F2"/>
            </a:solidFill>
            <a:prstDash val="solid"/>
          </a:ln>
        </p:spPr>
      </p:sp>
      <p:sp>
        <p:nvSpPr>
          <p:cNvPr id="21" name="Shape 19"/>
          <p:cNvSpPr/>
          <p:nvPr/>
        </p:nvSpPr>
        <p:spPr>
          <a:xfrm>
            <a:off x="640080" y="4745736"/>
            <a:ext cx="73152" cy="512064"/>
          </a:xfrm>
          <a:prstGeom prst="rect">
            <a:avLst/>
          </a:prstGeom>
          <a:solidFill>
            <a:srgbClr val="1677C8"/>
          </a:solidFill>
          <a:ln w="12700">
            <a:solidFill>
              <a:srgbClr val="1677C8"/>
            </a:solidFill>
            <a:prstDash val="solid"/>
          </a:ln>
        </p:spPr>
      </p:sp>
      <p:sp>
        <p:nvSpPr>
          <p:cNvPr id="22" name="Text 20"/>
          <p:cNvSpPr/>
          <p:nvPr/>
        </p:nvSpPr>
        <p:spPr>
          <a:xfrm>
            <a:off x="786384" y="4855464"/>
            <a:ext cx="2743200" cy="164592"/>
          </a:xfrm>
          <a:prstGeom prst="rect">
            <a:avLst/>
          </a:prstGeom>
          <a:noFill/>
          <a:ln/>
        </p:spPr>
        <p:txBody>
          <a:bodyPr wrap="square" lIns="0" tIns="0" rIns="0" bIns="0" rtlCol="0" anchor="ctr"/>
          <a:lstStyle/>
          <a:p>
            <a:pPr marL="0" indent="0">
              <a:buNone/>
            </a:pPr>
            <a:r>
              <a:rPr lang="en-US" sz="920" b="1" dirty="0">
                <a:solidFill>
                  <a:srgbClr val="1677C8"/>
                </a:solidFill>
              </a:rPr>
              <a:t>Architecture</a:t>
            </a:r>
            <a:endParaRPr lang="en-US" sz="920" dirty="0"/>
          </a:p>
        </p:txBody>
      </p:sp>
      <p:sp>
        <p:nvSpPr>
          <p:cNvPr id="23" name="Text 21"/>
          <p:cNvSpPr/>
          <p:nvPr/>
        </p:nvSpPr>
        <p:spPr>
          <a:xfrm>
            <a:off x="786384" y="5093208"/>
            <a:ext cx="2743200" cy="100584"/>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End-to-End Automation Framework</a:t>
            </a:r>
            <a:endParaRPr lang="en-US" sz="770" dirty="0"/>
          </a:p>
        </p:txBody>
      </p:sp>
      <p:sp>
        <p:nvSpPr>
          <p:cNvPr id="24" name="Shape 22"/>
          <p:cNvSpPr/>
          <p:nvPr/>
        </p:nvSpPr>
        <p:spPr>
          <a:xfrm>
            <a:off x="3886200" y="2880360"/>
            <a:ext cx="3383280" cy="2377440"/>
          </a:xfrm>
          <a:prstGeom prst="roundRect">
            <a:avLst>
              <a:gd name="adj" fmla="val 3077"/>
            </a:avLst>
          </a:prstGeom>
          <a:solidFill>
            <a:srgbClr val="FFFFFF"/>
          </a:solidFill>
          <a:ln w="12700">
            <a:solidFill>
              <a:srgbClr val="D6E4F2"/>
            </a:solidFill>
            <a:prstDash val="solid"/>
          </a:ln>
        </p:spPr>
      </p:sp>
      <p:sp>
        <p:nvSpPr>
          <p:cNvPr id="25" name="Shape 23"/>
          <p:cNvSpPr/>
          <p:nvPr/>
        </p:nvSpPr>
        <p:spPr>
          <a:xfrm>
            <a:off x="3886200" y="2880360"/>
            <a:ext cx="73152" cy="2377440"/>
          </a:xfrm>
          <a:prstGeom prst="rect">
            <a:avLst/>
          </a:prstGeom>
          <a:solidFill>
            <a:srgbClr val="14375F"/>
          </a:solidFill>
          <a:ln w="12700">
            <a:solidFill>
              <a:srgbClr val="14375F"/>
            </a:solidFill>
            <a:prstDash val="solid"/>
          </a:ln>
        </p:spPr>
      </p:sp>
      <p:sp>
        <p:nvSpPr>
          <p:cNvPr id="26" name="Text 24"/>
          <p:cNvSpPr/>
          <p:nvPr/>
        </p:nvSpPr>
        <p:spPr>
          <a:xfrm>
            <a:off x="4032504" y="2990088"/>
            <a:ext cx="3154680" cy="164592"/>
          </a:xfrm>
          <a:prstGeom prst="rect">
            <a:avLst/>
          </a:prstGeom>
          <a:noFill/>
          <a:ln/>
        </p:spPr>
        <p:txBody>
          <a:bodyPr wrap="square" lIns="0" tIns="0" rIns="0" bIns="0" rtlCol="0" anchor="ctr"/>
          <a:lstStyle/>
          <a:p>
            <a:pPr marL="0" indent="0">
              <a:buNone/>
            </a:pPr>
            <a:r>
              <a:rPr lang="en-US" sz="920" b="1" dirty="0">
                <a:solidFill>
                  <a:srgbClr val="14375F"/>
                </a:solidFill>
              </a:rPr>
              <a:t>Frameworks Used</a:t>
            </a:r>
            <a:endParaRPr lang="en-US" sz="920" dirty="0"/>
          </a:p>
        </p:txBody>
      </p:sp>
      <p:sp>
        <p:nvSpPr>
          <p:cNvPr id="27" name="Text 25"/>
          <p:cNvSpPr/>
          <p:nvPr/>
        </p:nvSpPr>
        <p:spPr>
          <a:xfrm>
            <a:off x="4032504" y="3227832"/>
            <a:ext cx="3154680" cy="1965960"/>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 Selenium with Python</a:t>
            </a:r>
            <a:endParaRPr lang="en-US" sz="770" dirty="0"/>
          </a:p>
          <a:p>
            <a:pPr marL="0" indent="0">
              <a:buNone/>
            </a:pPr>
            <a:r>
              <a:rPr lang="en-US" sz="770" dirty="0">
                <a:solidFill>
                  <a:srgbClr val="1F2937"/>
                </a:solidFill>
              </a:rPr>
              <a:t>• Behave BDD</a:t>
            </a:r>
            <a:endParaRPr lang="en-US" sz="770" dirty="0"/>
          </a:p>
          <a:p>
            <a:pPr marL="0" indent="0">
              <a:buNone/>
            </a:pPr>
            <a:r>
              <a:rPr lang="en-US" sz="770" dirty="0">
                <a:solidFill>
                  <a:srgbClr val="1F2937"/>
                </a:solidFill>
              </a:rPr>
              <a:t>• Pytest</a:t>
            </a:r>
            <a:endParaRPr lang="en-US" sz="770" dirty="0"/>
          </a:p>
          <a:p>
            <a:pPr marL="0" indent="0">
              <a:buNone/>
            </a:pPr>
            <a:r>
              <a:rPr lang="en-US" sz="770" dirty="0">
                <a:solidFill>
                  <a:srgbClr val="1F2937"/>
                </a:solidFill>
              </a:rPr>
              <a:t>• POM Framework</a:t>
            </a:r>
            <a:endParaRPr lang="en-US" sz="770" dirty="0"/>
          </a:p>
          <a:p>
            <a:pPr marL="0" indent="0">
              <a:buNone/>
            </a:pPr>
            <a:r>
              <a:rPr lang="en-US" sz="770" dirty="0">
                <a:solidFill>
                  <a:srgbClr val="1F2937"/>
                </a:solidFill>
              </a:rPr>
              <a:t>• Allure Reports</a:t>
            </a:r>
            <a:endParaRPr lang="en-US" sz="770" dirty="0"/>
          </a:p>
        </p:txBody>
      </p:sp>
      <p:sp>
        <p:nvSpPr>
          <p:cNvPr id="28" name="Shape 26"/>
          <p:cNvSpPr/>
          <p:nvPr/>
        </p:nvSpPr>
        <p:spPr>
          <a:xfrm>
            <a:off x="7818120" y="2770632"/>
            <a:ext cx="3520440" cy="2395728"/>
          </a:xfrm>
          <a:prstGeom prst="roundRect">
            <a:avLst>
              <a:gd name="adj" fmla="val 4580"/>
            </a:avLst>
          </a:prstGeom>
          <a:solidFill>
            <a:srgbClr val="FFFFFF"/>
          </a:solidFill>
          <a:ln w="12700">
            <a:solidFill>
              <a:srgbClr val="D6E4F2"/>
            </a:solidFill>
            <a:prstDash val="solid"/>
          </a:ln>
        </p:spPr>
      </p:sp>
      <p:sp>
        <p:nvSpPr>
          <p:cNvPr id="29" name="Text 27"/>
          <p:cNvSpPr/>
          <p:nvPr/>
        </p:nvSpPr>
        <p:spPr>
          <a:xfrm>
            <a:off x="8156448" y="3063240"/>
            <a:ext cx="2834640" cy="219456"/>
          </a:xfrm>
          <a:prstGeom prst="rect">
            <a:avLst/>
          </a:prstGeom>
          <a:noFill/>
          <a:ln/>
        </p:spPr>
        <p:txBody>
          <a:bodyPr wrap="square" lIns="0" tIns="0" rIns="0" bIns="0" rtlCol="0" anchor="ctr"/>
          <a:lstStyle/>
          <a:p>
            <a:pPr marL="0" indent="0" algn="ctr">
              <a:buNone/>
            </a:pPr>
            <a:r>
              <a:rPr lang="en-US" sz="1700" b="1" dirty="0">
                <a:solidFill>
                  <a:srgbClr val="14375F"/>
                </a:solidFill>
              </a:rPr>
              <a:t>Travel-Tech Automation</a:t>
            </a:r>
            <a:endParaRPr lang="en-US" sz="1700" dirty="0"/>
          </a:p>
        </p:txBody>
      </p:sp>
      <p:sp>
        <p:nvSpPr>
          <p:cNvPr id="30" name="Shape 28"/>
          <p:cNvSpPr/>
          <p:nvPr/>
        </p:nvSpPr>
        <p:spPr>
          <a:xfrm>
            <a:off x="8321040" y="3611880"/>
            <a:ext cx="1078992" cy="310896"/>
          </a:xfrm>
          <a:prstGeom prst="roundRect">
            <a:avLst>
              <a:gd name="adj" fmla="val 23529"/>
            </a:avLst>
          </a:prstGeom>
          <a:solidFill>
            <a:srgbClr val="EAF4FF"/>
          </a:solidFill>
          <a:ln w="12700">
            <a:solidFill>
              <a:srgbClr val="1677C8">
                <a:alpha val="60000"/>
              </a:srgbClr>
            </a:solidFill>
            <a:prstDash val="solid"/>
          </a:ln>
        </p:spPr>
      </p:sp>
      <p:sp>
        <p:nvSpPr>
          <p:cNvPr id="31" name="Text 29"/>
          <p:cNvSpPr/>
          <p:nvPr/>
        </p:nvSpPr>
        <p:spPr>
          <a:xfrm>
            <a:off x="8394192" y="3685032"/>
            <a:ext cx="932688" cy="128016"/>
          </a:xfrm>
          <a:prstGeom prst="rect">
            <a:avLst/>
          </a:prstGeom>
          <a:noFill/>
          <a:ln/>
        </p:spPr>
        <p:txBody>
          <a:bodyPr wrap="square" lIns="0" tIns="0" rIns="0" bIns="0" rtlCol="0" anchor="ctr"/>
          <a:lstStyle/>
          <a:p>
            <a:pPr marL="0" indent="0" algn="ctr">
              <a:buNone/>
            </a:pPr>
            <a:r>
              <a:rPr lang="en-US" sz="820" b="1" dirty="0">
                <a:solidFill>
                  <a:srgbClr val="1677C8"/>
                </a:solidFill>
              </a:rPr>
              <a:t>Search</a:t>
            </a:r>
            <a:endParaRPr lang="en-US" sz="820" dirty="0"/>
          </a:p>
        </p:txBody>
      </p:sp>
      <p:sp>
        <p:nvSpPr>
          <p:cNvPr id="32" name="Shape 30"/>
          <p:cNvSpPr/>
          <p:nvPr/>
        </p:nvSpPr>
        <p:spPr>
          <a:xfrm>
            <a:off x="9619488" y="3611880"/>
            <a:ext cx="1078992" cy="310896"/>
          </a:xfrm>
          <a:prstGeom prst="roundRect">
            <a:avLst>
              <a:gd name="adj" fmla="val 23529"/>
            </a:avLst>
          </a:prstGeom>
          <a:solidFill>
            <a:srgbClr val="EAF4FF"/>
          </a:solidFill>
          <a:ln w="12700">
            <a:solidFill>
              <a:srgbClr val="1677C8">
                <a:alpha val="60000"/>
              </a:srgbClr>
            </a:solidFill>
            <a:prstDash val="solid"/>
          </a:ln>
        </p:spPr>
      </p:sp>
      <p:sp>
        <p:nvSpPr>
          <p:cNvPr id="33" name="Text 31"/>
          <p:cNvSpPr/>
          <p:nvPr/>
        </p:nvSpPr>
        <p:spPr>
          <a:xfrm>
            <a:off x="9692640" y="3685032"/>
            <a:ext cx="932688" cy="128016"/>
          </a:xfrm>
          <a:prstGeom prst="rect">
            <a:avLst/>
          </a:prstGeom>
          <a:noFill/>
          <a:ln/>
        </p:spPr>
        <p:txBody>
          <a:bodyPr wrap="square" lIns="0" tIns="0" rIns="0" bIns="0" rtlCol="0" anchor="ctr"/>
          <a:lstStyle/>
          <a:p>
            <a:pPr marL="0" indent="0" algn="ctr">
              <a:buNone/>
            </a:pPr>
            <a:r>
              <a:rPr lang="en-US" sz="820" b="1" dirty="0">
                <a:solidFill>
                  <a:srgbClr val="1677C8"/>
                </a:solidFill>
              </a:rPr>
              <a:t>Booking</a:t>
            </a:r>
            <a:endParaRPr lang="en-US" sz="820" dirty="0"/>
          </a:p>
        </p:txBody>
      </p:sp>
      <p:sp>
        <p:nvSpPr>
          <p:cNvPr id="34" name="Shape 32"/>
          <p:cNvSpPr/>
          <p:nvPr/>
        </p:nvSpPr>
        <p:spPr>
          <a:xfrm>
            <a:off x="8321040" y="4142232"/>
            <a:ext cx="1078992" cy="310896"/>
          </a:xfrm>
          <a:prstGeom prst="roundRect">
            <a:avLst>
              <a:gd name="adj" fmla="val 23529"/>
            </a:avLst>
          </a:prstGeom>
          <a:solidFill>
            <a:srgbClr val="EAF4FF"/>
          </a:solidFill>
          <a:ln w="12700">
            <a:solidFill>
              <a:srgbClr val="1677C8">
                <a:alpha val="60000"/>
              </a:srgbClr>
            </a:solidFill>
            <a:prstDash val="solid"/>
          </a:ln>
        </p:spPr>
      </p:sp>
      <p:sp>
        <p:nvSpPr>
          <p:cNvPr id="35" name="Text 33"/>
          <p:cNvSpPr/>
          <p:nvPr/>
        </p:nvSpPr>
        <p:spPr>
          <a:xfrm>
            <a:off x="8394192" y="4215384"/>
            <a:ext cx="932688" cy="128016"/>
          </a:xfrm>
          <a:prstGeom prst="rect">
            <a:avLst/>
          </a:prstGeom>
          <a:noFill/>
          <a:ln/>
        </p:spPr>
        <p:txBody>
          <a:bodyPr wrap="square" lIns="0" tIns="0" rIns="0" bIns="0" rtlCol="0" anchor="ctr"/>
          <a:lstStyle/>
          <a:p>
            <a:pPr marL="0" indent="0" algn="ctr">
              <a:buNone/>
            </a:pPr>
            <a:r>
              <a:rPr lang="en-US" sz="820" b="1" dirty="0">
                <a:solidFill>
                  <a:srgbClr val="1677C8"/>
                </a:solidFill>
              </a:rPr>
              <a:t>Validation</a:t>
            </a:r>
            <a:endParaRPr lang="en-US" sz="820" dirty="0"/>
          </a:p>
        </p:txBody>
      </p:sp>
      <p:sp>
        <p:nvSpPr>
          <p:cNvPr id="36" name="Shape 34"/>
          <p:cNvSpPr/>
          <p:nvPr/>
        </p:nvSpPr>
        <p:spPr>
          <a:xfrm>
            <a:off x="9619488" y="4142232"/>
            <a:ext cx="1078992" cy="310896"/>
          </a:xfrm>
          <a:prstGeom prst="roundRect">
            <a:avLst>
              <a:gd name="adj" fmla="val 23529"/>
            </a:avLst>
          </a:prstGeom>
          <a:solidFill>
            <a:srgbClr val="EAF4FF"/>
          </a:solidFill>
          <a:ln w="12700">
            <a:solidFill>
              <a:srgbClr val="1677C8">
                <a:alpha val="60000"/>
              </a:srgbClr>
            </a:solidFill>
            <a:prstDash val="solid"/>
          </a:ln>
        </p:spPr>
      </p:sp>
      <p:sp>
        <p:nvSpPr>
          <p:cNvPr id="37" name="Text 35"/>
          <p:cNvSpPr/>
          <p:nvPr/>
        </p:nvSpPr>
        <p:spPr>
          <a:xfrm>
            <a:off x="9692640" y="4215384"/>
            <a:ext cx="932688" cy="128016"/>
          </a:xfrm>
          <a:prstGeom prst="rect">
            <a:avLst/>
          </a:prstGeom>
          <a:noFill/>
          <a:ln/>
        </p:spPr>
        <p:txBody>
          <a:bodyPr wrap="square" lIns="0" tIns="0" rIns="0" bIns="0" rtlCol="0" anchor="ctr"/>
          <a:lstStyle/>
          <a:p>
            <a:pPr marL="0" indent="0" algn="ctr">
              <a:buNone/>
            </a:pPr>
            <a:r>
              <a:rPr lang="en-US" sz="820" b="1" dirty="0">
                <a:solidFill>
                  <a:srgbClr val="1677C8"/>
                </a:solidFill>
              </a:rPr>
              <a:t>Reports</a:t>
            </a:r>
            <a:endParaRPr lang="en-US" sz="820" dirty="0"/>
          </a:p>
        </p:txBody>
      </p:sp>
      <p:sp>
        <p:nvSpPr>
          <p:cNvPr id="38" name="Text 36"/>
          <p:cNvSpPr/>
          <p:nvPr/>
        </p:nvSpPr>
        <p:spPr>
          <a:xfrm>
            <a:off x="8247888" y="4709160"/>
            <a:ext cx="2743200" cy="182880"/>
          </a:xfrm>
          <a:prstGeom prst="rect">
            <a:avLst/>
          </a:prstGeom>
          <a:noFill/>
          <a:ln/>
        </p:spPr>
        <p:txBody>
          <a:bodyPr wrap="square" lIns="0" tIns="0" rIns="0" bIns="0" rtlCol="0" anchor="ctr"/>
          <a:lstStyle/>
          <a:p>
            <a:pPr marL="0" indent="0" algn="ctr">
              <a:buNone/>
            </a:pPr>
            <a:r>
              <a:rPr lang="en-US" sz="1050" dirty="0">
                <a:solidFill>
                  <a:srgbClr val="667085"/>
                </a:solidFill>
              </a:rPr>
              <a:t>Selenium + BDD + Reporting</a:t>
            </a:r>
            <a:endParaRPr lang="en-US" sz="1050" dirty="0"/>
          </a:p>
        </p:txBody>
      </p:sp>
      <p:sp>
        <p:nvSpPr>
          <p:cNvPr id="39" name="Shape 37"/>
          <p:cNvSpPr/>
          <p:nvPr/>
        </p:nvSpPr>
        <p:spPr>
          <a:xfrm>
            <a:off x="384048" y="6473952"/>
            <a:ext cx="11384280" cy="0"/>
          </a:xfrm>
          <a:prstGeom prst="line">
            <a:avLst/>
          </a:prstGeom>
          <a:noFill/>
          <a:ln w="12700">
            <a:solidFill>
              <a:srgbClr val="D6E4F2"/>
            </a:solidFill>
            <a:prstDash val="solid"/>
          </a:ln>
        </p:spPr>
      </p:sp>
      <p:sp>
        <p:nvSpPr>
          <p:cNvPr id="40" name="Text 38"/>
          <p:cNvSpPr/>
          <p:nvPr/>
        </p:nvSpPr>
        <p:spPr>
          <a:xfrm>
            <a:off x="384048" y="6547104"/>
            <a:ext cx="5303520" cy="164592"/>
          </a:xfrm>
          <a:prstGeom prst="rect">
            <a:avLst/>
          </a:prstGeom>
          <a:noFill/>
          <a:ln/>
        </p:spPr>
        <p:txBody>
          <a:bodyPr wrap="square" lIns="0" tIns="0" rIns="0" bIns="0" rtlCol="0" anchor="ctr"/>
          <a:lstStyle/>
          <a:p>
            <a:pPr marL="0" indent="0">
              <a:buNone/>
            </a:pPr>
            <a:r>
              <a:rPr lang="en-US" sz="750" dirty="0">
                <a:solidFill>
                  <a:srgbClr val="667085"/>
                </a:solidFill>
              </a:rPr>
              <a:t>Goibibo End-to-End Automation Testing Framework</a:t>
            </a:r>
            <a:endParaRPr lang="en-US" sz="750" dirty="0"/>
          </a:p>
        </p:txBody>
      </p:sp>
      <p:sp>
        <p:nvSpPr>
          <p:cNvPr id="41" name="Text 39"/>
          <p:cNvSpPr/>
          <p:nvPr/>
        </p:nvSpPr>
        <p:spPr>
          <a:xfrm>
            <a:off x="11384280" y="6528816"/>
            <a:ext cx="347472" cy="201168"/>
          </a:xfrm>
          <a:prstGeom prst="rect">
            <a:avLst/>
          </a:prstGeom>
          <a:noFill/>
          <a:ln/>
        </p:spPr>
        <p:txBody>
          <a:bodyPr wrap="square" lIns="0" tIns="0" rIns="0" bIns="0" rtlCol="0" anchor="ctr"/>
          <a:lstStyle/>
          <a:p>
            <a:pPr marL="0" indent="0" algn="r">
              <a:buNone/>
            </a:pPr>
            <a:r>
              <a:rPr lang="en-US" sz="850" b="1" dirty="0">
                <a:solidFill>
                  <a:srgbClr val="1677C8"/>
                </a:solidFill>
              </a:rPr>
              <a:t>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677C8"/>
          </a:solidFill>
          <a:ln w="12700">
            <a:solidFill>
              <a:srgbClr val="1677C8"/>
            </a:solidFill>
            <a:prstDash val="solid"/>
          </a:ln>
        </p:spPr>
      </p:sp>
      <p:sp>
        <p:nvSpPr>
          <p:cNvPr id="3" name="Shape 1"/>
          <p:cNvSpPr/>
          <p:nvPr/>
        </p:nvSpPr>
        <p:spPr>
          <a:xfrm>
            <a:off x="0" y="164592"/>
            <a:ext cx="12191695" cy="566928"/>
          </a:xfrm>
          <a:prstGeom prst="rect">
            <a:avLst/>
          </a:prstGeom>
          <a:solidFill>
            <a:srgbClr val="FFFFFF"/>
          </a:solidFill>
          <a:ln w="12700">
            <a:solidFill>
              <a:srgbClr val="FFFFFF"/>
            </a:solidFill>
            <a:prstDash val="solid"/>
          </a:ln>
        </p:spPr>
      </p:sp>
      <p:sp>
        <p:nvSpPr>
          <p:cNvPr id="4" name="Text 2"/>
          <p:cNvSpPr/>
          <p:nvPr/>
        </p:nvSpPr>
        <p:spPr>
          <a:xfrm>
            <a:off x="384048" y="237744"/>
            <a:ext cx="1143000" cy="292608"/>
          </a:xfrm>
          <a:prstGeom prst="rect">
            <a:avLst/>
          </a:prstGeom>
          <a:noFill/>
          <a:ln/>
        </p:spPr>
        <p:txBody>
          <a:bodyPr wrap="square" lIns="0" tIns="0" rIns="0" bIns="0" rtlCol="0" anchor="ctr"/>
          <a:lstStyle/>
          <a:p>
            <a:pPr marL="0" indent="0">
              <a:buNone/>
            </a:pPr>
            <a:r>
              <a:rPr lang="en-US" sz="1600" b="1" dirty="0">
                <a:solidFill>
                  <a:srgbClr val="F05A28"/>
                </a:solidFill>
                <a:latin typeface="Aptos Display" pitchFamily="34" charset="0"/>
                <a:ea typeface="Aptos Display" pitchFamily="34" charset="-122"/>
                <a:cs typeface="Aptos Display" pitchFamily="34" charset="-120"/>
              </a:rPr>
              <a:t>goibibo</a:t>
            </a:r>
            <a:endParaRPr lang="en-US" sz="1600" dirty="0"/>
          </a:p>
        </p:txBody>
      </p:sp>
      <p:sp>
        <p:nvSpPr>
          <p:cNvPr id="5" name="Text 3"/>
          <p:cNvSpPr/>
          <p:nvPr/>
        </p:nvSpPr>
        <p:spPr>
          <a:xfrm>
            <a:off x="1335024" y="265176"/>
            <a:ext cx="1170432" cy="228600"/>
          </a:xfrm>
          <a:prstGeom prst="rect">
            <a:avLst/>
          </a:prstGeom>
          <a:noFill/>
          <a:ln/>
        </p:spPr>
        <p:txBody>
          <a:bodyPr wrap="square" lIns="0" tIns="0" rIns="0" bIns="0" rtlCol="0" anchor="ctr"/>
          <a:lstStyle/>
          <a:p>
            <a:pPr marL="0" indent="0">
              <a:buNone/>
            </a:pPr>
            <a:r>
              <a:rPr lang="en-US" sz="950" dirty="0">
                <a:solidFill>
                  <a:srgbClr val="1677C8"/>
                </a:solidFill>
                <a:latin typeface="Aptos" pitchFamily="34" charset="0"/>
                <a:ea typeface="Aptos" pitchFamily="34" charset="-122"/>
                <a:cs typeface="Aptos" pitchFamily="34" charset="-120"/>
              </a:rPr>
              <a:t>automation</a:t>
            </a:r>
            <a:endParaRPr lang="en-US" sz="950" dirty="0"/>
          </a:p>
        </p:txBody>
      </p:sp>
      <p:sp>
        <p:nvSpPr>
          <p:cNvPr id="6" name="Text 4"/>
          <p:cNvSpPr/>
          <p:nvPr/>
        </p:nvSpPr>
        <p:spPr>
          <a:xfrm>
            <a:off x="384048" y="868680"/>
            <a:ext cx="8046720" cy="347472"/>
          </a:xfrm>
          <a:prstGeom prst="rect">
            <a:avLst/>
          </a:prstGeom>
          <a:noFill/>
          <a:ln/>
        </p:spPr>
        <p:txBody>
          <a:bodyPr wrap="square" lIns="0" tIns="0" rIns="0" bIns="0" rtlCol="0" anchor="ctr"/>
          <a:lstStyle/>
          <a:p>
            <a:pPr marL="0" indent="0">
              <a:buNone/>
            </a:pPr>
            <a:r>
              <a:rPr lang="en-US" sz="2400" b="1" dirty="0">
                <a:solidFill>
                  <a:srgbClr val="14375F"/>
                </a:solidFill>
                <a:latin typeface="Aptos Display" pitchFamily="34" charset="0"/>
                <a:ea typeface="Aptos Display" pitchFamily="34" charset="-122"/>
                <a:cs typeface="Aptos Display" pitchFamily="34" charset="-120"/>
              </a:rPr>
              <a:t>Team Members &amp; Module Distribution</a:t>
            </a:r>
            <a:endParaRPr lang="en-US" sz="2400" dirty="0"/>
          </a:p>
        </p:txBody>
      </p:sp>
      <p:sp>
        <p:nvSpPr>
          <p:cNvPr id="7" name="Text 5"/>
          <p:cNvSpPr/>
          <p:nvPr/>
        </p:nvSpPr>
        <p:spPr>
          <a:xfrm>
            <a:off x="393192" y="1234440"/>
            <a:ext cx="7772400" cy="228600"/>
          </a:xfrm>
          <a:prstGeom prst="rect">
            <a:avLst/>
          </a:prstGeom>
          <a:noFill/>
          <a:ln/>
        </p:spPr>
        <p:txBody>
          <a:bodyPr wrap="square" lIns="0" tIns="0" rIns="0" bIns="0" rtlCol="0" anchor="ctr"/>
          <a:lstStyle/>
          <a:p>
            <a:pPr marL="0" indent="0">
              <a:buNone/>
            </a:pPr>
            <a:r>
              <a:rPr lang="en-US" sz="1050" dirty="0">
                <a:solidFill>
                  <a:srgbClr val="667085"/>
                </a:solidFill>
              </a:rPr>
              <a:t>Group academic automation testing project</a:t>
            </a:r>
            <a:endParaRPr lang="en-US" sz="1050" dirty="0"/>
          </a:p>
        </p:txBody>
      </p:sp>
      <p:sp>
        <p:nvSpPr>
          <p:cNvPr id="8" name="Shape 6"/>
          <p:cNvSpPr/>
          <p:nvPr/>
        </p:nvSpPr>
        <p:spPr>
          <a:xfrm>
            <a:off x="9829800" y="713232"/>
            <a:ext cx="2103120" cy="1554480"/>
          </a:xfrm>
          <a:prstGeom prst="arc">
            <a:avLst/>
          </a:prstGeom>
          <a:noFill/>
          <a:ln w="25400">
            <a:solidFill>
              <a:srgbClr val="00A3E0">
                <a:alpha val="70000"/>
              </a:srgbClr>
            </a:solidFill>
            <a:prstDash val="solid"/>
          </a:ln>
        </p:spPr>
      </p:sp>
      <p:sp>
        <p:nvSpPr>
          <p:cNvPr id="9" name="Shape 7"/>
          <p:cNvSpPr/>
          <p:nvPr/>
        </p:nvSpPr>
        <p:spPr>
          <a:xfrm>
            <a:off x="10972800" y="841248"/>
            <a:ext cx="585216" cy="201168"/>
          </a:xfrm>
          <a:prstGeom prst="line">
            <a:avLst/>
          </a:prstGeom>
          <a:noFill/>
          <a:ln w="25400">
            <a:solidFill>
              <a:srgbClr val="1677C8"/>
            </a:solidFill>
            <a:prstDash val="solid"/>
            <a:headEnd type="none"/>
            <a:tailEnd type="triangle"/>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94360" y="1737360"/>
          <a:ext cx="6583680" cy="2633472"/>
        </p:xfrm>
        <a:graphic>
          <a:graphicData uri="http://schemas.openxmlformats.org/drawingml/2006/table">
            <a:tbl>
              <a:tblPr/>
              <a:tblGrid>
                <a:gridCol w="288036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438912">
                <a:tc>
                  <a:txBody>
                    <a:bodyPr/>
                    <a:lstStyle/>
                    <a:p>
                      <a:pPr marL="0" indent="0">
                        <a:buNone/>
                      </a:pPr>
                      <a:r>
                        <a:rPr lang="en-US" sz="1050" b="1" dirty="0">
                          <a:solidFill>
                            <a:srgbClr val="FFFFFF"/>
                          </a:solidFill>
                        </a:rPr>
                        <a:t>Name</a:t>
                      </a:r>
                      <a:endParaRPr lang="en-US" sz="1050" dirty="0"/>
                    </a:p>
                  </a:txBody>
                  <a:tcPr marL="73152" marR="73152" marT="73152" marB="73152">
                    <a:lnL w="8890" cap="flat" cmpd="sng" algn="ctr">
                      <a:solidFill>
                        <a:srgbClr val="D6E4F2"/>
                      </a:solidFill>
                      <a:prstDash val="solid"/>
                      <a:round/>
                      <a:headEnd type="none" w="med" len="med"/>
                      <a:tailEnd type="none" w="med" len="med"/>
                    </a:lnL>
                    <a:lnR w="8890" cap="flat" cmpd="sng" algn="ctr">
                      <a:solidFill>
                        <a:srgbClr val="D6E4F2"/>
                      </a:solidFill>
                      <a:prstDash val="solid"/>
                      <a:round/>
                      <a:headEnd type="none" w="med" len="med"/>
                      <a:tailEnd type="none" w="med" len="med"/>
                    </a:lnR>
                    <a:lnT w="8890" cap="flat" cmpd="sng" algn="ctr">
                      <a:solidFill>
                        <a:srgbClr val="D6E4F2"/>
                      </a:solidFill>
                      <a:prstDash val="solid"/>
                      <a:round/>
                      <a:headEnd type="none" w="med" len="med"/>
                      <a:tailEnd type="none" w="med" len="med"/>
                    </a:lnT>
                    <a:lnB w="8890" cap="flat" cmpd="sng" algn="ctr">
                      <a:solidFill>
                        <a:srgbClr val="D6E4F2"/>
                      </a:solidFill>
                      <a:prstDash val="solid"/>
                      <a:round/>
                      <a:headEnd type="none" w="med" len="med"/>
                      <a:tailEnd type="none" w="med" len="med"/>
                    </a:lnB>
                    <a:solidFill>
                      <a:srgbClr val="FFFFFF"/>
                    </a:solidFill>
                  </a:tcPr>
                </a:tc>
                <a:tc>
                  <a:txBody>
                    <a:bodyPr/>
                    <a:lstStyle/>
                    <a:p>
                      <a:pPr marL="0" indent="0">
                        <a:buNone/>
                      </a:pPr>
                      <a:r>
                        <a:rPr lang="en-US" sz="1050" b="1" dirty="0">
                          <a:solidFill>
                            <a:srgbClr val="FFFFFF"/>
                          </a:solidFill>
                        </a:rPr>
                        <a:t>Superset ID</a:t>
                      </a:r>
                      <a:endParaRPr lang="en-US" sz="1050" dirty="0"/>
                    </a:p>
                  </a:txBody>
                  <a:tcPr marL="73152" marR="73152" marT="73152" marB="73152">
                    <a:lnL w="8890" cap="flat" cmpd="sng" algn="ctr">
                      <a:solidFill>
                        <a:srgbClr val="D6E4F2"/>
                      </a:solidFill>
                      <a:prstDash val="solid"/>
                      <a:round/>
                      <a:headEnd type="none" w="med" len="med"/>
                      <a:tailEnd type="none" w="med" len="med"/>
                    </a:lnL>
                    <a:lnR w="8890" cap="flat" cmpd="sng" algn="ctr">
                      <a:solidFill>
                        <a:srgbClr val="D6E4F2"/>
                      </a:solidFill>
                      <a:prstDash val="solid"/>
                      <a:round/>
                      <a:headEnd type="none" w="med" len="med"/>
                      <a:tailEnd type="none" w="med" len="med"/>
                    </a:lnR>
                    <a:lnT w="8890" cap="flat" cmpd="sng" algn="ctr">
                      <a:solidFill>
                        <a:srgbClr val="D6E4F2"/>
                      </a:solidFill>
                      <a:prstDash val="solid"/>
                      <a:round/>
                      <a:headEnd type="none" w="med" len="med"/>
                      <a:tailEnd type="none" w="med" len="med"/>
                    </a:lnT>
                    <a:lnB w="8890" cap="flat" cmpd="sng" algn="ctr">
                      <a:solidFill>
                        <a:srgbClr val="D6E4F2"/>
                      </a:solidFill>
                      <a:prstDash val="solid"/>
                      <a:round/>
                      <a:headEnd type="none" w="med" len="med"/>
                      <a:tailEnd type="none" w="med" len="med"/>
                    </a:lnB>
                    <a:solidFill>
                      <a:srgbClr val="FFFFFF"/>
                    </a:solidFill>
                  </a:tcPr>
                </a:tc>
                <a:tc>
                  <a:txBody>
                    <a:bodyPr/>
                    <a:lstStyle/>
                    <a:p>
                      <a:pPr marL="0" indent="0">
                        <a:buNone/>
                      </a:pPr>
                      <a:r>
                        <a:rPr lang="en-US" sz="1050" b="1" dirty="0">
                          <a:solidFill>
                            <a:srgbClr val="FFFFFF"/>
                          </a:solidFill>
                        </a:rPr>
                        <a:t>Module Name</a:t>
                      </a:r>
                      <a:endParaRPr lang="en-US" sz="1050" dirty="0"/>
                    </a:p>
                  </a:txBody>
                  <a:tcPr marL="73152" marR="73152" marT="73152" marB="73152">
                    <a:lnL w="8890" cap="flat" cmpd="sng" algn="ctr">
                      <a:solidFill>
                        <a:srgbClr val="D6E4F2"/>
                      </a:solidFill>
                      <a:prstDash val="solid"/>
                      <a:round/>
                      <a:headEnd type="none" w="med" len="med"/>
                      <a:tailEnd type="none" w="med" len="med"/>
                    </a:lnL>
                    <a:lnR w="8890" cap="flat" cmpd="sng" algn="ctr">
                      <a:solidFill>
                        <a:srgbClr val="D6E4F2"/>
                      </a:solidFill>
                      <a:prstDash val="solid"/>
                      <a:round/>
                      <a:headEnd type="none" w="med" len="med"/>
                      <a:tailEnd type="none" w="med" len="med"/>
                    </a:lnR>
                    <a:lnT w="8890" cap="flat" cmpd="sng" algn="ctr">
                      <a:solidFill>
                        <a:srgbClr val="D6E4F2"/>
                      </a:solidFill>
                      <a:prstDash val="solid"/>
                      <a:round/>
                      <a:headEnd type="none" w="med" len="med"/>
                      <a:tailEnd type="none" w="med" len="med"/>
                    </a:lnT>
                    <a:lnB w="8890" cap="flat" cmpd="sng" algn="ctr">
                      <a:solidFill>
                        <a:srgbClr val="D6E4F2"/>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38912">
                <a:tc>
                  <a:txBody>
                    <a:bodyPr/>
                    <a:lstStyle/>
                    <a:p>
                      <a:pPr marL="0" indent="0">
                        <a:buNone/>
                      </a:pPr>
                      <a:r>
                        <a:rPr lang="en-US" sz="1050" dirty="0">
                          <a:solidFill>
                            <a:srgbClr val="1F2937"/>
                          </a:solidFill>
                        </a:rPr>
                        <a:t>Akash Baran Ghorai</a:t>
                      </a:r>
                      <a:endParaRPr lang="en-US" sz="1050" dirty="0"/>
                    </a:p>
                  </a:txBody>
                  <a:tcPr marL="73152" marR="73152" marT="73152" marB="73152">
                    <a:lnL w="8890" cap="flat" cmpd="sng" algn="ctr">
                      <a:solidFill>
                        <a:srgbClr val="D6E4F2"/>
                      </a:solidFill>
                      <a:prstDash val="solid"/>
                      <a:round/>
                      <a:headEnd type="none" w="med" len="med"/>
                      <a:tailEnd type="none" w="med" len="med"/>
                    </a:lnL>
                    <a:lnR w="8890" cap="flat" cmpd="sng" algn="ctr">
                      <a:solidFill>
                        <a:srgbClr val="D6E4F2"/>
                      </a:solidFill>
                      <a:prstDash val="solid"/>
                      <a:round/>
                      <a:headEnd type="none" w="med" len="med"/>
                      <a:tailEnd type="none" w="med" len="med"/>
                    </a:lnR>
                    <a:lnT w="8890" cap="flat" cmpd="sng" algn="ctr">
                      <a:solidFill>
                        <a:srgbClr val="D6E4F2"/>
                      </a:solidFill>
                      <a:prstDash val="solid"/>
                      <a:round/>
                      <a:headEnd type="none" w="med" len="med"/>
                      <a:tailEnd type="none" w="med" len="med"/>
                    </a:lnT>
                    <a:lnB w="8890" cap="flat" cmpd="sng" algn="ctr">
                      <a:solidFill>
                        <a:srgbClr val="D6E4F2"/>
                      </a:solidFill>
                      <a:prstDash val="solid"/>
                      <a:round/>
                      <a:headEnd type="none" w="med" len="med"/>
                      <a:tailEnd type="none" w="med" len="med"/>
                    </a:lnB>
                    <a:solidFill>
                      <a:srgbClr val="FFFFFF"/>
                    </a:solidFill>
                  </a:tcPr>
                </a:tc>
                <a:tc>
                  <a:txBody>
                    <a:bodyPr/>
                    <a:lstStyle/>
                    <a:p>
                      <a:pPr marL="0" indent="0">
                        <a:buNone/>
                      </a:pPr>
                      <a:r>
                        <a:rPr lang="en-US" sz="1050" dirty="0">
                          <a:solidFill>
                            <a:srgbClr val="1F2937"/>
                          </a:solidFill>
                        </a:rPr>
                        <a:t>4959403</a:t>
                      </a:r>
                      <a:endParaRPr lang="en-US" sz="1050" dirty="0"/>
                    </a:p>
                  </a:txBody>
                  <a:tcPr marL="73152" marR="73152" marT="73152" marB="73152">
                    <a:lnL w="8890" cap="flat" cmpd="sng" algn="ctr">
                      <a:solidFill>
                        <a:srgbClr val="D6E4F2"/>
                      </a:solidFill>
                      <a:prstDash val="solid"/>
                      <a:round/>
                      <a:headEnd type="none" w="med" len="med"/>
                      <a:tailEnd type="none" w="med" len="med"/>
                    </a:lnL>
                    <a:lnR w="8890" cap="flat" cmpd="sng" algn="ctr">
                      <a:solidFill>
                        <a:srgbClr val="D6E4F2"/>
                      </a:solidFill>
                      <a:prstDash val="solid"/>
                      <a:round/>
                      <a:headEnd type="none" w="med" len="med"/>
                      <a:tailEnd type="none" w="med" len="med"/>
                    </a:lnR>
                    <a:lnT w="8890" cap="flat" cmpd="sng" algn="ctr">
                      <a:solidFill>
                        <a:srgbClr val="D6E4F2"/>
                      </a:solidFill>
                      <a:prstDash val="solid"/>
                      <a:round/>
                      <a:headEnd type="none" w="med" len="med"/>
                      <a:tailEnd type="none" w="med" len="med"/>
                    </a:lnT>
                    <a:lnB w="8890" cap="flat" cmpd="sng" algn="ctr">
                      <a:solidFill>
                        <a:srgbClr val="D6E4F2"/>
                      </a:solidFill>
                      <a:prstDash val="solid"/>
                      <a:round/>
                      <a:headEnd type="none" w="med" len="med"/>
                      <a:tailEnd type="none" w="med" len="med"/>
                    </a:lnB>
                    <a:solidFill>
                      <a:srgbClr val="FFFFFF"/>
                    </a:solidFill>
                  </a:tcPr>
                </a:tc>
                <a:tc>
                  <a:txBody>
                    <a:bodyPr/>
                    <a:lstStyle/>
                    <a:p>
                      <a:pPr marL="0" indent="0">
                        <a:buNone/>
                      </a:pPr>
                      <a:r>
                        <a:rPr lang="en-US" sz="1050" dirty="0">
                          <a:solidFill>
                            <a:srgbClr val="1F2937"/>
                          </a:solidFill>
                        </a:rPr>
                        <a:t>Goibibo Hotels</a:t>
                      </a:r>
                      <a:endParaRPr lang="en-US" sz="1050" dirty="0"/>
                    </a:p>
                  </a:txBody>
                  <a:tcPr marL="73152" marR="73152" marT="73152" marB="73152">
                    <a:lnL w="8890" cap="flat" cmpd="sng" algn="ctr">
                      <a:solidFill>
                        <a:srgbClr val="D6E4F2"/>
                      </a:solidFill>
                      <a:prstDash val="solid"/>
                      <a:round/>
                      <a:headEnd type="none" w="med" len="med"/>
                      <a:tailEnd type="none" w="med" len="med"/>
                    </a:lnL>
                    <a:lnR w="8890" cap="flat" cmpd="sng" algn="ctr">
                      <a:solidFill>
                        <a:srgbClr val="D6E4F2"/>
                      </a:solidFill>
                      <a:prstDash val="solid"/>
                      <a:round/>
                      <a:headEnd type="none" w="med" len="med"/>
                      <a:tailEnd type="none" w="med" len="med"/>
                    </a:lnR>
                    <a:lnT w="8890" cap="flat" cmpd="sng" algn="ctr">
                      <a:solidFill>
                        <a:srgbClr val="D6E4F2"/>
                      </a:solidFill>
                      <a:prstDash val="solid"/>
                      <a:round/>
                      <a:headEnd type="none" w="med" len="med"/>
                      <a:tailEnd type="none" w="med" len="med"/>
                    </a:lnT>
                    <a:lnB w="8890" cap="flat" cmpd="sng" algn="ctr">
                      <a:solidFill>
                        <a:srgbClr val="D6E4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buNone/>
                      </a:pPr>
                      <a:r>
                        <a:rPr lang="en-US" sz="1050" dirty="0">
                          <a:solidFill>
                            <a:srgbClr val="1F2937"/>
                          </a:solidFill>
                        </a:rPr>
                        <a:t>Rishabh Chauhan</a:t>
                      </a:r>
                      <a:endParaRPr lang="en-US" sz="1050" dirty="0"/>
                    </a:p>
                  </a:txBody>
                  <a:tcPr marL="73152" marR="73152" marT="73152" marB="73152">
                    <a:lnL w="8890" cap="flat" cmpd="sng" algn="ctr">
                      <a:solidFill>
                        <a:srgbClr val="D6E4F2"/>
                      </a:solidFill>
                      <a:prstDash val="solid"/>
                      <a:round/>
                      <a:headEnd type="none" w="med" len="med"/>
                      <a:tailEnd type="none" w="med" len="med"/>
                    </a:lnL>
                    <a:lnR w="8890" cap="flat" cmpd="sng" algn="ctr">
                      <a:solidFill>
                        <a:srgbClr val="D6E4F2"/>
                      </a:solidFill>
                      <a:prstDash val="solid"/>
                      <a:round/>
                      <a:headEnd type="none" w="med" len="med"/>
                      <a:tailEnd type="none" w="med" len="med"/>
                    </a:lnR>
                    <a:lnT w="8890" cap="flat" cmpd="sng" algn="ctr">
                      <a:solidFill>
                        <a:srgbClr val="D6E4F2"/>
                      </a:solidFill>
                      <a:prstDash val="solid"/>
                      <a:round/>
                      <a:headEnd type="none" w="med" len="med"/>
                      <a:tailEnd type="none" w="med" len="med"/>
                    </a:lnT>
                    <a:lnB w="8890" cap="flat" cmpd="sng" algn="ctr">
                      <a:solidFill>
                        <a:srgbClr val="D6E4F2"/>
                      </a:solidFill>
                      <a:prstDash val="solid"/>
                      <a:round/>
                      <a:headEnd type="none" w="med" len="med"/>
                      <a:tailEnd type="none" w="med" len="med"/>
                    </a:lnB>
                    <a:solidFill>
                      <a:srgbClr val="FFFFFF"/>
                    </a:solidFill>
                  </a:tcPr>
                </a:tc>
                <a:tc>
                  <a:txBody>
                    <a:bodyPr/>
                    <a:lstStyle/>
                    <a:p>
                      <a:pPr marL="0" indent="0">
                        <a:buNone/>
                      </a:pPr>
                      <a:r>
                        <a:rPr lang="en-US" sz="1050" dirty="0">
                          <a:solidFill>
                            <a:srgbClr val="1F2937"/>
                          </a:solidFill>
                        </a:rPr>
                        <a:t>5394726</a:t>
                      </a:r>
                      <a:endParaRPr lang="en-US" sz="1050" dirty="0"/>
                    </a:p>
                  </a:txBody>
                  <a:tcPr marL="73152" marR="73152" marT="73152" marB="73152">
                    <a:lnL w="8890" cap="flat" cmpd="sng" algn="ctr">
                      <a:solidFill>
                        <a:srgbClr val="D6E4F2"/>
                      </a:solidFill>
                      <a:prstDash val="solid"/>
                      <a:round/>
                      <a:headEnd type="none" w="med" len="med"/>
                      <a:tailEnd type="none" w="med" len="med"/>
                    </a:lnL>
                    <a:lnR w="8890" cap="flat" cmpd="sng" algn="ctr">
                      <a:solidFill>
                        <a:srgbClr val="D6E4F2"/>
                      </a:solidFill>
                      <a:prstDash val="solid"/>
                      <a:round/>
                      <a:headEnd type="none" w="med" len="med"/>
                      <a:tailEnd type="none" w="med" len="med"/>
                    </a:lnR>
                    <a:lnT w="8890" cap="flat" cmpd="sng" algn="ctr">
                      <a:solidFill>
                        <a:srgbClr val="D6E4F2"/>
                      </a:solidFill>
                      <a:prstDash val="solid"/>
                      <a:round/>
                      <a:headEnd type="none" w="med" len="med"/>
                      <a:tailEnd type="none" w="med" len="med"/>
                    </a:lnT>
                    <a:lnB w="8890" cap="flat" cmpd="sng" algn="ctr">
                      <a:solidFill>
                        <a:srgbClr val="D6E4F2"/>
                      </a:solidFill>
                      <a:prstDash val="solid"/>
                      <a:round/>
                      <a:headEnd type="none" w="med" len="med"/>
                      <a:tailEnd type="none" w="med" len="med"/>
                    </a:lnB>
                    <a:solidFill>
                      <a:srgbClr val="FFFFFF"/>
                    </a:solidFill>
                  </a:tcPr>
                </a:tc>
                <a:tc>
                  <a:txBody>
                    <a:bodyPr/>
                    <a:lstStyle/>
                    <a:p>
                      <a:pPr marL="0" indent="0">
                        <a:buNone/>
                      </a:pPr>
                      <a:r>
                        <a:rPr lang="en-US" sz="1050" dirty="0">
                          <a:solidFill>
                            <a:srgbClr val="1F2937"/>
                          </a:solidFill>
                        </a:rPr>
                        <a:t>Goibibo Cabs</a:t>
                      </a:r>
                      <a:endParaRPr lang="en-US" sz="1050" dirty="0"/>
                    </a:p>
                  </a:txBody>
                  <a:tcPr marL="73152" marR="73152" marT="73152" marB="73152">
                    <a:lnL w="8890" cap="flat" cmpd="sng" algn="ctr">
                      <a:solidFill>
                        <a:srgbClr val="D6E4F2"/>
                      </a:solidFill>
                      <a:prstDash val="solid"/>
                      <a:round/>
                      <a:headEnd type="none" w="med" len="med"/>
                      <a:tailEnd type="none" w="med" len="med"/>
                    </a:lnL>
                    <a:lnR w="8890" cap="flat" cmpd="sng" algn="ctr">
                      <a:solidFill>
                        <a:srgbClr val="D6E4F2"/>
                      </a:solidFill>
                      <a:prstDash val="solid"/>
                      <a:round/>
                      <a:headEnd type="none" w="med" len="med"/>
                      <a:tailEnd type="none" w="med" len="med"/>
                    </a:lnR>
                    <a:lnT w="8890" cap="flat" cmpd="sng" algn="ctr">
                      <a:solidFill>
                        <a:srgbClr val="D6E4F2"/>
                      </a:solidFill>
                      <a:prstDash val="solid"/>
                      <a:round/>
                      <a:headEnd type="none" w="med" len="med"/>
                      <a:tailEnd type="none" w="med" len="med"/>
                    </a:lnT>
                    <a:lnB w="8890" cap="flat" cmpd="sng" algn="ctr">
                      <a:solidFill>
                        <a:srgbClr val="D6E4F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38912">
                <a:tc>
                  <a:txBody>
                    <a:bodyPr/>
                    <a:lstStyle/>
                    <a:p>
                      <a:pPr marL="0" indent="0">
                        <a:buNone/>
                      </a:pPr>
                      <a:r>
                        <a:rPr lang="en-US" sz="1050" dirty="0">
                          <a:solidFill>
                            <a:srgbClr val="1F2937"/>
                          </a:solidFill>
                        </a:rPr>
                        <a:t>Aditya Pandey</a:t>
                      </a:r>
                      <a:endParaRPr lang="en-US" sz="1050" dirty="0"/>
                    </a:p>
                  </a:txBody>
                  <a:tcPr marL="73152" marR="73152" marT="73152" marB="73152">
                    <a:lnL w="8890" cap="flat" cmpd="sng" algn="ctr">
                      <a:solidFill>
                        <a:srgbClr val="D6E4F2"/>
                      </a:solidFill>
                      <a:prstDash val="solid"/>
                      <a:round/>
                      <a:headEnd type="none" w="med" len="med"/>
                      <a:tailEnd type="none" w="med" len="med"/>
                    </a:lnL>
                    <a:lnR w="8890" cap="flat" cmpd="sng" algn="ctr">
                      <a:solidFill>
                        <a:srgbClr val="D6E4F2"/>
                      </a:solidFill>
                      <a:prstDash val="solid"/>
                      <a:round/>
                      <a:headEnd type="none" w="med" len="med"/>
                      <a:tailEnd type="none" w="med" len="med"/>
                    </a:lnR>
                    <a:lnT w="8890" cap="flat" cmpd="sng" algn="ctr">
                      <a:solidFill>
                        <a:srgbClr val="D6E4F2"/>
                      </a:solidFill>
                      <a:prstDash val="solid"/>
                      <a:round/>
                      <a:headEnd type="none" w="med" len="med"/>
                      <a:tailEnd type="none" w="med" len="med"/>
                    </a:lnT>
                    <a:lnB w="8890" cap="flat" cmpd="sng" algn="ctr">
                      <a:solidFill>
                        <a:srgbClr val="D6E4F2"/>
                      </a:solidFill>
                      <a:prstDash val="solid"/>
                      <a:round/>
                      <a:headEnd type="none" w="med" len="med"/>
                      <a:tailEnd type="none" w="med" len="med"/>
                    </a:lnB>
                    <a:solidFill>
                      <a:srgbClr val="FFFFFF"/>
                    </a:solidFill>
                  </a:tcPr>
                </a:tc>
                <a:tc>
                  <a:txBody>
                    <a:bodyPr/>
                    <a:lstStyle/>
                    <a:p>
                      <a:pPr marL="0" indent="0">
                        <a:buNone/>
                      </a:pPr>
                      <a:r>
                        <a:rPr lang="en-US" sz="1050" dirty="0">
                          <a:solidFill>
                            <a:srgbClr val="1F2937"/>
                          </a:solidFill>
                        </a:rPr>
                        <a:t>5097819</a:t>
                      </a:r>
                      <a:endParaRPr lang="en-US" sz="1050" dirty="0"/>
                    </a:p>
                  </a:txBody>
                  <a:tcPr marL="73152" marR="73152" marT="73152" marB="73152">
                    <a:lnL w="8890" cap="flat" cmpd="sng" algn="ctr">
                      <a:solidFill>
                        <a:srgbClr val="D6E4F2"/>
                      </a:solidFill>
                      <a:prstDash val="solid"/>
                      <a:round/>
                      <a:headEnd type="none" w="med" len="med"/>
                      <a:tailEnd type="none" w="med" len="med"/>
                    </a:lnL>
                    <a:lnR w="8890" cap="flat" cmpd="sng" algn="ctr">
                      <a:solidFill>
                        <a:srgbClr val="D6E4F2"/>
                      </a:solidFill>
                      <a:prstDash val="solid"/>
                      <a:round/>
                      <a:headEnd type="none" w="med" len="med"/>
                      <a:tailEnd type="none" w="med" len="med"/>
                    </a:lnR>
                    <a:lnT w="8890" cap="flat" cmpd="sng" algn="ctr">
                      <a:solidFill>
                        <a:srgbClr val="D6E4F2"/>
                      </a:solidFill>
                      <a:prstDash val="solid"/>
                      <a:round/>
                      <a:headEnd type="none" w="med" len="med"/>
                      <a:tailEnd type="none" w="med" len="med"/>
                    </a:lnT>
                    <a:lnB w="8890" cap="flat" cmpd="sng" algn="ctr">
                      <a:solidFill>
                        <a:srgbClr val="D6E4F2"/>
                      </a:solidFill>
                      <a:prstDash val="solid"/>
                      <a:round/>
                      <a:headEnd type="none" w="med" len="med"/>
                      <a:tailEnd type="none" w="med" len="med"/>
                    </a:lnB>
                    <a:solidFill>
                      <a:srgbClr val="FFFFFF"/>
                    </a:solidFill>
                  </a:tcPr>
                </a:tc>
                <a:tc>
                  <a:txBody>
                    <a:bodyPr/>
                    <a:lstStyle/>
                    <a:p>
                      <a:pPr marL="0" indent="0">
                        <a:buNone/>
                      </a:pPr>
                      <a:r>
                        <a:rPr lang="en-US" sz="1050" dirty="0">
                          <a:solidFill>
                            <a:srgbClr val="1F2937"/>
                          </a:solidFill>
                        </a:rPr>
                        <a:t>Goibibo Bus</a:t>
                      </a:r>
                      <a:endParaRPr lang="en-US" sz="1050" dirty="0"/>
                    </a:p>
                  </a:txBody>
                  <a:tcPr marL="73152" marR="73152" marT="73152" marB="73152">
                    <a:lnL w="8890" cap="flat" cmpd="sng" algn="ctr">
                      <a:solidFill>
                        <a:srgbClr val="D6E4F2"/>
                      </a:solidFill>
                      <a:prstDash val="solid"/>
                      <a:round/>
                      <a:headEnd type="none" w="med" len="med"/>
                      <a:tailEnd type="none" w="med" len="med"/>
                    </a:lnL>
                    <a:lnR w="8890" cap="flat" cmpd="sng" algn="ctr">
                      <a:solidFill>
                        <a:srgbClr val="D6E4F2"/>
                      </a:solidFill>
                      <a:prstDash val="solid"/>
                      <a:round/>
                      <a:headEnd type="none" w="med" len="med"/>
                      <a:tailEnd type="none" w="med" len="med"/>
                    </a:lnR>
                    <a:lnT w="8890" cap="flat" cmpd="sng" algn="ctr">
                      <a:solidFill>
                        <a:srgbClr val="D6E4F2"/>
                      </a:solidFill>
                      <a:prstDash val="solid"/>
                      <a:round/>
                      <a:headEnd type="none" w="med" len="med"/>
                      <a:tailEnd type="none" w="med" len="med"/>
                    </a:lnT>
                    <a:lnB w="8890" cap="flat" cmpd="sng" algn="ctr">
                      <a:solidFill>
                        <a:srgbClr val="D6E4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buNone/>
                      </a:pPr>
                      <a:r>
                        <a:rPr lang="en-US" sz="1050" dirty="0">
                          <a:solidFill>
                            <a:srgbClr val="1F2937"/>
                          </a:solidFill>
                        </a:rPr>
                        <a:t>Priyanshu Prakash</a:t>
                      </a:r>
                      <a:endParaRPr lang="en-US" sz="1050" dirty="0"/>
                    </a:p>
                  </a:txBody>
                  <a:tcPr marL="73152" marR="73152" marT="73152" marB="73152">
                    <a:lnL w="8890" cap="flat" cmpd="sng" algn="ctr">
                      <a:solidFill>
                        <a:srgbClr val="D6E4F2"/>
                      </a:solidFill>
                      <a:prstDash val="solid"/>
                      <a:round/>
                      <a:headEnd type="none" w="med" len="med"/>
                      <a:tailEnd type="none" w="med" len="med"/>
                    </a:lnL>
                    <a:lnR w="8890" cap="flat" cmpd="sng" algn="ctr">
                      <a:solidFill>
                        <a:srgbClr val="D6E4F2"/>
                      </a:solidFill>
                      <a:prstDash val="solid"/>
                      <a:round/>
                      <a:headEnd type="none" w="med" len="med"/>
                      <a:tailEnd type="none" w="med" len="med"/>
                    </a:lnR>
                    <a:lnT w="8890" cap="flat" cmpd="sng" algn="ctr">
                      <a:solidFill>
                        <a:srgbClr val="D6E4F2"/>
                      </a:solidFill>
                      <a:prstDash val="solid"/>
                      <a:round/>
                      <a:headEnd type="none" w="med" len="med"/>
                      <a:tailEnd type="none" w="med" len="med"/>
                    </a:lnT>
                    <a:lnB w="8890" cap="flat" cmpd="sng" algn="ctr">
                      <a:solidFill>
                        <a:srgbClr val="D6E4F2"/>
                      </a:solidFill>
                      <a:prstDash val="solid"/>
                      <a:round/>
                      <a:headEnd type="none" w="med" len="med"/>
                      <a:tailEnd type="none" w="med" len="med"/>
                    </a:lnB>
                    <a:solidFill>
                      <a:srgbClr val="FFFFFF"/>
                    </a:solidFill>
                  </a:tcPr>
                </a:tc>
                <a:tc>
                  <a:txBody>
                    <a:bodyPr/>
                    <a:lstStyle/>
                    <a:p>
                      <a:pPr marL="0" indent="0">
                        <a:buNone/>
                      </a:pPr>
                      <a:r>
                        <a:rPr lang="en-US" sz="1050" dirty="0">
                          <a:solidFill>
                            <a:srgbClr val="1F2937"/>
                          </a:solidFill>
                        </a:rPr>
                        <a:t>4467004</a:t>
                      </a:r>
                      <a:endParaRPr lang="en-US" sz="1050" dirty="0"/>
                    </a:p>
                  </a:txBody>
                  <a:tcPr marL="73152" marR="73152" marT="73152" marB="73152">
                    <a:lnL w="8890" cap="flat" cmpd="sng" algn="ctr">
                      <a:solidFill>
                        <a:srgbClr val="D6E4F2"/>
                      </a:solidFill>
                      <a:prstDash val="solid"/>
                      <a:round/>
                      <a:headEnd type="none" w="med" len="med"/>
                      <a:tailEnd type="none" w="med" len="med"/>
                    </a:lnL>
                    <a:lnR w="8890" cap="flat" cmpd="sng" algn="ctr">
                      <a:solidFill>
                        <a:srgbClr val="D6E4F2"/>
                      </a:solidFill>
                      <a:prstDash val="solid"/>
                      <a:round/>
                      <a:headEnd type="none" w="med" len="med"/>
                      <a:tailEnd type="none" w="med" len="med"/>
                    </a:lnR>
                    <a:lnT w="8890" cap="flat" cmpd="sng" algn="ctr">
                      <a:solidFill>
                        <a:srgbClr val="D6E4F2"/>
                      </a:solidFill>
                      <a:prstDash val="solid"/>
                      <a:round/>
                      <a:headEnd type="none" w="med" len="med"/>
                      <a:tailEnd type="none" w="med" len="med"/>
                    </a:lnT>
                    <a:lnB w="8890" cap="flat" cmpd="sng" algn="ctr">
                      <a:solidFill>
                        <a:srgbClr val="D6E4F2"/>
                      </a:solidFill>
                      <a:prstDash val="solid"/>
                      <a:round/>
                      <a:headEnd type="none" w="med" len="med"/>
                      <a:tailEnd type="none" w="med" len="med"/>
                    </a:lnB>
                    <a:solidFill>
                      <a:srgbClr val="FFFFFF"/>
                    </a:solidFill>
                  </a:tcPr>
                </a:tc>
                <a:tc>
                  <a:txBody>
                    <a:bodyPr/>
                    <a:lstStyle/>
                    <a:p>
                      <a:pPr marL="0" indent="0">
                        <a:buNone/>
                      </a:pPr>
                      <a:r>
                        <a:rPr lang="en-US" sz="1050" dirty="0">
                          <a:solidFill>
                            <a:srgbClr val="1F2937"/>
                          </a:solidFill>
                        </a:rPr>
                        <a:t>Goibibo Trains</a:t>
                      </a:r>
                      <a:endParaRPr lang="en-US" sz="1050" dirty="0"/>
                    </a:p>
                  </a:txBody>
                  <a:tcPr marL="73152" marR="73152" marT="73152" marB="73152">
                    <a:lnL w="8890" cap="flat" cmpd="sng" algn="ctr">
                      <a:solidFill>
                        <a:srgbClr val="D6E4F2"/>
                      </a:solidFill>
                      <a:prstDash val="solid"/>
                      <a:round/>
                      <a:headEnd type="none" w="med" len="med"/>
                      <a:tailEnd type="none" w="med" len="med"/>
                    </a:lnL>
                    <a:lnR w="8890" cap="flat" cmpd="sng" algn="ctr">
                      <a:solidFill>
                        <a:srgbClr val="D6E4F2"/>
                      </a:solidFill>
                      <a:prstDash val="solid"/>
                      <a:round/>
                      <a:headEnd type="none" w="med" len="med"/>
                      <a:tailEnd type="none" w="med" len="med"/>
                    </a:lnR>
                    <a:lnT w="8890" cap="flat" cmpd="sng" algn="ctr">
                      <a:solidFill>
                        <a:srgbClr val="D6E4F2"/>
                      </a:solidFill>
                      <a:prstDash val="solid"/>
                      <a:round/>
                      <a:headEnd type="none" w="med" len="med"/>
                      <a:tailEnd type="none" w="med" len="med"/>
                    </a:lnT>
                    <a:lnB w="8890" cap="flat" cmpd="sng" algn="ctr">
                      <a:solidFill>
                        <a:srgbClr val="D6E4F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38912">
                <a:tc>
                  <a:txBody>
                    <a:bodyPr/>
                    <a:lstStyle/>
                    <a:p>
                      <a:pPr marL="0" indent="0">
                        <a:buNone/>
                      </a:pPr>
                      <a:r>
                        <a:rPr lang="en-US" sz="1050" dirty="0">
                          <a:solidFill>
                            <a:srgbClr val="1F2937"/>
                          </a:solidFill>
                        </a:rPr>
                        <a:t>Vanaparthi Deekshith</a:t>
                      </a:r>
                      <a:endParaRPr lang="en-US" sz="1050" dirty="0"/>
                    </a:p>
                  </a:txBody>
                  <a:tcPr marL="73152" marR="73152" marT="73152" marB="73152">
                    <a:lnL w="8890" cap="flat" cmpd="sng" algn="ctr">
                      <a:solidFill>
                        <a:srgbClr val="D6E4F2"/>
                      </a:solidFill>
                      <a:prstDash val="solid"/>
                      <a:round/>
                      <a:headEnd type="none" w="med" len="med"/>
                      <a:tailEnd type="none" w="med" len="med"/>
                    </a:lnL>
                    <a:lnR w="8890" cap="flat" cmpd="sng" algn="ctr">
                      <a:solidFill>
                        <a:srgbClr val="D6E4F2"/>
                      </a:solidFill>
                      <a:prstDash val="solid"/>
                      <a:round/>
                      <a:headEnd type="none" w="med" len="med"/>
                      <a:tailEnd type="none" w="med" len="med"/>
                    </a:lnR>
                    <a:lnT w="8890" cap="flat" cmpd="sng" algn="ctr">
                      <a:solidFill>
                        <a:srgbClr val="D6E4F2"/>
                      </a:solidFill>
                      <a:prstDash val="solid"/>
                      <a:round/>
                      <a:headEnd type="none" w="med" len="med"/>
                      <a:tailEnd type="none" w="med" len="med"/>
                    </a:lnT>
                    <a:lnB w="8890" cap="flat" cmpd="sng" algn="ctr">
                      <a:solidFill>
                        <a:srgbClr val="D6E4F2"/>
                      </a:solidFill>
                      <a:prstDash val="solid"/>
                      <a:round/>
                      <a:headEnd type="none" w="med" len="med"/>
                      <a:tailEnd type="none" w="med" len="med"/>
                    </a:lnB>
                    <a:solidFill>
                      <a:srgbClr val="FFFFFF"/>
                    </a:solidFill>
                  </a:tcPr>
                </a:tc>
                <a:tc>
                  <a:txBody>
                    <a:bodyPr/>
                    <a:lstStyle/>
                    <a:p>
                      <a:pPr marL="0" indent="0">
                        <a:buNone/>
                      </a:pPr>
                      <a:r>
                        <a:rPr lang="en-US" sz="1050" dirty="0">
                          <a:solidFill>
                            <a:srgbClr val="1F2937"/>
                          </a:solidFill>
                        </a:rPr>
                        <a:t>5488041</a:t>
                      </a:r>
                      <a:endParaRPr lang="en-US" sz="1050" dirty="0"/>
                    </a:p>
                  </a:txBody>
                  <a:tcPr marL="73152" marR="73152" marT="73152" marB="73152">
                    <a:lnL w="8890" cap="flat" cmpd="sng" algn="ctr">
                      <a:solidFill>
                        <a:srgbClr val="D6E4F2"/>
                      </a:solidFill>
                      <a:prstDash val="solid"/>
                      <a:round/>
                      <a:headEnd type="none" w="med" len="med"/>
                      <a:tailEnd type="none" w="med" len="med"/>
                    </a:lnL>
                    <a:lnR w="8890" cap="flat" cmpd="sng" algn="ctr">
                      <a:solidFill>
                        <a:srgbClr val="D6E4F2"/>
                      </a:solidFill>
                      <a:prstDash val="solid"/>
                      <a:round/>
                      <a:headEnd type="none" w="med" len="med"/>
                      <a:tailEnd type="none" w="med" len="med"/>
                    </a:lnR>
                    <a:lnT w="8890" cap="flat" cmpd="sng" algn="ctr">
                      <a:solidFill>
                        <a:srgbClr val="D6E4F2"/>
                      </a:solidFill>
                      <a:prstDash val="solid"/>
                      <a:round/>
                      <a:headEnd type="none" w="med" len="med"/>
                      <a:tailEnd type="none" w="med" len="med"/>
                    </a:lnT>
                    <a:lnB w="8890" cap="flat" cmpd="sng" algn="ctr">
                      <a:solidFill>
                        <a:srgbClr val="D6E4F2"/>
                      </a:solidFill>
                      <a:prstDash val="solid"/>
                      <a:round/>
                      <a:headEnd type="none" w="med" len="med"/>
                      <a:tailEnd type="none" w="med" len="med"/>
                    </a:lnB>
                    <a:solidFill>
                      <a:srgbClr val="FFFFFF"/>
                    </a:solidFill>
                  </a:tcPr>
                </a:tc>
                <a:tc>
                  <a:txBody>
                    <a:bodyPr/>
                    <a:lstStyle/>
                    <a:p>
                      <a:pPr marL="0" indent="0">
                        <a:buNone/>
                      </a:pPr>
                      <a:r>
                        <a:rPr lang="en-US" sz="1050" dirty="0">
                          <a:solidFill>
                            <a:srgbClr val="1F2937"/>
                          </a:solidFill>
                        </a:rPr>
                        <a:t>Goibibo Holidays</a:t>
                      </a:r>
                      <a:endParaRPr lang="en-US" sz="1050" dirty="0"/>
                    </a:p>
                  </a:txBody>
                  <a:tcPr marL="73152" marR="73152" marT="73152" marB="73152">
                    <a:lnL w="8890" cap="flat" cmpd="sng" algn="ctr">
                      <a:solidFill>
                        <a:srgbClr val="D6E4F2"/>
                      </a:solidFill>
                      <a:prstDash val="solid"/>
                      <a:round/>
                      <a:headEnd type="none" w="med" len="med"/>
                      <a:tailEnd type="none" w="med" len="med"/>
                    </a:lnL>
                    <a:lnR w="8890" cap="flat" cmpd="sng" algn="ctr">
                      <a:solidFill>
                        <a:srgbClr val="D6E4F2"/>
                      </a:solidFill>
                      <a:prstDash val="solid"/>
                      <a:round/>
                      <a:headEnd type="none" w="med" len="med"/>
                      <a:tailEnd type="none" w="med" len="med"/>
                    </a:lnR>
                    <a:lnT w="8890" cap="flat" cmpd="sng" algn="ctr">
                      <a:solidFill>
                        <a:srgbClr val="D6E4F2"/>
                      </a:solidFill>
                      <a:prstDash val="solid"/>
                      <a:round/>
                      <a:headEnd type="none" w="med" len="med"/>
                      <a:tailEnd type="none" w="med" len="med"/>
                    </a:lnT>
                    <a:lnB w="8890" cap="flat" cmpd="sng" algn="ctr">
                      <a:solidFill>
                        <a:srgbClr val="D6E4F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1" name="Shape 8"/>
          <p:cNvSpPr/>
          <p:nvPr/>
        </p:nvSpPr>
        <p:spPr>
          <a:xfrm>
            <a:off x="594360" y="1737360"/>
            <a:ext cx="6583680" cy="438912"/>
          </a:xfrm>
          <a:prstGeom prst="rect">
            <a:avLst/>
          </a:prstGeom>
          <a:solidFill>
            <a:srgbClr val="1677C8"/>
          </a:solidFill>
          <a:ln w="12700">
            <a:solidFill>
              <a:srgbClr val="1677C8"/>
            </a:solidFill>
            <a:prstDash val="solid"/>
          </a:ln>
        </p:spPr>
      </p:sp>
      <p:sp>
        <p:nvSpPr>
          <p:cNvPr id="12" name="Text 9"/>
          <p:cNvSpPr/>
          <p:nvPr/>
        </p:nvSpPr>
        <p:spPr>
          <a:xfrm>
            <a:off x="749808" y="1883664"/>
            <a:ext cx="914400" cy="91440"/>
          </a:xfrm>
          <a:prstGeom prst="rect">
            <a:avLst/>
          </a:prstGeom>
          <a:noFill/>
          <a:ln/>
        </p:spPr>
        <p:txBody>
          <a:bodyPr wrap="square" lIns="0" tIns="0" rIns="0" bIns="0" rtlCol="0" anchor="ctr"/>
          <a:lstStyle/>
          <a:p>
            <a:pPr marL="0" indent="0">
              <a:buNone/>
            </a:pPr>
            <a:r>
              <a:rPr lang="en-US" sz="1000" b="1" dirty="0">
                <a:solidFill>
                  <a:srgbClr val="FFFFFF"/>
                </a:solidFill>
              </a:rPr>
              <a:t>Name</a:t>
            </a:r>
            <a:endParaRPr lang="en-US" sz="1000" dirty="0"/>
          </a:p>
        </p:txBody>
      </p:sp>
      <p:sp>
        <p:nvSpPr>
          <p:cNvPr id="13" name="Text 10"/>
          <p:cNvSpPr/>
          <p:nvPr/>
        </p:nvSpPr>
        <p:spPr>
          <a:xfrm>
            <a:off x="3639312" y="1883664"/>
            <a:ext cx="914400" cy="91440"/>
          </a:xfrm>
          <a:prstGeom prst="rect">
            <a:avLst/>
          </a:prstGeom>
          <a:noFill/>
          <a:ln/>
        </p:spPr>
        <p:txBody>
          <a:bodyPr wrap="square" lIns="0" tIns="0" rIns="0" bIns="0" rtlCol="0" anchor="ctr"/>
          <a:lstStyle/>
          <a:p>
            <a:pPr marL="0" indent="0">
              <a:buNone/>
            </a:pPr>
            <a:r>
              <a:rPr lang="en-US" sz="1000" b="1" dirty="0">
                <a:solidFill>
                  <a:srgbClr val="FFFFFF"/>
                </a:solidFill>
              </a:rPr>
              <a:t>Superset ID</a:t>
            </a:r>
            <a:endParaRPr lang="en-US" sz="1000" dirty="0"/>
          </a:p>
        </p:txBody>
      </p:sp>
      <p:sp>
        <p:nvSpPr>
          <p:cNvPr id="14" name="Text 11"/>
          <p:cNvSpPr/>
          <p:nvPr/>
        </p:nvSpPr>
        <p:spPr>
          <a:xfrm>
            <a:off x="5074920" y="1883664"/>
            <a:ext cx="1005840" cy="91440"/>
          </a:xfrm>
          <a:prstGeom prst="rect">
            <a:avLst/>
          </a:prstGeom>
          <a:noFill/>
          <a:ln/>
        </p:spPr>
        <p:txBody>
          <a:bodyPr wrap="square" lIns="0" tIns="0" rIns="0" bIns="0" rtlCol="0" anchor="ctr"/>
          <a:lstStyle/>
          <a:p>
            <a:pPr marL="0" indent="0">
              <a:buNone/>
            </a:pPr>
            <a:r>
              <a:rPr lang="en-US" sz="1000" b="1" dirty="0">
                <a:solidFill>
                  <a:srgbClr val="FFFFFF"/>
                </a:solidFill>
              </a:rPr>
              <a:t>Module Name</a:t>
            </a:r>
            <a:endParaRPr lang="en-US" sz="1000" dirty="0"/>
          </a:p>
        </p:txBody>
      </p:sp>
      <p:sp>
        <p:nvSpPr>
          <p:cNvPr id="15" name="Shape 12"/>
          <p:cNvSpPr/>
          <p:nvPr/>
        </p:nvSpPr>
        <p:spPr>
          <a:xfrm>
            <a:off x="7635240" y="1737360"/>
            <a:ext cx="3886200" cy="2971800"/>
          </a:xfrm>
          <a:prstGeom prst="roundRect">
            <a:avLst>
              <a:gd name="adj" fmla="val 2462"/>
            </a:avLst>
          </a:prstGeom>
          <a:solidFill>
            <a:srgbClr val="FFFFFF"/>
          </a:solidFill>
          <a:ln w="12700">
            <a:solidFill>
              <a:srgbClr val="D6E4F2"/>
            </a:solidFill>
            <a:prstDash val="solid"/>
          </a:ln>
        </p:spPr>
      </p:sp>
      <p:sp>
        <p:nvSpPr>
          <p:cNvPr id="16" name="Text 13"/>
          <p:cNvSpPr/>
          <p:nvPr/>
        </p:nvSpPr>
        <p:spPr>
          <a:xfrm>
            <a:off x="7909560" y="1965960"/>
            <a:ext cx="2560320" cy="219456"/>
          </a:xfrm>
          <a:prstGeom prst="rect">
            <a:avLst/>
          </a:prstGeom>
          <a:noFill/>
          <a:ln/>
        </p:spPr>
        <p:txBody>
          <a:bodyPr wrap="square" lIns="0" tIns="0" rIns="0" bIns="0" rtlCol="0" anchor="ctr"/>
          <a:lstStyle/>
          <a:p>
            <a:pPr marL="0" indent="0">
              <a:buNone/>
            </a:pPr>
            <a:r>
              <a:rPr lang="en-US" sz="1700" b="1" dirty="0">
                <a:solidFill>
                  <a:srgbClr val="14375F"/>
                </a:solidFill>
              </a:rPr>
              <a:t>Module Distribution</a:t>
            </a:r>
            <a:endParaRPr lang="en-US" sz="1700" dirty="0"/>
          </a:p>
        </p:txBody>
      </p:sp>
      <p:sp>
        <p:nvSpPr>
          <p:cNvPr id="17" name="Shape 14"/>
          <p:cNvSpPr/>
          <p:nvPr/>
        </p:nvSpPr>
        <p:spPr>
          <a:xfrm>
            <a:off x="8028432" y="2450592"/>
            <a:ext cx="384048" cy="384048"/>
          </a:xfrm>
          <a:prstGeom prst="ellipse">
            <a:avLst/>
          </a:prstGeom>
          <a:solidFill>
            <a:srgbClr val="1677C8"/>
          </a:solidFill>
          <a:ln w="12700">
            <a:solidFill>
              <a:srgbClr val="1677C8"/>
            </a:solidFill>
            <a:prstDash val="solid"/>
          </a:ln>
        </p:spPr>
      </p:sp>
      <p:sp>
        <p:nvSpPr>
          <p:cNvPr id="18" name="Text 15"/>
          <p:cNvSpPr/>
          <p:nvPr/>
        </p:nvSpPr>
        <p:spPr>
          <a:xfrm>
            <a:off x="8028432" y="2532888"/>
            <a:ext cx="384048" cy="146304"/>
          </a:xfrm>
          <a:prstGeom prst="rect">
            <a:avLst/>
          </a:prstGeom>
          <a:noFill/>
          <a:ln/>
        </p:spPr>
        <p:txBody>
          <a:bodyPr wrap="square" lIns="0" tIns="0" rIns="0" bIns="0" rtlCol="0" anchor="ctr"/>
          <a:lstStyle/>
          <a:p>
            <a:pPr marL="0" indent="0" algn="ctr">
              <a:buNone/>
            </a:pPr>
            <a:r>
              <a:rPr lang="en-US" sz="900" b="1" dirty="0">
                <a:solidFill>
                  <a:srgbClr val="FFFFFF"/>
                </a:solidFill>
              </a:rPr>
              <a:t>1</a:t>
            </a:r>
            <a:endParaRPr lang="en-US" sz="900" dirty="0"/>
          </a:p>
        </p:txBody>
      </p:sp>
      <p:sp>
        <p:nvSpPr>
          <p:cNvPr id="19" name="Text 16"/>
          <p:cNvSpPr/>
          <p:nvPr/>
        </p:nvSpPr>
        <p:spPr>
          <a:xfrm>
            <a:off x="8522208" y="2532888"/>
            <a:ext cx="1371600" cy="109728"/>
          </a:xfrm>
          <a:prstGeom prst="rect">
            <a:avLst/>
          </a:prstGeom>
          <a:noFill/>
          <a:ln/>
        </p:spPr>
        <p:txBody>
          <a:bodyPr wrap="square" lIns="0" tIns="0" rIns="0" bIns="0" rtlCol="0" anchor="ctr"/>
          <a:lstStyle/>
          <a:p>
            <a:pPr marL="0" indent="0">
              <a:buNone/>
            </a:pPr>
            <a:r>
              <a:rPr lang="en-US" sz="900" b="1" dirty="0">
                <a:solidFill>
                  <a:srgbClr val="1F2937"/>
                </a:solidFill>
              </a:rPr>
              <a:t>Hotels</a:t>
            </a:r>
            <a:endParaRPr lang="en-US" sz="900" dirty="0"/>
          </a:p>
        </p:txBody>
      </p:sp>
      <p:sp>
        <p:nvSpPr>
          <p:cNvPr id="20" name="Shape 17"/>
          <p:cNvSpPr/>
          <p:nvPr/>
        </p:nvSpPr>
        <p:spPr>
          <a:xfrm>
            <a:off x="9738360" y="2487168"/>
            <a:ext cx="1234440" cy="109728"/>
          </a:xfrm>
          <a:prstGeom prst="rect">
            <a:avLst/>
          </a:prstGeom>
          <a:solidFill>
            <a:srgbClr val="1677C8"/>
          </a:solidFill>
          <a:ln w="12700">
            <a:solidFill>
              <a:srgbClr val="1677C8"/>
            </a:solidFill>
            <a:prstDash val="solid"/>
          </a:ln>
        </p:spPr>
      </p:sp>
      <p:sp>
        <p:nvSpPr>
          <p:cNvPr id="21" name="Shape 18"/>
          <p:cNvSpPr/>
          <p:nvPr/>
        </p:nvSpPr>
        <p:spPr>
          <a:xfrm>
            <a:off x="8028432" y="2834640"/>
            <a:ext cx="384048" cy="384048"/>
          </a:xfrm>
          <a:prstGeom prst="ellipse">
            <a:avLst/>
          </a:prstGeom>
          <a:solidFill>
            <a:srgbClr val="00A3E0"/>
          </a:solidFill>
          <a:ln w="12700">
            <a:solidFill>
              <a:srgbClr val="00A3E0"/>
            </a:solidFill>
            <a:prstDash val="solid"/>
          </a:ln>
        </p:spPr>
      </p:sp>
      <p:sp>
        <p:nvSpPr>
          <p:cNvPr id="22" name="Text 19"/>
          <p:cNvSpPr/>
          <p:nvPr/>
        </p:nvSpPr>
        <p:spPr>
          <a:xfrm>
            <a:off x="8028432" y="2916936"/>
            <a:ext cx="384048" cy="146304"/>
          </a:xfrm>
          <a:prstGeom prst="rect">
            <a:avLst/>
          </a:prstGeom>
          <a:noFill/>
          <a:ln/>
        </p:spPr>
        <p:txBody>
          <a:bodyPr wrap="square" lIns="0" tIns="0" rIns="0" bIns="0" rtlCol="0" anchor="ctr"/>
          <a:lstStyle/>
          <a:p>
            <a:pPr marL="0" indent="0" algn="ctr">
              <a:buNone/>
            </a:pPr>
            <a:r>
              <a:rPr lang="en-US" sz="900" b="1" dirty="0">
                <a:solidFill>
                  <a:srgbClr val="FFFFFF"/>
                </a:solidFill>
              </a:rPr>
              <a:t>2</a:t>
            </a:r>
            <a:endParaRPr lang="en-US" sz="900" dirty="0"/>
          </a:p>
        </p:txBody>
      </p:sp>
      <p:sp>
        <p:nvSpPr>
          <p:cNvPr id="23" name="Text 20"/>
          <p:cNvSpPr/>
          <p:nvPr/>
        </p:nvSpPr>
        <p:spPr>
          <a:xfrm>
            <a:off x="8522208" y="2916936"/>
            <a:ext cx="1371600" cy="109728"/>
          </a:xfrm>
          <a:prstGeom prst="rect">
            <a:avLst/>
          </a:prstGeom>
          <a:noFill/>
          <a:ln/>
        </p:spPr>
        <p:txBody>
          <a:bodyPr wrap="square" lIns="0" tIns="0" rIns="0" bIns="0" rtlCol="0" anchor="ctr"/>
          <a:lstStyle/>
          <a:p>
            <a:pPr marL="0" indent="0">
              <a:buNone/>
            </a:pPr>
            <a:r>
              <a:rPr lang="en-US" sz="900" b="1" dirty="0">
                <a:solidFill>
                  <a:srgbClr val="1F2937"/>
                </a:solidFill>
              </a:rPr>
              <a:t>Cabs</a:t>
            </a:r>
            <a:endParaRPr lang="en-US" sz="900" dirty="0"/>
          </a:p>
        </p:txBody>
      </p:sp>
      <p:sp>
        <p:nvSpPr>
          <p:cNvPr id="24" name="Shape 21"/>
          <p:cNvSpPr/>
          <p:nvPr/>
        </p:nvSpPr>
        <p:spPr>
          <a:xfrm>
            <a:off x="9738360" y="2871216"/>
            <a:ext cx="1234440" cy="109728"/>
          </a:xfrm>
          <a:prstGeom prst="rect">
            <a:avLst/>
          </a:prstGeom>
          <a:solidFill>
            <a:srgbClr val="00A3E0"/>
          </a:solidFill>
          <a:ln w="12700">
            <a:solidFill>
              <a:srgbClr val="00A3E0"/>
            </a:solidFill>
            <a:prstDash val="solid"/>
          </a:ln>
        </p:spPr>
      </p:sp>
      <p:sp>
        <p:nvSpPr>
          <p:cNvPr id="25" name="Shape 22"/>
          <p:cNvSpPr/>
          <p:nvPr/>
        </p:nvSpPr>
        <p:spPr>
          <a:xfrm>
            <a:off x="8028432" y="3218688"/>
            <a:ext cx="384048" cy="384048"/>
          </a:xfrm>
          <a:prstGeom prst="ellipse">
            <a:avLst/>
          </a:prstGeom>
          <a:solidFill>
            <a:srgbClr val="F05A28"/>
          </a:solidFill>
          <a:ln w="12700">
            <a:solidFill>
              <a:srgbClr val="F05A28"/>
            </a:solidFill>
            <a:prstDash val="solid"/>
          </a:ln>
        </p:spPr>
      </p:sp>
      <p:sp>
        <p:nvSpPr>
          <p:cNvPr id="26" name="Text 23"/>
          <p:cNvSpPr/>
          <p:nvPr/>
        </p:nvSpPr>
        <p:spPr>
          <a:xfrm>
            <a:off x="8028432" y="3300984"/>
            <a:ext cx="384048" cy="146304"/>
          </a:xfrm>
          <a:prstGeom prst="rect">
            <a:avLst/>
          </a:prstGeom>
          <a:noFill/>
          <a:ln/>
        </p:spPr>
        <p:txBody>
          <a:bodyPr wrap="square" lIns="0" tIns="0" rIns="0" bIns="0" rtlCol="0" anchor="ctr"/>
          <a:lstStyle/>
          <a:p>
            <a:pPr marL="0" indent="0" algn="ctr">
              <a:buNone/>
            </a:pPr>
            <a:r>
              <a:rPr lang="en-US" sz="900" b="1" dirty="0">
                <a:solidFill>
                  <a:srgbClr val="FFFFFF"/>
                </a:solidFill>
              </a:rPr>
              <a:t>3</a:t>
            </a:r>
            <a:endParaRPr lang="en-US" sz="900" dirty="0"/>
          </a:p>
        </p:txBody>
      </p:sp>
      <p:sp>
        <p:nvSpPr>
          <p:cNvPr id="27" name="Text 24"/>
          <p:cNvSpPr/>
          <p:nvPr/>
        </p:nvSpPr>
        <p:spPr>
          <a:xfrm>
            <a:off x="8522208" y="3300984"/>
            <a:ext cx="1371600" cy="109728"/>
          </a:xfrm>
          <a:prstGeom prst="rect">
            <a:avLst/>
          </a:prstGeom>
          <a:noFill/>
          <a:ln/>
        </p:spPr>
        <p:txBody>
          <a:bodyPr wrap="square" lIns="0" tIns="0" rIns="0" bIns="0" rtlCol="0" anchor="ctr"/>
          <a:lstStyle/>
          <a:p>
            <a:pPr marL="0" indent="0">
              <a:buNone/>
            </a:pPr>
            <a:r>
              <a:rPr lang="en-US" sz="900" b="1" dirty="0">
                <a:solidFill>
                  <a:srgbClr val="1F2937"/>
                </a:solidFill>
              </a:rPr>
              <a:t>Bus</a:t>
            </a:r>
            <a:endParaRPr lang="en-US" sz="900" dirty="0"/>
          </a:p>
        </p:txBody>
      </p:sp>
      <p:sp>
        <p:nvSpPr>
          <p:cNvPr id="28" name="Shape 25"/>
          <p:cNvSpPr/>
          <p:nvPr/>
        </p:nvSpPr>
        <p:spPr>
          <a:xfrm>
            <a:off x="9738360" y="3255264"/>
            <a:ext cx="1234440" cy="109728"/>
          </a:xfrm>
          <a:prstGeom prst="rect">
            <a:avLst/>
          </a:prstGeom>
          <a:solidFill>
            <a:srgbClr val="F05A28"/>
          </a:solidFill>
          <a:ln w="12700">
            <a:solidFill>
              <a:srgbClr val="F05A28"/>
            </a:solidFill>
            <a:prstDash val="solid"/>
          </a:ln>
        </p:spPr>
      </p:sp>
      <p:sp>
        <p:nvSpPr>
          <p:cNvPr id="29" name="Shape 26"/>
          <p:cNvSpPr/>
          <p:nvPr/>
        </p:nvSpPr>
        <p:spPr>
          <a:xfrm>
            <a:off x="8028432" y="3602736"/>
            <a:ext cx="384048" cy="384048"/>
          </a:xfrm>
          <a:prstGeom prst="ellipse">
            <a:avLst/>
          </a:prstGeom>
          <a:solidFill>
            <a:srgbClr val="14375F"/>
          </a:solidFill>
          <a:ln w="12700">
            <a:solidFill>
              <a:srgbClr val="14375F"/>
            </a:solidFill>
            <a:prstDash val="solid"/>
          </a:ln>
        </p:spPr>
      </p:sp>
      <p:sp>
        <p:nvSpPr>
          <p:cNvPr id="30" name="Text 27"/>
          <p:cNvSpPr/>
          <p:nvPr/>
        </p:nvSpPr>
        <p:spPr>
          <a:xfrm>
            <a:off x="8028432" y="3685032"/>
            <a:ext cx="384048" cy="146304"/>
          </a:xfrm>
          <a:prstGeom prst="rect">
            <a:avLst/>
          </a:prstGeom>
          <a:noFill/>
          <a:ln/>
        </p:spPr>
        <p:txBody>
          <a:bodyPr wrap="square" lIns="0" tIns="0" rIns="0" bIns="0" rtlCol="0" anchor="ctr"/>
          <a:lstStyle/>
          <a:p>
            <a:pPr marL="0" indent="0" algn="ctr">
              <a:buNone/>
            </a:pPr>
            <a:r>
              <a:rPr lang="en-US" sz="900" b="1" dirty="0">
                <a:solidFill>
                  <a:srgbClr val="FFFFFF"/>
                </a:solidFill>
              </a:rPr>
              <a:t>4</a:t>
            </a:r>
            <a:endParaRPr lang="en-US" sz="900" dirty="0"/>
          </a:p>
        </p:txBody>
      </p:sp>
      <p:sp>
        <p:nvSpPr>
          <p:cNvPr id="31" name="Text 28"/>
          <p:cNvSpPr/>
          <p:nvPr/>
        </p:nvSpPr>
        <p:spPr>
          <a:xfrm>
            <a:off x="8522208" y="3685032"/>
            <a:ext cx="1371600" cy="109728"/>
          </a:xfrm>
          <a:prstGeom prst="rect">
            <a:avLst/>
          </a:prstGeom>
          <a:noFill/>
          <a:ln/>
        </p:spPr>
        <p:txBody>
          <a:bodyPr wrap="square" lIns="0" tIns="0" rIns="0" bIns="0" rtlCol="0" anchor="ctr"/>
          <a:lstStyle/>
          <a:p>
            <a:pPr marL="0" indent="0">
              <a:buNone/>
            </a:pPr>
            <a:r>
              <a:rPr lang="en-US" sz="900" b="1" dirty="0">
                <a:solidFill>
                  <a:srgbClr val="1F2937"/>
                </a:solidFill>
              </a:rPr>
              <a:t>Trains</a:t>
            </a:r>
            <a:endParaRPr lang="en-US" sz="900" dirty="0"/>
          </a:p>
        </p:txBody>
      </p:sp>
      <p:sp>
        <p:nvSpPr>
          <p:cNvPr id="32" name="Shape 29"/>
          <p:cNvSpPr/>
          <p:nvPr/>
        </p:nvSpPr>
        <p:spPr>
          <a:xfrm>
            <a:off x="9738360" y="3639312"/>
            <a:ext cx="1234440" cy="109728"/>
          </a:xfrm>
          <a:prstGeom prst="rect">
            <a:avLst/>
          </a:prstGeom>
          <a:solidFill>
            <a:srgbClr val="14375F"/>
          </a:solidFill>
          <a:ln w="12700">
            <a:solidFill>
              <a:srgbClr val="14375F"/>
            </a:solidFill>
            <a:prstDash val="solid"/>
          </a:ln>
        </p:spPr>
      </p:sp>
      <p:sp>
        <p:nvSpPr>
          <p:cNvPr id="33" name="Shape 30"/>
          <p:cNvSpPr/>
          <p:nvPr/>
        </p:nvSpPr>
        <p:spPr>
          <a:xfrm>
            <a:off x="8028432" y="3986784"/>
            <a:ext cx="384048" cy="384048"/>
          </a:xfrm>
          <a:prstGeom prst="ellipse">
            <a:avLst/>
          </a:prstGeom>
          <a:solidFill>
            <a:srgbClr val="12B76A"/>
          </a:solidFill>
          <a:ln w="12700">
            <a:solidFill>
              <a:srgbClr val="12B76A"/>
            </a:solidFill>
            <a:prstDash val="solid"/>
          </a:ln>
        </p:spPr>
      </p:sp>
      <p:sp>
        <p:nvSpPr>
          <p:cNvPr id="34" name="Text 31"/>
          <p:cNvSpPr/>
          <p:nvPr/>
        </p:nvSpPr>
        <p:spPr>
          <a:xfrm>
            <a:off x="8028432" y="4069080"/>
            <a:ext cx="384048" cy="146304"/>
          </a:xfrm>
          <a:prstGeom prst="rect">
            <a:avLst/>
          </a:prstGeom>
          <a:noFill/>
          <a:ln/>
        </p:spPr>
        <p:txBody>
          <a:bodyPr wrap="square" lIns="0" tIns="0" rIns="0" bIns="0" rtlCol="0" anchor="ctr"/>
          <a:lstStyle/>
          <a:p>
            <a:pPr marL="0" indent="0" algn="ctr">
              <a:buNone/>
            </a:pPr>
            <a:r>
              <a:rPr lang="en-US" sz="900" b="1" dirty="0">
                <a:solidFill>
                  <a:srgbClr val="FFFFFF"/>
                </a:solidFill>
              </a:rPr>
              <a:t>5</a:t>
            </a:r>
            <a:endParaRPr lang="en-US" sz="900" dirty="0"/>
          </a:p>
        </p:txBody>
      </p:sp>
      <p:sp>
        <p:nvSpPr>
          <p:cNvPr id="35" name="Text 32"/>
          <p:cNvSpPr/>
          <p:nvPr/>
        </p:nvSpPr>
        <p:spPr>
          <a:xfrm>
            <a:off x="8522208" y="4069080"/>
            <a:ext cx="1371600" cy="109728"/>
          </a:xfrm>
          <a:prstGeom prst="rect">
            <a:avLst/>
          </a:prstGeom>
          <a:noFill/>
          <a:ln/>
        </p:spPr>
        <p:txBody>
          <a:bodyPr wrap="square" lIns="0" tIns="0" rIns="0" bIns="0" rtlCol="0" anchor="ctr"/>
          <a:lstStyle/>
          <a:p>
            <a:pPr marL="0" indent="0">
              <a:buNone/>
            </a:pPr>
            <a:r>
              <a:rPr lang="en-US" sz="900" b="1" dirty="0">
                <a:solidFill>
                  <a:srgbClr val="1F2937"/>
                </a:solidFill>
              </a:rPr>
              <a:t>Holidays</a:t>
            </a:r>
            <a:endParaRPr lang="en-US" sz="900" dirty="0"/>
          </a:p>
        </p:txBody>
      </p:sp>
      <p:sp>
        <p:nvSpPr>
          <p:cNvPr id="36" name="Shape 33"/>
          <p:cNvSpPr/>
          <p:nvPr/>
        </p:nvSpPr>
        <p:spPr>
          <a:xfrm>
            <a:off x="9738360" y="4023360"/>
            <a:ext cx="1234440" cy="109728"/>
          </a:xfrm>
          <a:prstGeom prst="rect">
            <a:avLst/>
          </a:prstGeom>
          <a:solidFill>
            <a:srgbClr val="12B76A"/>
          </a:solidFill>
          <a:ln w="12700">
            <a:solidFill>
              <a:srgbClr val="12B76A"/>
            </a:solidFill>
            <a:prstDash val="solid"/>
          </a:ln>
        </p:spPr>
      </p:sp>
      <p:sp>
        <p:nvSpPr>
          <p:cNvPr id="37" name="Shape 34"/>
          <p:cNvSpPr/>
          <p:nvPr/>
        </p:nvSpPr>
        <p:spPr>
          <a:xfrm>
            <a:off x="621792" y="5120640"/>
            <a:ext cx="10881360" cy="685800"/>
          </a:xfrm>
          <a:prstGeom prst="roundRect">
            <a:avLst>
              <a:gd name="adj" fmla="val 10667"/>
            </a:avLst>
          </a:prstGeom>
          <a:solidFill>
            <a:srgbClr val="FFFFFF"/>
          </a:solidFill>
          <a:ln w="12700">
            <a:solidFill>
              <a:srgbClr val="D6E4F2"/>
            </a:solidFill>
            <a:prstDash val="solid"/>
          </a:ln>
        </p:spPr>
      </p:sp>
      <p:sp>
        <p:nvSpPr>
          <p:cNvPr id="38" name="Shape 35"/>
          <p:cNvSpPr/>
          <p:nvPr/>
        </p:nvSpPr>
        <p:spPr>
          <a:xfrm>
            <a:off x="621792" y="5120640"/>
            <a:ext cx="73152" cy="685800"/>
          </a:xfrm>
          <a:prstGeom prst="rect">
            <a:avLst/>
          </a:prstGeom>
          <a:solidFill>
            <a:srgbClr val="1677C8"/>
          </a:solidFill>
          <a:ln w="12700">
            <a:solidFill>
              <a:srgbClr val="1677C8"/>
            </a:solidFill>
            <a:prstDash val="solid"/>
          </a:ln>
        </p:spPr>
      </p:sp>
      <p:sp>
        <p:nvSpPr>
          <p:cNvPr id="39" name="Text 36"/>
          <p:cNvSpPr/>
          <p:nvPr/>
        </p:nvSpPr>
        <p:spPr>
          <a:xfrm>
            <a:off x="768096" y="5230368"/>
            <a:ext cx="10652760" cy="164592"/>
          </a:xfrm>
          <a:prstGeom prst="rect">
            <a:avLst/>
          </a:prstGeom>
          <a:noFill/>
          <a:ln/>
        </p:spPr>
        <p:txBody>
          <a:bodyPr wrap="square" lIns="0" tIns="0" rIns="0" bIns="0" rtlCol="0" anchor="ctr"/>
          <a:lstStyle/>
          <a:p>
            <a:pPr marL="0" indent="0">
              <a:buNone/>
            </a:pPr>
            <a:r>
              <a:rPr lang="en-US" sz="920" b="1" dirty="0">
                <a:solidFill>
                  <a:srgbClr val="1677C8"/>
                </a:solidFill>
              </a:rPr>
              <a:t>Collaboration Model</a:t>
            </a:r>
            <a:endParaRPr lang="en-US" sz="920" dirty="0"/>
          </a:p>
        </p:txBody>
      </p:sp>
      <p:sp>
        <p:nvSpPr>
          <p:cNvPr id="40" name="Text 37"/>
          <p:cNvSpPr/>
          <p:nvPr/>
        </p:nvSpPr>
        <p:spPr>
          <a:xfrm>
            <a:off x="768096" y="5468112"/>
            <a:ext cx="10652760" cy="274320"/>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Each member owns one Goibibo module while following a shared automation strategy: Selenium WebDriver, Python, Page Object Model, Behave BDD, reusable test data, screenshots, logs, and Allure reporting.</a:t>
            </a:r>
            <a:endParaRPr lang="en-US" sz="770" dirty="0"/>
          </a:p>
        </p:txBody>
      </p:sp>
      <p:sp>
        <p:nvSpPr>
          <p:cNvPr id="41" name="Shape 38"/>
          <p:cNvSpPr/>
          <p:nvPr/>
        </p:nvSpPr>
        <p:spPr>
          <a:xfrm>
            <a:off x="384048" y="6473952"/>
            <a:ext cx="11384280" cy="0"/>
          </a:xfrm>
          <a:prstGeom prst="line">
            <a:avLst/>
          </a:prstGeom>
          <a:noFill/>
          <a:ln w="12700">
            <a:solidFill>
              <a:srgbClr val="D6E4F2"/>
            </a:solidFill>
            <a:prstDash val="solid"/>
          </a:ln>
        </p:spPr>
      </p:sp>
      <p:sp>
        <p:nvSpPr>
          <p:cNvPr id="42" name="Text 39"/>
          <p:cNvSpPr/>
          <p:nvPr/>
        </p:nvSpPr>
        <p:spPr>
          <a:xfrm>
            <a:off x="384048" y="6547104"/>
            <a:ext cx="5303520" cy="164592"/>
          </a:xfrm>
          <a:prstGeom prst="rect">
            <a:avLst/>
          </a:prstGeom>
          <a:noFill/>
          <a:ln/>
        </p:spPr>
        <p:txBody>
          <a:bodyPr wrap="square" lIns="0" tIns="0" rIns="0" bIns="0" rtlCol="0" anchor="ctr"/>
          <a:lstStyle/>
          <a:p>
            <a:pPr marL="0" indent="0">
              <a:buNone/>
            </a:pPr>
            <a:r>
              <a:rPr lang="en-US" sz="750" dirty="0">
                <a:solidFill>
                  <a:srgbClr val="667085"/>
                </a:solidFill>
              </a:rPr>
              <a:t>Goibibo End-to-End Automation Testing Framework</a:t>
            </a:r>
            <a:endParaRPr lang="en-US" sz="750" dirty="0"/>
          </a:p>
        </p:txBody>
      </p:sp>
      <p:sp>
        <p:nvSpPr>
          <p:cNvPr id="43" name="Text 40"/>
          <p:cNvSpPr/>
          <p:nvPr/>
        </p:nvSpPr>
        <p:spPr>
          <a:xfrm>
            <a:off x="11384280" y="6528816"/>
            <a:ext cx="347472" cy="201168"/>
          </a:xfrm>
          <a:prstGeom prst="rect">
            <a:avLst/>
          </a:prstGeom>
          <a:noFill/>
          <a:ln/>
        </p:spPr>
        <p:txBody>
          <a:bodyPr wrap="square" lIns="0" tIns="0" rIns="0" bIns="0" rtlCol="0" anchor="ctr"/>
          <a:lstStyle/>
          <a:p>
            <a:pPr marL="0" indent="0" algn="r">
              <a:buNone/>
            </a:pPr>
            <a:r>
              <a:rPr lang="en-US" sz="850" b="1" dirty="0">
                <a:solidFill>
                  <a:srgbClr val="1677C8"/>
                </a:solidFill>
              </a:rPr>
              <a:t>02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677C8"/>
          </a:solidFill>
          <a:ln w="12700">
            <a:solidFill>
              <a:srgbClr val="1677C8"/>
            </a:solidFill>
            <a:prstDash val="solid"/>
          </a:ln>
        </p:spPr>
      </p:sp>
      <p:sp>
        <p:nvSpPr>
          <p:cNvPr id="3" name="Shape 1"/>
          <p:cNvSpPr/>
          <p:nvPr/>
        </p:nvSpPr>
        <p:spPr>
          <a:xfrm>
            <a:off x="0" y="164592"/>
            <a:ext cx="12191695" cy="566928"/>
          </a:xfrm>
          <a:prstGeom prst="rect">
            <a:avLst/>
          </a:prstGeom>
          <a:solidFill>
            <a:srgbClr val="FFFFFF"/>
          </a:solidFill>
          <a:ln w="12700">
            <a:solidFill>
              <a:srgbClr val="FFFFFF"/>
            </a:solidFill>
            <a:prstDash val="solid"/>
          </a:ln>
        </p:spPr>
      </p:sp>
      <p:sp>
        <p:nvSpPr>
          <p:cNvPr id="4" name="Text 2"/>
          <p:cNvSpPr/>
          <p:nvPr/>
        </p:nvSpPr>
        <p:spPr>
          <a:xfrm>
            <a:off x="384048" y="237744"/>
            <a:ext cx="1143000" cy="292608"/>
          </a:xfrm>
          <a:prstGeom prst="rect">
            <a:avLst/>
          </a:prstGeom>
          <a:noFill/>
          <a:ln/>
        </p:spPr>
        <p:txBody>
          <a:bodyPr wrap="square" lIns="0" tIns="0" rIns="0" bIns="0" rtlCol="0" anchor="ctr"/>
          <a:lstStyle/>
          <a:p>
            <a:pPr marL="0" indent="0">
              <a:buNone/>
            </a:pPr>
            <a:r>
              <a:rPr lang="en-US" sz="1600" b="1" dirty="0">
                <a:solidFill>
                  <a:srgbClr val="F05A28"/>
                </a:solidFill>
                <a:latin typeface="Aptos Display" pitchFamily="34" charset="0"/>
                <a:ea typeface="Aptos Display" pitchFamily="34" charset="-122"/>
                <a:cs typeface="Aptos Display" pitchFamily="34" charset="-120"/>
              </a:rPr>
              <a:t>goibibo</a:t>
            </a:r>
            <a:endParaRPr lang="en-US" sz="1600" dirty="0"/>
          </a:p>
        </p:txBody>
      </p:sp>
      <p:sp>
        <p:nvSpPr>
          <p:cNvPr id="5" name="Text 3"/>
          <p:cNvSpPr/>
          <p:nvPr/>
        </p:nvSpPr>
        <p:spPr>
          <a:xfrm>
            <a:off x="1335024" y="265176"/>
            <a:ext cx="1170432" cy="228600"/>
          </a:xfrm>
          <a:prstGeom prst="rect">
            <a:avLst/>
          </a:prstGeom>
          <a:noFill/>
          <a:ln/>
        </p:spPr>
        <p:txBody>
          <a:bodyPr wrap="square" lIns="0" tIns="0" rIns="0" bIns="0" rtlCol="0" anchor="ctr"/>
          <a:lstStyle/>
          <a:p>
            <a:pPr marL="0" indent="0">
              <a:buNone/>
            </a:pPr>
            <a:r>
              <a:rPr lang="en-US" sz="950" dirty="0">
                <a:solidFill>
                  <a:srgbClr val="1677C8"/>
                </a:solidFill>
                <a:latin typeface="Aptos" pitchFamily="34" charset="0"/>
                <a:ea typeface="Aptos" pitchFamily="34" charset="-122"/>
                <a:cs typeface="Aptos" pitchFamily="34" charset="-120"/>
              </a:rPr>
              <a:t>automation</a:t>
            </a:r>
            <a:endParaRPr lang="en-US" sz="950" dirty="0"/>
          </a:p>
        </p:txBody>
      </p:sp>
      <p:sp>
        <p:nvSpPr>
          <p:cNvPr id="6" name="Text 4"/>
          <p:cNvSpPr/>
          <p:nvPr/>
        </p:nvSpPr>
        <p:spPr>
          <a:xfrm>
            <a:off x="384048" y="868680"/>
            <a:ext cx="8046720" cy="347472"/>
          </a:xfrm>
          <a:prstGeom prst="rect">
            <a:avLst/>
          </a:prstGeom>
          <a:noFill/>
          <a:ln/>
        </p:spPr>
        <p:txBody>
          <a:bodyPr wrap="square" lIns="0" tIns="0" rIns="0" bIns="0" rtlCol="0" anchor="ctr"/>
          <a:lstStyle/>
          <a:p>
            <a:pPr marL="0" indent="0">
              <a:buNone/>
            </a:pPr>
            <a:r>
              <a:rPr lang="en-US" sz="2400" b="1" dirty="0">
                <a:solidFill>
                  <a:srgbClr val="14375F"/>
                </a:solidFill>
                <a:latin typeface="Aptos Display" pitchFamily="34" charset="0"/>
                <a:ea typeface="Aptos Display" pitchFamily="34" charset="-122"/>
                <a:cs typeface="Aptos Display" pitchFamily="34" charset="-120"/>
              </a:rPr>
              <a:t>Goibibo Hotels Automation — Akash Baran Ghorai</a:t>
            </a:r>
            <a:endParaRPr lang="en-US" sz="2400" dirty="0"/>
          </a:p>
        </p:txBody>
      </p:sp>
      <p:sp>
        <p:nvSpPr>
          <p:cNvPr id="7" name="Text 5"/>
          <p:cNvSpPr/>
          <p:nvPr/>
        </p:nvSpPr>
        <p:spPr>
          <a:xfrm>
            <a:off x="393192" y="1234440"/>
            <a:ext cx="7772400" cy="228600"/>
          </a:xfrm>
          <a:prstGeom prst="rect">
            <a:avLst/>
          </a:prstGeom>
          <a:noFill/>
          <a:ln/>
        </p:spPr>
        <p:txBody>
          <a:bodyPr wrap="square" lIns="0" tIns="0" rIns="0" bIns="0" rtlCol="0" anchor="ctr"/>
          <a:lstStyle/>
          <a:p>
            <a:pPr marL="0" indent="0">
              <a:buNone/>
            </a:pPr>
            <a:r>
              <a:rPr lang="en-US" sz="1050" dirty="0">
                <a:solidFill>
                  <a:srgbClr val="667085"/>
                </a:solidFill>
              </a:rPr>
              <a:t>Goibibo Hotels Automation | Akash Baran Ghorai | Superset ID: 4959403</a:t>
            </a:r>
            <a:endParaRPr lang="en-US" sz="1050" dirty="0"/>
          </a:p>
        </p:txBody>
      </p:sp>
      <p:sp>
        <p:nvSpPr>
          <p:cNvPr id="8" name="Shape 6"/>
          <p:cNvSpPr/>
          <p:nvPr/>
        </p:nvSpPr>
        <p:spPr>
          <a:xfrm>
            <a:off x="9829800" y="713232"/>
            <a:ext cx="2103120" cy="1554480"/>
          </a:xfrm>
          <a:prstGeom prst="arc">
            <a:avLst/>
          </a:prstGeom>
          <a:noFill/>
          <a:ln w="25400">
            <a:solidFill>
              <a:srgbClr val="00A3E0">
                <a:alpha val="70000"/>
              </a:srgbClr>
            </a:solidFill>
            <a:prstDash val="solid"/>
          </a:ln>
        </p:spPr>
      </p:sp>
      <p:sp>
        <p:nvSpPr>
          <p:cNvPr id="9" name="Shape 7"/>
          <p:cNvSpPr/>
          <p:nvPr/>
        </p:nvSpPr>
        <p:spPr>
          <a:xfrm>
            <a:off x="10972800" y="841248"/>
            <a:ext cx="585216" cy="201168"/>
          </a:xfrm>
          <a:prstGeom prst="line">
            <a:avLst/>
          </a:prstGeom>
          <a:noFill/>
          <a:ln w="25400">
            <a:solidFill>
              <a:srgbClr val="1677C8"/>
            </a:solidFill>
            <a:prstDash val="solid"/>
            <a:headEnd type="none"/>
            <a:tailEnd type="triangle"/>
          </a:ln>
        </p:spPr>
      </p:sp>
      <p:sp>
        <p:nvSpPr>
          <p:cNvPr id="10" name="Shape 8"/>
          <p:cNvSpPr/>
          <p:nvPr/>
        </p:nvSpPr>
        <p:spPr>
          <a:xfrm>
            <a:off x="438912" y="1572768"/>
            <a:ext cx="5413248" cy="4526280"/>
          </a:xfrm>
          <a:prstGeom prst="roundRect">
            <a:avLst>
              <a:gd name="adj" fmla="val 1616"/>
            </a:avLst>
          </a:prstGeom>
          <a:solidFill>
            <a:srgbClr val="FFFFFF"/>
          </a:solidFill>
          <a:ln w="12700">
            <a:solidFill>
              <a:srgbClr val="D6E4F2"/>
            </a:solidFill>
            <a:prstDash val="solid"/>
          </a:ln>
        </p:spPr>
      </p:sp>
      <p:sp>
        <p:nvSpPr>
          <p:cNvPr id="11" name="Shape 9"/>
          <p:cNvSpPr/>
          <p:nvPr/>
        </p:nvSpPr>
        <p:spPr>
          <a:xfrm>
            <a:off x="6263640" y="1572768"/>
            <a:ext cx="5413248" cy="4526280"/>
          </a:xfrm>
          <a:prstGeom prst="roundRect">
            <a:avLst>
              <a:gd name="adj" fmla="val 1616"/>
            </a:avLst>
          </a:prstGeom>
          <a:solidFill>
            <a:srgbClr val="FFFFFF"/>
          </a:solidFill>
          <a:ln w="12700">
            <a:solidFill>
              <a:srgbClr val="D6E4F2"/>
            </a:solidFill>
            <a:prstDash val="solid"/>
          </a:ln>
        </p:spPr>
      </p:sp>
      <p:sp>
        <p:nvSpPr>
          <p:cNvPr id="12" name="Shape 10"/>
          <p:cNvSpPr/>
          <p:nvPr/>
        </p:nvSpPr>
        <p:spPr>
          <a:xfrm>
            <a:off x="438912" y="1572768"/>
            <a:ext cx="5413248" cy="384048"/>
          </a:xfrm>
          <a:prstGeom prst="rect">
            <a:avLst/>
          </a:prstGeom>
          <a:solidFill>
            <a:srgbClr val="1677C8"/>
          </a:solidFill>
          <a:ln w="12700">
            <a:solidFill>
              <a:srgbClr val="1677C8"/>
            </a:solidFill>
            <a:prstDash val="solid"/>
          </a:ln>
        </p:spPr>
      </p:sp>
      <p:sp>
        <p:nvSpPr>
          <p:cNvPr id="13" name="Shape 11"/>
          <p:cNvSpPr/>
          <p:nvPr/>
        </p:nvSpPr>
        <p:spPr>
          <a:xfrm>
            <a:off x="6263640" y="1572768"/>
            <a:ext cx="5413248" cy="384048"/>
          </a:xfrm>
          <a:prstGeom prst="rect">
            <a:avLst/>
          </a:prstGeom>
          <a:solidFill>
            <a:srgbClr val="14375F"/>
          </a:solidFill>
          <a:ln w="12700">
            <a:solidFill>
              <a:srgbClr val="14375F"/>
            </a:solidFill>
            <a:prstDash val="solid"/>
          </a:ln>
        </p:spPr>
      </p:sp>
      <p:sp>
        <p:nvSpPr>
          <p:cNvPr id="14" name="Text 12"/>
          <p:cNvSpPr/>
          <p:nvPr/>
        </p:nvSpPr>
        <p:spPr>
          <a:xfrm>
            <a:off x="603504" y="1682496"/>
            <a:ext cx="2377440" cy="118872"/>
          </a:xfrm>
          <a:prstGeom prst="rect">
            <a:avLst/>
          </a:prstGeom>
          <a:noFill/>
          <a:ln/>
        </p:spPr>
        <p:txBody>
          <a:bodyPr wrap="square" lIns="0" tIns="0" rIns="0" bIns="0" rtlCol="0" anchor="ctr"/>
          <a:lstStyle/>
          <a:p>
            <a:pPr marL="0" indent="0">
              <a:buNone/>
            </a:pPr>
            <a:r>
              <a:rPr lang="en-US" sz="800" b="1" dirty="0">
                <a:solidFill>
                  <a:srgbClr val="FFFFFF"/>
                </a:solidFill>
              </a:rPr>
              <a:t>SELENIUM AUTOMATION</a:t>
            </a:r>
            <a:endParaRPr lang="en-US" sz="800" dirty="0"/>
          </a:p>
        </p:txBody>
      </p:sp>
      <p:sp>
        <p:nvSpPr>
          <p:cNvPr id="15" name="Text 13"/>
          <p:cNvSpPr/>
          <p:nvPr/>
        </p:nvSpPr>
        <p:spPr>
          <a:xfrm>
            <a:off x="6428232" y="1682496"/>
            <a:ext cx="2011680" cy="118872"/>
          </a:xfrm>
          <a:prstGeom prst="rect">
            <a:avLst/>
          </a:prstGeom>
          <a:noFill/>
          <a:ln/>
        </p:spPr>
        <p:txBody>
          <a:bodyPr wrap="square" lIns="0" tIns="0" rIns="0" bIns="0" rtlCol="0" anchor="ctr"/>
          <a:lstStyle/>
          <a:p>
            <a:pPr marL="0" indent="0">
              <a:buNone/>
            </a:pPr>
            <a:r>
              <a:rPr lang="en-US" sz="800" b="1" dirty="0">
                <a:solidFill>
                  <a:srgbClr val="FFFFFF"/>
                </a:solidFill>
              </a:rPr>
              <a:t>BDD AUTOMATION</a:t>
            </a:r>
            <a:endParaRPr lang="en-US" sz="800" dirty="0"/>
          </a:p>
        </p:txBody>
      </p:sp>
      <p:sp>
        <p:nvSpPr>
          <p:cNvPr id="16" name="Shape 14"/>
          <p:cNvSpPr/>
          <p:nvPr/>
        </p:nvSpPr>
        <p:spPr>
          <a:xfrm>
            <a:off x="576072" y="2139696"/>
            <a:ext cx="2560320" cy="868680"/>
          </a:xfrm>
          <a:prstGeom prst="roundRect">
            <a:avLst>
              <a:gd name="adj" fmla="val 8421"/>
            </a:avLst>
          </a:prstGeom>
          <a:solidFill>
            <a:srgbClr val="FFFFFF"/>
          </a:solidFill>
          <a:ln w="12700">
            <a:solidFill>
              <a:srgbClr val="D6E4F2"/>
            </a:solidFill>
            <a:prstDash val="solid"/>
          </a:ln>
        </p:spPr>
      </p:sp>
      <p:sp>
        <p:nvSpPr>
          <p:cNvPr id="17" name="Shape 15"/>
          <p:cNvSpPr/>
          <p:nvPr/>
        </p:nvSpPr>
        <p:spPr>
          <a:xfrm>
            <a:off x="576072" y="2139696"/>
            <a:ext cx="73152" cy="868680"/>
          </a:xfrm>
          <a:prstGeom prst="rect">
            <a:avLst/>
          </a:prstGeom>
          <a:solidFill>
            <a:srgbClr val="1677C8"/>
          </a:solidFill>
          <a:ln w="12700">
            <a:solidFill>
              <a:srgbClr val="1677C8"/>
            </a:solidFill>
            <a:prstDash val="solid"/>
          </a:ln>
        </p:spPr>
      </p:sp>
      <p:sp>
        <p:nvSpPr>
          <p:cNvPr id="18" name="Text 16"/>
          <p:cNvSpPr/>
          <p:nvPr/>
        </p:nvSpPr>
        <p:spPr>
          <a:xfrm>
            <a:off x="722376" y="2249424"/>
            <a:ext cx="2331720" cy="164592"/>
          </a:xfrm>
          <a:prstGeom prst="rect">
            <a:avLst/>
          </a:prstGeom>
          <a:noFill/>
          <a:ln/>
        </p:spPr>
        <p:txBody>
          <a:bodyPr wrap="square" lIns="0" tIns="0" rIns="0" bIns="0" rtlCol="0" anchor="ctr"/>
          <a:lstStyle/>
          <a:p>
            <a:pPr marL="0" indent="0">
              <a:buNone/>
            </a:pPr>
            <a:r>
              <a:rPr lang="en-US" sz="920" b="1" dirty="0">
                <a:solidFill>
                  <a:srgbClr val="1677C8"/>
                </a:solidFill>
              </a:rPr>
              <a:t>Project Profile</a:t>
            </a:r>
            <a:endParaRPr lang="en-US" sz="920" dirty="0"/>
          </a:p>
        </p:txBody>
      </p:sp>
      <p:sp>
        <p:nvSpPr>
          <p:cNvPr id="19" name="Text 17"/>
          <p:cNvSpPr/>
          <p:nvPr/>
        </p:nvSpPr>
        <p:spPr>
          <a:xfrm>
            <a:off x="722376" y="2487168"/>
            <a:ext cx="2331720" cy="457200"/>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Project: Goibibo Hotels Automation Automation</a:t>
            </a:r>
            <a:endParaRPr lang="en-US" sz="770" dirty="0"/>
          </a:p>
          <a:p>
            <a:pPr marL="0" indent="0">
              <a:buNone/>
            </a:pPr>
            <a:r>
              <a:rPr lang="en-US" sz="770" dirty="0">
                <a:solidFill>
                  <a:srgbClr val="1F2937"/>
                </a:solidFill>
              </a:rPr>
              <a:t>Domain: Travel &amp; Hospitality</a:t>
            </a:r>
            <a:endParaRPr lang="en-US" sz="770" dirty="0"/>
          </a:p>
          <a:p>
            <a:pPr marL="0" indent="0">
              <a:buNone/>
            </a:pPr>
            <a:r>
              <a:rPr lang="en-US" sz="770" dirty="0">
                <a:solidFill>
                  <a:srgbClr val="1F2937"/>
                </a:solidFill>
              </a:rPr>
              <a:t>Name: Akash Baran Ghorai</a:t>
            </a:r>
            <a:endParaRPr lang="en-US" sz="770" dirty="0"/>
          </a:p>
          <a:p>
            <a:pPr marL="0" indent="0">
              <a:buNone/>
            </a:pPr>
            <a:r>
              <a:rPr lang="en-US" sz="770" dirty="0">
                <a:solidFill>
                  <a:srgbClr val="1F2937"/>
                </a:solidFill>
              </a:rPr>
              <a:t>Superset ID: 4959403</a:t>
            </a:r>
            <a:endParaRPr lang="en-US" sz="770" dirty="0"/>
          </a:p>
        </p:txBody>
      </p:sp>
      <p:sp>
        <p:nvSpPr>
          <p:cNvPr id="20" name="Shape 18"/>
          <p:cNvSpPr/>
          <p:nvPr/>
        </p:nvSpPr>
        <p:spPr>
          <a:xfrm>
            <a:off x="3273552" y="2139696"/>
            <a:ext cx="2395728" cy="868680"/>
          </a:xfrm>
          <a:prstGeom prst="roundRect">
            <a:avLst>
              <a:gd name="adj" fmla="val 8421"/>
            </a:avLst>
          </a:prstGeom>
          <a:solidFill>
            <a:srgbClr val="FFFFFF"/>
          </a:solidFill>
          <a:ln w="12700">
            <a:solidFill>
              <a:srgbClr val="D6E4F2"/>
            </a:solidFill>
            <a:prstDash val="solid"/>
          </a:ln>
        </p:spPr>
      </p:sp>
      <p:sp>
        <p:nvSpPr>
          <p:cNvPr id="21" name="Shape 19"/>
          <p:cNvSpPr/>
          <p:nvPr/>
        </p:nvSpPr>
        <p:spPr>
          <a:xfrm>
            <a:off x="3273552" y="2139696"/>
            <a:ext cx="73152" cy="868680"/>
          </a:xfrm>
          <a:prstGeom prst="rect">
            <a:avLst/>
          </a:prstGeom>
          <a:solidFill>
            <a:srgbClr val="00A3E0"/>
          </a:solidFill>
          <a:ln w="12700">
            <a:solidFill>
              <a:srgbClr val="00A3E0"/>
            </a:solidFill>
            <a:prstDash val="solid"/>
          </a:ln>
        </p:spPr>
      </p:sp>
      <p:sp>
        <p:nvSpPr>
          <p:cNvPr id="22" name="Text 20"/>
          <p:cNvSpPr/>
          <p:nvPr/>
        </p:nvSpPr>
        <p:spPr>
          <a:xfrm>
            <a:off x="3419856" y="2249424"/>
            <a:ext cx="2167128" cy="164592"/>
          </a:xfrm>
          <a:prstGeom prst="rect">
            <a:avLst/>
          </a:prstGeom>
          <a:noFill/>
          <a:ln/>
        </p:spPr>
        <p:txBody>
          <a:bodyPr wrap="square" lIns="0" tIns="0" rIns="0" bIns="0" rtlCol="0" anchor="ctr"/>
          <a:lstStyle/>
          <a:p>
            <a:pPr marL="0" indent="0">
              <a:buNone/>
            </a:pPr>
            <a:r>
              <a:rPr lang="en-US" sz="920" b="1" dirty="0">
                <a:solidFill>
                  <a:srgbClr val="00A3E0"/>
                </a:solidFill>
              </a:rPr>
              <a:t>Framework</a:t>
            </a:r>
            <a:endParaRPr lang="en-US" sz="920" dirty="0"/>
          </a:p>
        </p:txBody>
      </p:sp>
      <p:sp>
        <p:nvSpPr>
          <p:cNvPr id="23" name="Text 21"/>
          <p:cNvSpPr/>
          <p:nvPr/>
        </p:nvSpPr>
        <p:spPr>
          <a:xfrm>
            <a:off x="3419856" y="2487168"/>
            <a:ext cx="2167128" cy="457200"/>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Python + Selenium WebDriver</a:t>
            </a:r>
            <a:endParaRPr lang="en-US" sz="770" dirty="0"/>
          </a:p>
          <a:p>
            <a:pPr marL="0" indent="0">
              <a:buNone/>
            </a:pPr>
            <a:r>
              <a:rPr lang="en-US" sz="770" dirty="0">
                <a:solidFill>
                  <a:srgbClr val="1F2937"/>
                </a:solidFill>
              </a:rPr>
              <a:t>Pytest + POM Framework</a:t>
            </a:r>
            <a:endParaRPr lang="en-US" sz="770" dirty="0"/>
          </a:p>
          <a:p>
            <a:pPr marL="0" indent="0">
              <a:buNone/>
            </a:pPr>
            <a:r>
              <a:rPr lang="en-US" sz="770" dirty="0">
                <a:solidFill>
                  <a:srgbClr val="1F2937"/>
                </a:solidFill>
              </a:rPr>
              <a:t>Chrome Browser</a:t>
            </a:r>
            <a:endParaRPr lang="en-US" sz="770" dirty="0"/>
          </a:p>
          <a:p>
            <a:pPr marL="0" indent="0">
              <a:buNone/>
            </a:pPr>
            <a:r>
              <a:rPr lang="en-US" sz="770" dirty="0">
                <a:solidFill>
                  <a:srgbClr val="1F2937"/>
                </a:solidFill>
              </a:rPr>
              <a:t>Logs and screenshots enabled</a:t>
            </a:r>
            <a:endParaRPr lang="en-US" sz="770" dirty="0"/>
          </a:p>
        </p:txBody>
      </p:sp>
      <p:sp>
        <p:nvSpPr>
          <p:cNvPr id="24" name="Shape 22"/>
          <p:cNvSpPr/>
          <p:nvPr/>
        </p:nvSpPr>
        <p:spPr>
          <a:xfrm>
            <a:off x="576072" y="3172968"/>
            <a:ext cx="5093208" cy="841248"/>
          </a:xfrm>
          <a:prstGeom prst="roundRect">
            <a:avLst>
              <a:gd name="adj" fmla="val 8696"/>
            </a:avLst>
          </a:prstGeom>
          <a:solidFill>
            <a:srgbClr val="FFFFFF"/>
          </a:solidFill>
          <a:ln w="12700">
            <a:solidFill>
              <a:srgbClr val="D6E4F2"/>
            </a:solidFill>
            <a:prstDash val="solid"/>
          </a:ln>
        </p:spPr>
      </p:sp>
      <p:sp>
        <p:nvSpPr>
          <p:cNvPr id="25" name="Shape 23"/>
          <p:cNvSpPr/>
          <p:nvPr/>
        </p:nvSpPr>
        <p:spPr>
          <a:xfrm>
            <a:off x="576072" y="3172968"/>
            <a:ext cx="73152" cy="841248"/>
          </a:xfrm>
          <a:prstGeom prst="rect">
            <a:avLst/>
          </a:prstGeom>
          <a:solidFill>
            <a:srgbClr val="1677C8"/>
          </a:solidFill>
          <a:ln w="12700">
            <a:solidFill>
              <a:srgbClr val="1677C8"/>
            </a:solidFill>
            <a:prstDash val="solid"/>
          </a:ln>
        </p:spPr>
      </p:sp>
      <p:sp>
        <p:nvSpPr>
          <p:cNvPr id="26" name="Text 24"/>
          <p:cNvSpPr/>
          <p:nvPr/>
        </p:nvSpPr>
        <p:spPr>
          <a:xfrm>
            <a:off x="722376" y="3282696"/>
            <a:ext cx="4864608" cy="164592"/>
          </a:xfrm>
          <a:prstGeom prst="rect">
            <a:avLst/>
          </a:prstGeom>
          <a:noFill/>
          <a:ln/>
        </p:spPr>
        <p:txBody>
          <a:bodyPr wrap="square" lIns="0" tIns="0" rIns="0" bIns="0" rtlCol="0" anchor="ctr"/>
          <a:lstStyle/>
          <a:p>
            <a:pPr marL="0" indent="0">
              <a:buNone/>
            </a:pPr>
            <a:r>
              <a:rPr lang="en-US" sz="920" b="1" dirty="0">
                <a:solidFill>
                  <a:srgbClr val="1677C8"/>
                </a:solidFill>
              </a:rPr>
              <a:t>Simple Project Description</a:t>
            </a:r>
            <a:endParaRPr lang="en-US" sz="920" dirty="0"/>
          </a:p>
        </p:txBody>
      </p:sp>
      <p:sp>
        <p:nvSpPr>
          <p:cNvPr id="27" name="Text 25"/>
          <p:cNvSpPr/>
          <p:nvPr/>
        </p:nvSpPr>
        <p:spPr>
          <a:xfrm>
            <a:off x="722376" y="3520440"/>
            <a:ext cx="4864608" cy="429768"/>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This module automates the complete hotel booking workflow on Goibibo using Selenium WebDriver with Python. The framework validates search, selection, booking navigation, form validations, and payment page navigation using reusable Page Object Model architecture.</a:t>
            </a:r>
            <a:endParaRPr lang="en-US" sz="770" dirty="0"/>
          </a:p>
        </p:txBody>
      </p:sp>
      <p:sp>
        <p:nvSpPr>
          <p:cNvPr id="28" name="Text 26"/>
          <p:cNvSpPr/>
          <p:nvPr/>
        </p:nvSpPr>
        <p:spPr>
          <a:xfrm>
            <a:off x="576072" y="4197096"/>
            <a:ext cx="1280160" cy="146304"/>
          </a:xfrm>
          <a:prstGeom prst="rect">
            <a:avLst/>
          </a:prstGeom>
          <a:noFill/>
          <a:ln/>
        </p:spPr>
        <p:txBody>
          <a:bodyPr wrap="square" lIns="0" tIns="0" rIns="0" bIns="0" rtlCol="0" anchor="ctr"/>
          <a:lstStyle/>
          <a:p>
            <a:pPr marL="0" indent="0">
              <a:buNone/>
            </a:pPr>
            <a:r>
              <a:rPr lang="en-US" sz="850" b="1" dirty="0">
                <a:solidFill>
                  <a:srgbClr val="14375F"/>
                </a:solidFill>
              </a:rPr>
              <a:t>Module Flow</a:t>
            </a:r>
            <a:endParaRPr lang="en-US" sz="850" dirty="0"/>
          </a:p>
        </p:txBody>
      </p:sp>
      <p:sp>
        <p:nvSpPr>
          <p:cNvPr id="29" name="Shape 27"/>
          <p:cNvSpPr/>
          <p:nvPr/>
        </p:nvSpPr>
        <p:spPr>
          <a:xfrm>
            <a:off x="576072" y="4425696"/>
            <a:ext cx="662287" cy="393192"/>
          </a:xfrm>
          <a:prstGeom prst="roundRect">
            <a:avLst>
              <a:gd name="adj" fmla="val 13953"/>
            </a:avLst>
          </a:prstGeom>
          <a:solidFill>
            <a:srgbClr val="FFFFFF"/>
          </a:solidFill>
          <a:ln w="12700">
            <a:solidFill>
              <a:srgbClr val="D6E4F2"/>
            </a:solidFill>
            <a:prstDash val="solid"/>
          </a:ln>
        </p:spPr>
      </p:sp>
      <p:sp>
        <p:nvSpPr>
          <p:cNvPr id="30" name="Text 28"/>
          <p:cNvSpPr/>
          <p:nvPr/>
        </p:nvSpPr>
        <p:spPr>
          <a:xfrm>
            <a:off x="603504" y="4517136"/>
            <a:ext cx="607423" cy="146304"/>
          </a:xfrm>
          <a:prstGeom prst="rect">
            <a:avLst/>
          </a:prstGeom>
          <a:noFill/>
          <a:ln/>
        </p:spPr>
        <p:txBody>
          <a:bodyPr wrap="square" lIns="0" tIns="0" rIns="0" bIns="0" rtlCol="0" anchor="ctr">
            <a:normAutofit/>
          </a:bodyPr>
          <a:lstStyle/>
          <a:p>
            <a:pPr marL="0" indent="0" algn="ctr">
              <a:buNone/>
            </a:pPr>
            <a:r>
              <a:rPr lang="en-US" sz="640" b="1" dirty="0">
                <a:solidFill>
                  <a:srgbClr val="1F2937"/>
                </a:solidFill>
              </a:rPr>
              <a:t>Open</a:t>
            </a:r>
            <a:endParaRPr lang="en-US" sz="640" dirty="0"/>
          </a:p>
        </p:txBody>
      </p:sp>
      <p:sp>
        <p:nvSpPr>
          <p:cNvPr id="31" name="Shape 29"/>
          <p:cNvSpPr/>
          <p:nvPr/>
        </p:nvSpPr>
        <p:spPr>
          <a:xfrm>
            <a:off x="1238359" y="4622292"/>
            <a:ext cx="73152" cy="0"/>
          </a:xfrm>
          <a:prstGeom prst="line">
            <a:avLst/>
          </a:prstGeom>
          <a:noFill/>
          <a:ln w="15240">
            <a:solidFill>
              <a:srgbClr val="1677C8"/>
            </a:solidFill>
            <a:prstDash val="solid"/>
            <a:tailEnd type="triangle"/>
          </a:ln>
        </p:spPr>
      </p:sp>
      <p:sp>
        <p:nvSpPr>
          <p:cNvPr id="32" name="Shape 30"/>
          <p:cNvSpPr/>
          <p:nvPr/>
        </p:nvSpPr>
        <p:spPr>
          <a:xfrm>
            <a:off x="1311511" y="4425696"/>
            <a:ext cx="662287" cy="393192"/>
          </a:xfrm>
          <a:prstGeom prst="roundRect">
            <a:avLst>
              <a:gd name="adj" fmla="val 13953"/>
            </a:avLst>
          </a:prstGeom>
          <a:solidFill>
            <a:srgbClr val="F3F8FE"/>
          </a:solidFill>
          <a:ln w="12700">
            <a:solidFill>
              <a:srgbClr val="D6E4F2"/>
            </a:solidFill>
            <a:prstDash val="solid"/>
          </a:ln>
        </p:spPr>
      </p:sp>
      <p:sp>
        <p:nvSpPr>
          <p:cNvPr id="33" name="Text 31"/>
          <p:cNvSpPr/>
          <p:nvPr/>
        </p:nvSpPr>
        <p:spPr>
          <a:xfrm>
            <a:off x="1338943" y="4517136"/>
            <a:ext cx="607423" cy="146304"/>
          </a:xfrm>
          <a:prstGeom prst="rect">
            <a:avLst/>
          </a:prstGeom>
          <a:noFill/>
          <a:ln/>
        </p:spPr>
        <p:txBody>
          <a:bodyPr wrap="square" lIns="0" tIns="0" rIns="0" bIns="0" rtlCol="0" anchor="ctr">
            <a:normAutofit/>
          </a:bodyPr>
          <a:lstStyle/>
          <a:p>
            <a:pPr marL="0" indent="0" algn="ctr">
              <a:buNone/>
            </a:pPr>
            <a:r>
              <a:rPr lang="en-US" sz="640" b="1" dirty="0">
                <a:solidFill>
                  <a:srgbClr val="1F2937"/>
                </a:solidFill>
              </a:rPr>
              <a:t>Hotels</a:t>
            </a:r>
            <a:endParaRPr lang="en-US" sz="640" dirty="0"/>
          </a:p>
        </p:txBody>
      </p:sp>
      <p:sp>
        <p:nvSpPr>
          <p:cNvPr id="34" name="Shape 32"/>
          <p:cNvSpPr/>
          <p:nvPr/>
        </p:nvSpPr>
        <p:spPr>
          <a:xfrm>
            <a:off x="1973798" y="4622292"/>
            <a:ext cx="73152" cy="0"/>
          </a:xfrm>
          <a:prstGeom prst="line">
            <a:avLst/>
          </a:prstGeom>
          <a:noFill/>
          <a:ln w="15240">
            <a:solidFill>
              <a:srgbClr val="1677C8"/>
            </a:solidFill>
            <a:prstDash val="solid"/>
            <a:tailEnd type="triangle"/>
          </a:ln>
        </p:spPr>
      </p:sp>
      <p:sp>
        <p:nvSpPr>
          <p:cNvPr id="35" name="Shape 33"/>
          <p:cNvSpPr/>
          <p:nvPr/>
        </p:nvSpPr>
        <p:spPr>
          <a:xfrm>
            <a:off x="2046950" y="4425696"/>
            <a:ext cx="662287" cy="393192"/>
          </a:xfrm>
          <a:prstGeom prst="roundRect">
            <a:avLst>
              <a:gd name="adj" fmla="val 13953"/>
            </a:avLst>
          </a:prstGeom>
          <a:solidFill>
            <a:srgbClr val="FFFFFF"/>
          </a:solidFill>
          <a:ln w="12700">
            <a:solidFill>
              <a:srgbClr val="D6E4F2"/>
            </a:solidFill>
            <a:prstDash val="solid"/>
          </a:ln>
        </p:spPr>
      </p:sp>
      <p:sp>
        <p:nvSpPr>
          <p:cNvPr id="36" name="Text 34"/>
          <p:cNvSpPr/>
          <p:nvPr/>
        </p:nvSpPr>
        <p:spPr>
          <a:xfrm>
            <a:off x="2074382" y="4517136"/>
            <a:ext cx="607423" cy="146304"/>
          </a:xfrm>
          <a:prstGeom prst="rect">
            <a:avLst/>
          </a:prstGeom>
          <a:noFill/>
          <a:ln/>
        </p:spPr>
        <p:txBody>
          <a:bodyPr wrap="square" lIns="0" tIns="0" rIns="0" bIns="0" rtlCol="0" anchor="ctr">
            <a:normAutofit/>
          </a:bodyPr>
          <a:lstStyle/>
          <a:p>
            <a:pPr marL="0" indent="0" algn="ctr">
              <a:buNone/>
            </a:pPr>
            <a:r>
              <a:rPr lang="en-US" sz="640" b="1" dirty="0">
                <a:solidFill>
                  <a:srgbClr val="1F2937"/>
                </a:solidFill>
              </a:rPr>
              <a:t>Destination</a:t>
            </a:r>
            <a:endParaRPr lang="en-US" sz="640" dirty="0"/>
          </a:p>
        </p:txBody>
      </p:sp>
      <p:sp>
        <p:nvSpPr>
          <p:cNvPr id="37" name="Shape 35"/>
          <p:cNvSpPr/>
          <p:nvPr/>
        </p:nvSpPr>
        <p:spPr>
          <a:xfrm>
            <a:off x="2709237" y="4622292"/>
            <a:ext cx="73152" cy="0"/>
          </a:xfrm>
          <a:prstGeom prst="line">
            <a:avLst/>
          </a:prstGeom>
          <a:noFill/>
          <a:ln w="15240">
            <a:solidFill>
              <a:srgbClr val="1677C8"/>
            </a:solidFill>
            <a:prstDash val="solid"/>
            <a:tailEnd type="triangle"/>
          </a:ln>
        </p:spPr>
      </p:sp>
      <p:sp>
        <p:nvSpPr>
          <p:cNvPr id="38" name="Shape 36"/>
          <p:cNvSpPr/>
          <p:nvPr/>
        </p:nvSpPr>
        <p:spPr>
          <a:xfrm>
            <a:off x="2782389" y="4425696"/>
            <a:ext cx="662287" cy="393192"/>
          </a:xfrm>
          <a:prstGeom prst="roundRect">
            <a:avLst>
              <a:gd name="adj" fmla="val 13953"/>
            </a:avLst>
          </a:prstGeom>
          <a:solidFill>
            <a:srgbClr val="F3F8FE"/>
          </a:solidFill>
          <a:ln w="12700">
            <a:solidFill>
              <a:srgbClr val="D6E4F2"/>
            </a:solidFill>
            <a:prstDash val="solid"/>
          </a:ln>
        </p:spPr>
      </p:sp>
      <p:sp>
        <p:nvSpPr>
          <p:cNvPr id="39" name="Text 37"/>
          <p:cNvSpPr/>
          <p:nvPr/>
        </p:nvSpPr>
        <p:spPr>
          <a:xfrm>
            <a:off x="2809821" y="4517136"/>
            <a:ext cx="607423" cy="146304"/>
          </a:xfrm>
          <a:prstGeom prst="rect">
            <a:avLst/>
          </a:prstGeom>
          <a:noFill/>
          <a:ln/>
        </p:spPr>
        <p:txBody>
          <a:bodyPr wrap="square" lIns="0" tIns="0" rIns="0" bIns="0" rtlCol="0" anchor="ctr">
            <a:normAutofit/>
          </a:bodyPr>
          <a:lstStyle/>
          <a:p>
            <a:pPr marL="0" indent="0" algn="ctr">
              <a:buNone/>
            </a:pPr>
            <a:r>
              <a:rPr lang="en-US" sz="640" b="1" dirty="0">
                <a:solidFill>
                  <a:srgbClr val="1F2937"/>
                </a:solidFill>
              </a:rPr>
              <a:t>Dates</a:t>
            </a:r>
            <a:endParaRPr lang="en-US" sz="640" dirty="0"/>
          </a:p>
        </p:txBody>
      </p:sp>
      <p:sp>
        <p:nvSpPr>
          <p:cNvPr id="40" name="Shape 38"/>
          <p:cNvSpPr/>
          <p:nvPr/>
        </p:nvSpPr>
        <p:spPr>
          <a:xfrm>
            <a:off x="3444675" y="4622292"/>
            <a:ext cx="73152" cy="0"/>
          </a:xfrm>
          <a:prstGeom prst="line">
            <a:avLst/>
          </a:prstGeom>
          <a:noFill/>
          <a:ln w="15240">
            <a:solidFill>
              <a:srgbClr val="1677C8"/>
            </a:solidFill>
            <a:prstDash val="solid"/>
            <a:tailEnd type="triangle"/>
          </a:ln>
        </p:spPr>
      </p:sp>
      <p:sp>
        <p:nvSpPr>
          <p:cNvPr id="41" name="Shape 39"/>
          <p:cNvSpPr/>
          <p:nvPr/>
        </p:nvSpPr>
        <p:spPr>
          <a:xfrm>
            <a:off x="3517827" y="4425696"/>
            <a:ext cx="662287" cy="393192"/>
          </a:xfrm>
          <a:prstGeom prst="roundRect">
            <a:avLst>
              <a:gd name="adj" fmla="val 13953"/>
            </a:avLst>
          </a:prstGeom>
          <a:solidFill>
            <a:srgbClr val="FFFFFF"/>
          </a:solidFill>
          <a:ln w="12700">
            <a:solidFill>
              <a:srgbClr val="D6E4F2"/>
            </a:solidFill>
            <a:prstDash val="solid"/>
          </a:ln>
        </p:spPr>
      </p:sp>
      <p:sp>
        <p:nvSpPr>
          <p:cNvPr id="42" name="Text 40"/>
          <p:cNvSpPr/>
          <p:nvPr/>
        </p:nvSpPr>
        <p:spPr>
          <a:xfrm>
            <a:off x="3545259" y="4517136"/>
            <a:ext cx="607423" cy="146304"/>
          </a:xfrm>
          <a:prstGeom prst="rect">
            <a:avLst/>
          </a:prstGeom>
          <a:noFill/>
          <a:ln/>
        </p:spPr>
        <p:txBody>
          <a:bodyPr wrap="square" lIns="0" tIns="0" rIns="0" bIns="0" rtlCol="0" anchor="ctr">
            <a:normAutofit/>
          </a:bodyPr>
          <a:lstStyle/>
          <a:p>
            <a:pPr marL="0" indent="0" algn="ctr">
              <a:buNone/>
            </a:pPr>
            <a:r>
              <a:rPr lang="en-US" sz="640" b="1" dirty="0">
                <a:solidFill>
                  <a:srgbClr val="1F2937"/>
                </a:solidFill>
              </a:rPr>
              <a:t>Search</a:t>
            </a:r>
            <a:endParaRPr lang="en-US" sz="640" dirty="0"/>
          </a:p>
        </p:txBody>
      </p:sp>
      <p:sp>
        <p:nvSpPr>
          <p:cNvPr id="43" name="Shape 41"/>
          <p:cNvSpPr/>
          <p:nvPr/>
        </p:nvSpPr>
        <p:spPr>
          <a:xfrm>
            <a:off x="4180114" y="4622292"/>
            <a:ext cx="73152" cy="0"/>
          </a:xfrm>
          <a:prstGeom prst="line">
            <a:avLst/>
          </a:prstGeom>
          <a:noFill/>
          <a:ln w="15240">
            <a:solidFill>
              <a:srgbClr val="1677C8"/>
            </a:solidFill>
            <a:prstDash val="solid"/>
            <a:tailEnd type="triangle"/>
          </a:ln>
        </p:spPr>
      </p:sp>
      <p:sp>
        <p:nvSpPr>
          <p:cNvPr id="44" name="Shape 42"/>
          <p:cNvSpPr/>
          <p:nvPr/>
        </p:nvSpPr>
        <p:spPr>
          <a:xfrm>
            <a:off x="4253266" y="4425696"/>
            <a:ext cx="662287" cy="393192"/>
          </a:xfrm>
          <a:prstGeom prst="roundRect">
            <a:avLst>
              <a:gd name="adj" fmla="val 13953"/>
            </a:avLst>
          </a:prstGeom>
          <a:solidFill>
            <a:srgbClr val="F3F8FE"/>
          </a:solidFill>
          <a:ln w="12700">
            <a:solidFill>
              <a:srgbClr val="D6E4F2"/>
            </a:solidFill>
            <a:prstDash val="solid"/>
          </a:ln>
        </p:spPr>
      </p:sp>
      <p:sp>
        <p:nvSpPr>
          <p:cNvPr id="45" name="Text 43"/>
          <p:cNvSpPr/>
          <p:nvPr/>
        </p:nvSpPr>
        <p:spPr>
          <a:xfrm>
            <a:off x="4280698" y="4517136"/>
            <a:ext cx="607423" cy="146304"/>
          </a:xfrm>
          <a:prstGeom prst="rect">
            <a:avLst/>
          </a:prstGeom>
          <a:noFill/>
          <a:ln/>
        </p:spPr>
        <p:txBody>
          <a:bodyPr wrap="square" lIns="0" tIns="0" rIns="0" bIns="0" rtlCol="0" anchor="ctr">
            <a:normAutofit/>
          </a:bodyPr>
          <a:lstStyle/>
          <a:p>
            <a:pPr marL="0" indent="0" algn="ctr">
              <a:buNone/>
            </a:pPr>
            <a:r>
              <a:rPr lang="en-US" sz="640" b="1" dirty="0">
                <a:solidFill>
                  <a:srgbClr val="1F2937"/>
                </a:solidFill>
              </a:rPr>
              <a:t>Select</a:t>
            </a:r>
            <a:endParaRPr lang="en-US" sz="640" dirty="0"/>
          </a:p>
        </p:txBody>
      </p:sp>
      <p:sp>
        <p:nvSpPr>
          <p:cNvPr id="46" name="Shape 44"/>
          <p:cNvSpPr/>
          <p:nvPr/>
        </p:nvSpPr>
        <p:spPr>
          <a:xfrm>
            <a:off x="4915553" y="4622292"/>
            <a:ext cx="73152" cy="0"/>
          </a:xfrm>
          <a:prstGeom prst="line">
            <a:avLst/>
          </a:prstGeom>
          <a:noFill/>
          <a:ln w="15240">
            <a:solidFill>
              <a:srgbClr val="1677C8"/>
            </a:solidFill>
            <a:prstDash val="solid"/>
            <a:tailEnd type="triangle"/>
          </a:ln>
        </p:spPr>
      </p:sp>
      <p:sp>
        <p:nvSpPr>
          <p:cNvPr id="47" name="Shape 45"/>
          <p:cNvSpPr/>
          <p:nvPr/>
        </p:nvSpPr>
        <p:spPr>
          <a:xfrm>
            <a:off x="4988705" y="4425696"/>
            <a:ext cx="662287" cy="393192"/>
          </a:xfrm>
          <a:prstGeom prst="roundRect">
            <a:avLst>
              <a:gd name="adj" fmla="val 13953"/>
            </a:avLst>
          </a:prstGeom>
          <a:solidFill>
            <a:srgbClr val="FFFFFF"/>
          </a:solidFill>
          <a:ln w="12700">
            <a:solidFill>
              <a:srgbClr val="D6E4F2"/>
            </a:solidFill>
            <a:prstDash val="solid"/>
          </a:ln>
        </p:spPr>
      </p:sp>
      <p:sp>
        <p:nvSpPr>
          <p:cNvPr id="48" name="Text 46"/>
          <p:cNvSpPr/>
          <p:nvPr/>
        </p:nvSpPr>
        <p:spPr>
          <a:xfrm>
            <a:off x="5016137" y="4517136"/>
            <a:ext cx="607423" cy="146304"/>
          </a:xfrm>
          <a:prstGeom prst="rect">
            <a:avLst/>
          </a:prstGeom>
          <a:noFill/>
          <a:ln/>
        </p:spPr>
        <p:txBody>
          <a:bodyPr wrap="square" lIns="0" tIns="0" rIns="0" bIns="0" rtlCol="0" anchor="ctr">
            <a:normAutofit/>
          </a:bodyPr>
          <a:lstStyle/>
          <a:p>
            <a:pPr marL="0" indent="0" algn="ctr">
              <a:buNone/>
            </a:pPr>
            <a:r>
              <a:rPr lang="en-US" sz="640" b="1" dirty="0">
                <a:solidFill>
                  <a:srgbClr val="1F2937"/>
                </a:solidFill>
              </a:rPr>
              <a:t>Payment</a:t>
            </a:r>
            <a:endParaRPr lang="en-US" sz="640" dirty="0"/>
          </a:p>
        </p:txBody>
      </p:sp>
      <p:sp>
        <p:nvSpPr>
          <p:cNvPr id="49" name="Shape 47"/>
          <p:cNvSpPr/>
          <p:nvPr/>
        </p:nvSpPr>
        <p:spPr>
          <a:xfrm>
            <a:off x="576072" y="5029200"/>
            <a:ext cx="2487168" cy="768096"/>
          </a:xfrm>
          <a:prstGeom prst="roundRect">
            <a:avLst>
              <a:gd name="adj" fmla="val 9524"/>
            </a:avLst>
          </a:prstGeom>
          <a:solidFill>
            <a:srgbClr val="FFFFFF"/>
          </a:solidFill>
          <a:ln w="12700">
            <a:solidFill>
              <a:srgbClr val="D6E4F2"/>
            </a:solidFill>
            <a:prstDash val="solid"/>
          </a:ln>
        </p:spPr>
      </p:sp>
      <p:sp>
        <p:nvSpPr>
          <p:cNvPr id="50" name="Shape 48"/>
          <p:cNvSpPr/>
          <p:nvPr/>
        </p:nvSpPr>
        <p:spPr>
          <a:xfrm>
            <a:off x="576072" y="5029200"/>
            <a:ext cx="73152" cy="768096"/>
          </a:xfrm>
          <a:prstGeom prst="rect">
            <a:avLst/>
          </a:prstGeom>
          <a:solidFill>
            <a:srgbClr val="1677C8"/>
          </a:solidFill>
          <a:ln w="12700">
            <a:solidFill>
              <a:srgbClr val="1677C8"/>
            </a:solidFill>
            <a:prstDash val="solid"/>
          </a:ln>
        </p:spPr>
      </p:sp>
      <p:sp>
        <p:nvSpPr>
          <p:cNvPr id="51" name="Text 49"/>
          <p:cNvSpPr/>
          <p:nvPr/>
        </p:nvSpPr>
        <p:spPr>
          <a:xfrm>
            <a:off x="722376" y="5138928"/>
            <a:ext cx="2258568" cy="164592"/>
          </a:xfrm>
          <a:prstGeom prst="rect">
            <a:avLst/>
          </a:prstGeom>
          <a:noFill/>
          <a:ln/>
        </p:spPr>
        <p:txBody>
          <a:bodyPr wrap="square" lIns="0" tIns="0" rIns="0" bIns="0" rtlCol="0" anchor="ctr"/>
          <a:lstStyle/>
          <a:p>
            <a:pPr marL="0" indent="0">
              <a:buNone/>
            </a:pPr>
            <a:r>
              <a:rPr lang="en-US" sz="920" b="1" dirty="0">
                <a:solidFill>
                  <a:srgbClr val="1677C8"/>
                </a:solidFill>
              </a:rPr>
              <a:t>Test Environment</a:t>
            </a:r>
            <a:endParaRPr lang="en-US" sz="920" dirty="0"/>
          </a:p>
        </p:txBody>
      </p:sp>
      <p:sp>
        <p:nvSpPr>
          <p:cNvPr id="52" name="Text 50"/>
          <p:cNvSpPr/>
          <p:nvPr/>
        </p:nvSpPr>
        <p:spPr>
          <a:xfrm>
            <a:off x="722376" y="5376672"/>
            <a:ext cx="2258568" cy="356616"/>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OS: Windows 11</a:t>
            </a:r>
            <a:endParaRPr lang="en-US" sz="770" dirty="0"/>
          </a:p>
          <a:p>
            <a:pPr marL="0" indent="0">
              <a:buNone/>
            </a:pPr>
            <a:r>
              <a:rPr lang="en-US" sz="770" dirty="0">
                <a:solidFill>
                  <a:srgbClr val="1F2937"/>
                </a:solidFill>
              </a:rPr>
              <a:t>Framework: POM</a:t>
            </a:r>
            <a:endParaRPr lang="en-US" sz="770" dirty="0"/>
          </a:p>
          <a:p>
            <a:pPr marL="0" indent="0">
              <a:buNone/>
            </a:pPr>
            <a:r>
              <a:rPr lang="en-US" sz="770" dirty="0">
                <a:solidFill>
                  <a:srgbClr val="1F2937"/>
                </a:solidFill>
              </a:rPr>
              <a:t>Logs: Enabled</a:t>
            </a:r>
            <a:endParaRPr lang="en-US" sz="770" dirty="0"/>
          </a:p>
          <a:p>
            <a:pPr marL="0" indent="0">
              <a:buNone/>
            </a:pPr>
            <a:r>
              <a:rPr lang="en-US" sz="770" dirty="0">
                <a:solidFill>
                  <a:srgbClr val="1F2937"/>
                </a:solidFill>
              </a:rPr>
              <a:t>Screenshots: Enabled</a:t>
            </a:r>
            <a:endParaRPr lang="en-US" sz="770" dirty="0"/>
          </a:p>
        </p:txBody>
      </p:sp>
      <p:sp>
        <p:nvSpPr>
          <p:cNvPr id="53" name="Shape 51"/>
          <p:cNvSpPr/>
          <p:nvPr/>
        </p:nvSpPr>
        <p:spPr>
          <a:xfrm>
            <a:off x="3182112" y="5029200"/>
            <a:ext cx="2487168" cy="768096"/>
          </a:xfrm>
          <a:prstGeom prst="roundRect">
            <a:avLst>
              <a:gd name="adj" fmla="val 9524"/>
            </a:avLst>
          </a:prstGeom>
          <a:solidFill>
            <a:srgbClr val="FFFFFF"/>
          </a:solidFill>
          <a:ln w="12700">
            <a:solidFill>
              <a:srgbClr val="D6E4F2"/>
            </a:solidFill>
            <a:prstDash val="solid"/>
          </a:ln>
        </p:spPr>
      </p:sp>
      <p:sp>
        <p:nvSpPr>
          <p:cNvPr id="54" name="Shape 52"/>
          <p:cNvSpPr/>
          <p:nvPr/>
        </p:nvSpPr>
        <p:spPr>
          <a:xfrm>
            <a:off x="3182112" y="5029200"/>
            <a:ext cx="73152" cy="768096"/>
          </a:xfrm>
          <a:prstGeom prst="rect">
            <a:avLst/>
          </a:prstGeom>
          <a:solidFill>
            <a:srgbClr val="12B76A"/>
          </a:solidFill>
          <a:ln w="12700">
            <a:solidFill>
              <a:srgbClr val="12B76A"/>
            </a:solidFill>
            <a:prstDash val="solid"/>
          </a:ln>
        </p:spPr>
      </p:sp>
      <p:sp>
        <p:nvSpPr>
          <p:cNvPr id="55" name="Text 53"/>
          <p:cNvSpPr/>
          <p:nvPr/>
        </p:nvSpPr>
        <p:spPr>
          <a:xfrm>
            <a:off x="3328416" y="5138928"/>
            <a:ext cx="2258568" cy="164592"/>
          </a:xfrm>
          <a:prstGeom prst="rect">
            <a:avLst/>
          </a:prstGeom>
          <a:noFill/>
          <a:ln/>
        </p:spPr>
        <p:txBody>
          <a:bodyPr wrap="square" lIns="0" tIns="0" rIns="0" bIns="0" rtlCol="0" anchor="ctr"/>
          <a:lstStyle/>
          <a:p>
            <a:pPr marL="0" indent="0">
              <a:buNone/>
            </a:pPr>
            <a:r>
              <a:rPr lang="en-US" sz="920" b="1" dirty="0">
                <a:solidFill>
                  <a:srgbClr val="12B76A"/>
                </a:solidFill>
              </a:rPr>
              <a:t>Execution Result</a:t>
            </a:r>
            <a:endParaRPr lang="en-US" sz="920" dirty="0"/>
          </a:p>
        </p:txBody>
      </p:sp>
      <p:sp>
        <p:nvSpPr>
          <p:cNvPr id="56" name="Text 54"/>
          <p:cNvSpPr/>
          <p:nvPr/>
        </p:nvSpPr>
        <p:spPr>
          <a:xfrm>
            <a:off x="3328416" y="5376672"/>
            <a:ext cx="2258568" cy="356616"/>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Total Tests: 6</a:t>
            </a:r>
            <a:endParaRPr lang="en-US" sz="770" dirty="0"/>
          </a:p>
          <a:p>
            <a:pPr marL="0" indent="0">
              <a:buNone/>
            </a:pPr>
            <a:r>
              <a:rPr lang="en-US" sz="770" dirty="0">
                <a:solidFill>
                  <a:srgbClr val="1F2937"/>
                </a:solidFill>
              </a:rPr>
              <a:t>Passed: 6</a:t>
            </a:r>
            <a:endParaRPr lang="en-US" sz="770" dirty="0"/>
          </a:p>
          <a:p>
            <a:pPr marL="0" indent="0">
              <a:buNone/>
            </a:pPr>
            <a:r>
              <a:rPr lang="en-US" sz="770" dirty="0">
                <a:solidFill>
                  <a:srgbClr val="1F2937"/>
                </a:solidFill>
              </a:rPr>
              <a:t>Failed: 0</a:t>
            </a:r>
            <a:endParaRPr lang="en-US" sz="770" dirty="0"/>
          </a:p>
          <a:p>
            <a:pPr marL="0" indent="0">
              <a:buNone/>
            </a:pPr>
            <a:r>
              <a:rPr lang="en-US" sz="770" dirty="0">
                <a:solidFill>
                  <a:srgbClr val="1F2937"/>
                </a:solidFill>
              </a:rPr>
              <a:t>Accuracy: 100%</a:t>
            </a:r>
            <a:endParaRPr lang="en-US" sz="770" dirty="0"/>
          </a:p>
        </p:txBody>
      </p:sp>
      <p:sp>
        <p:nvSpPr>
          <p:cNvPr id="57" name="Shape 55"/>
          <p:cNvSpPr/>
          <p:nvPr/>
        </p:nvSpPr>
        <p:spPr>
          <a:xfrm>
            <a:off x="6400800" y="2139696"/>
            <a:ext cx="5093208" cy="804672"/>
          </a:xfrm>
          <a:prstGeom prst="roundRect">
            <a:avLst>
              <a:gd name="adj" fmla="val 9091"/>
            </a:avLst>
          </a:prstGeom>
          <a:solidFill>
            <a:srgbClr val="FFFFFF"/>
          </a:solidFill>
          <a:ln w="12700">
            <a:solidFill>
              <a:srgbClr val="D6E4F2"/>
            </a:solidFill>
            <a:prstDash val="solid"/>
          </a:ln>
        </p:spPr>
      </p:sp>
      <p:sp>
        <p:nvSpPr>
          <p:cNvPr id="58" name="Shape 56"/>
          <p:cNvSpPr/>
          <p:nvPr/>
        </p:nvSpPr>
        <p:spPr>
          <a:xfrm>
            <a:off x="6400800" y="2139696"/>
            <a:ext cx="73152" cy="804672"/>
          </a:xfrm>
          <a:prstGeom prst="rect">
            <a:avLst/>
          </a:prstGeom>
          <a:solidFill>
            <a:srgbClr val="14375F"/>
          </a:solidFill>
          <a:ln w="12700">
            <a:solidFill>
              <a:srgbClr val="14375F"/>
            </a:solidFill>
            <a:prstDash val="solid"/>
          </a:ln>
        </p:spPr>
      </p:sp>
      <p:sp>
        <p:nvSpPr>
          <p:cNvPr id="59" name="Text 57"/>
          <p:cNvSpPr/>
          <p:nvPr/>
        </p:nvSpPr>
        <p:spPr>
          <a:xfrm>
            <a:off x="6547104" y="2249424"/>
            <a:ext cx="4864608" cy="164592"/>
          </a:xfrm>
          <a:prstGeom prst="rect">
            <a:avLst/>
          </a:prstGeom>
          <a:noFill/>
          <a:ln/>
        </p:spPr>
        <p:txBody>
          <a:bodyPr wrap="square" lIns="0" tIns="0" rIns="0" bIns="0" rtlCol="0" anchor="ctr"/>
          <a:lstStyle/>
          <a:p>
            <a:pPr marL="0" indent="0">
              <a:buNone/>
            </a:pPr>
            <a:r>
              <a:rPr lang="en-US" sz="920" b="1" dirty="0">
                <a:solidFill>
                  <a:srgbClr val="14375F"/>
                </a:solidFill>
              </a:rPr>
              <a:t>BDD Test Strategy</a:t>
            </a:r>
            <a:endParaRPr lang="en-US" sz="920" dirty="0"/>
          </a:p>
        </p:txBody>
      </p:sp>
      <p:sp>
        <p:nvSpPr>
          <p:cNvPr id="60" name="Text 58"/>
          <p:cNvSpPr/>
          <p:nvPr/>
        </p:nvSpPr>
        <p:spPr>
          <a:xfrm>
            <a:off x="6547104" y="2487168"/>
            <a:ext cx="4864608" cy="393192"/>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Behave BDD uses Gherkin feature files with Given, When, Then syntax. Scenarios are readable for technical and non-technical reviewers and map to Selenium step definitions.</a:t>
            </a:r>
            <a:endParaRPr lang="en-US" sz="770" dirty="0"/>
          </a:p>
        </p:txBody>
      </p:sp>
      <p:sp>
        <p:nvSpPr>
          <p:cNvPr id="61" name="Shape 59"/>
          <p:cNvSpPr/>
          <p:nvPr/>
        </p:nvSpPr>
        <p:spPr>
          <a:xfrm>
            <a:off x="6400800" y="3108960"/>
            <a:ext cx="2487168" cy="1097280"/>
          </a:xfrm>
          <a:prstGeom prst="roundRect">
            <a:avLst>
              <a:gd name="adj" fmla="val 6667"/>
            </a:avLst>
          </a:prstGeom>
          <a:solidFill>
            <a:srgbClr val="FFFFFF"/>
          </a:solidFill>
          <a:ln w="12700">
            <a:solidFill>
              <a:srgbClr val="D6E4F2"/>
            </a:solidFill>
            <a:prstDash val="solid"/>
          </a:ln>
        </p:spPr>
      </p:sp>
      <p:sp>
        <p:nvSpPr>
          <p:cNvPr id="62" name="Shape 60"/>
          <p:cNvSpPr/>
          <p:nvPr/>
        </p:nvSpPr>
        <p:spPr>
          <a:xfrm>
            <a:off x="6400800" y="3108960"/>
            <a:ext cx="73152" cy="1097280"/>
          </a:xfrm>
          <a:prstGeom prst="rect">
            <a:avLst/>
          </a:prstGeom>
          <a:solidFill>
            <a:srgbClr val="12B76A"/>
          </a:solidFill>
          <a:ln w="12700">
            <a:solidFill>
              <a:srgbClr val="12B76A"/>
            </a:solidFill>
            <a:prstDash val="solid"/>
          </a:ln>
        </p:spPr>
      </p:sp>
      <p:sp>
        <p:nvSpPr>
          <p:cNvPr id="63" name="Text 61"/>
          <p:cNvSpPr/>
          <p:nvPr/>
        </p:nvSpPr>
        <p:spPr>
          <a:xfrm>
            <a:off x="6547104" y="3218688"/>
            <a:ext cx="2258568" cy="164592"/>
          </a:xfrm>
          <a:prstGeom prst="rect">
            <a:avLst/>
          </a:prstGeom>
          <a:noFill/>
          <a:ln/>
        </p:spPr>
        <p:txBody>
          <a:bodyPr wrap="square" lIns="0" tIns="0" rIns="0" bIns="0" rtlCol="0" anchor="ctr"/>
          <a:lstStyle/>
          <a:p>
            <a:pPr marL="0" indent="0">
              <a:buNone/>
            </a:pPr>
            <a:r>
              <a:rPr lang="en-US" sz="920" b="1" dirty="0">
                <a:solidFill>
                  <a:srgbClr val="12B76A"/>
                </a:solidFill>
              </a:rPr>
              <a:t>Positive Test Cases</a:t>
            </a:r>
            <a:endParaRPr lang="en-US" sz="920" dirty="0"/>
          </a:p>
        </p:txBody>
      </p:sp>
      <p:sp>
        <p:nvSpPr>
          <p:cNvPr id="64" name="Text 62"/>
          <p:cNvSpPr/>
          <p:nvPr/>
        </p:nvSpPr>
        <p:spPr>
          <a:xfrm>
            <a:off x="6547104" y="3456432"/>
            <a:ext cx="2258568" cy="685800"/>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1. Verify successful hotel search</a:t>
            </a:r>
            <a:endParaRPr lang="en-US" sz="770" dirty="0"/>
          </a:p>
          <a:p>
            <a:pPr marL="0" indent="0">
              <a:buNone/>
            </a:pPr>
            <a:r>
              <a:rPr lang="en-US" sz="770" dirty="0">
                <a:solidFill>
                  <a:srgbClr val="1F2937"/>
                </a:solidFill>
              </a:rPr>
              <a:t>2. Verify hotel selection functionality</a:t>
            </a:r>
            <a:endParaRPr lang="en-US" sz="770" dirty="0"/>
          </a:p>
          <a:p>
            <a:pPr marL="0" indent="0">
              <a:buNone/>
            </a:pPr>
            <a:r>
              <a:rPr lang="en-US" sz="770" dirty="0">
                <a:solidFill>
                  <a:srgbClr val="1F2937"/>
                </a:solidFill>
              </a:rPr>
              <a:t>3. Verify booking navigation flow</a:t>
            </a:r>
            <a:endParaRPr lang="en-US" sz="770" dirty="0"/>
          </a:p>
          <a:p>
            <a:pPr marL="0" indent="0">
              <a:buNone/>
            </a:pPr>
            <a:r>
              <a:rPr lang="en-US" sz="770" dirty="0">
                <a:solidFill>
                  <a:srgbClr val="1F2937"/>
                </a:solidFill>
              </a:rPr>
              <a:t>4. Verify payment page validation</a:t>
            </a:r>
            <a:endParaRPr lang="en-US" sz="770" dirty="0"/>
          </a:p>
        </p:txBody>
      </p:sp>
      <p:sp>
        <p:nvSpPr>
          <p:cNvPr id="65" name="Shape 63"/>
          <p:cNvSpPr/>
          <p:nvPr/>
        </p:nvSpPr>
        <p:spPr>
          <a:xfrm>
            <a:off x="9006840" y="3108960"/>
            <a:ext cx="2487168" cy="1097280"/>
          </a:xfrm>
          <a:prstGeom prst="roundRect">
            <a:avLst>
              <a:gd name="adj" fmla="val 6667"/>
            </a:avLst>
          </a:prstGeom>
          <a:solidFill>
            <a:srgbClr val="FFFFFF"/>
          </a:solidFill>
          <a:ln w="12700">
            <a:solidFill>
              <a:srgbClr val="D6E4F2"/>
            </a:solidFill>
            <a:prstDash val="solid"/>
          </a:ln>
        </p:spPr>
      </p:sp>
      <p:sp>
        <p:nvSpPr>
          <p:cNvPr id="66" name="Shape 64"/>
          <p:cNvSpPr/>
          <p:nvPr/>
        </p:nvSpPr>
        <p:spPr>
          <a:xfrm>
            <a:off x="9006840" y="3108960"/>
            <a:ext cx="73152" cy="1097280"/>
          </a:xfrm>
          <a:prstGeom prst="rect">
            <a:avLst/>
          </a:prstGeom>
          <a:solidFill>
            <a:srgbClr val="D92D20"/>
          </a:solidFill>
          <a:ln w="12700">
            <a:solidFill>
              <a:srgbClr val="D92D20"/>
            </a:solidFill>
            <a:prstDash val="solid"/>
          </a:ln>
        </p:spPr>
      </p:sp>
      <p:sp>
        <p:nvSpPr>
          <p:cNvPr id="67" name="Text 65"/>
          <p:cNvSpPr/>
          <p:nvPr/>
        </p:nvSpPr>
        <p:spPr>
          <a:xfrm>
            <a:off x="9153144" y="3218688"/>
            <a:ext cx="2258568" cy="164592"/>
          </a:xfrm>
          <a:prstGeom prst="rect">
            <a:avLst/>
          </a:prstGeom>
          <a:noFill/>
          <a:ln/>
        </p:spPr>
        <p:txBody>
          <a:bodyPr wrap="square" lIns="0" tIns="0" rIns="0" bIns="0" rtlCol="0" anchor="ctr"/>
          <a:lstStyle/>
          <a:p>
            <a:pPr marL="0" indent="0">
              <a:buNone/>
            </a:pPr>
            <a:r>
              <a:rPr lang="en-US" sz="920" b="1" dirty="0">
                <a:solidFill>
                  <a:srgbClr val="D92D20"/>
                </a:solidFill>
              </a:rPr>
              <a:t>Negative Test Cases</a:t>
            </a:r>
            <a:endParaRPr lang="en-US" sz="920" dirty="0"/>
          </a:p>
        </p:txBody>
      </p:sp>
      <p:sp>
        <p:nvSpPr>
          <p:cNvPr id="68" name="Text 66"/>
          <p:cNvSpPr/>
          <p:nvPr/>
        </p:nvSpPr>
        <p:spPr>
          <a:xfrm>
            <a:off x="9153144" y="3456432"/>
            <a:ext cx="2258568" cy="685800"/>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1. Verify empty destination validation</a:t>
            </a:r>
            <a:endParaRPr lang="en-US" sz="770" dirty="0"/>
          </a:p>
          <a:p>
            <a:pPr marL="0" indent="0">
              <a:buNone/>
            </a:pPr>
            <a:r>
              <a:rPr lang="en-US" sz="770" dirty="0">
                <a:solidFill>
                  <a:srgbClr val="1F2937"/>
                </a:solidFill>
              </a:rPr>
              <a:t>2. Verify invalid date validation</a:t>
            </a:r>
            <a:endParaRPr lang="en-US" sz="770" dirty="0"/>
          </a:p>
        </p:txBody>
      </p:sp>
      <p:sp>
        <p:nvSpPr>
          <p:cNvPr id="69" name="Shape 67"/>
          <p:cNvSpPr/>
          <p:nvPr/>
        </p:nvSpPr>
        <p:spPr>
          <a:xfrm>
            <a:off x="6400800" y="4389120"/>
            <a:ext cx="2487168" cy="685800"/>
          </a:xfrm>
          <a:prstGeom prst="roundRect">
            <a:avLst>
              <a:gd name="adj" fmla="val 10667"/>
            </a:avLst>
          </a:prstGeom>
          <a:solidFill>
            <a:srgbClr val="FFFFFF"/>
          </a:solidFill>
          <a:ln w="12700">
            <a:solidFill>
              <a:srgbClr val="D6E4F2"/>
            </a:solidFill>
            <a:prstDash val="solid"/>
          </a:ln>
        </p:spPr>
      </p:sp>
      <p:sp>
        <p:nvSpPr>
          <p:cNvPr id="70" name="Shape 68"/>
          <p:cNvSpPr/>
          <p:nvPr/>
        </p:nvSpPr>
        <p:spPr>
          <a:xfrm>
            <a:off x="6400800" y="4389120"/>
            <a:ext cx="73152" cy="685800"/>
          </a:xfrm>
          <a:prstGeom prst="rect">
            <a:avLst/>
          </a:prstGeom>
          <a:solidFill>
            <a:srgbClr val="1677C8"/>
          </a:solidFill>
          <a:ln w="12700">
            <a:solidFill>
              <a:srgbClr val="1677C8"/>
            </a:solidFill>
            <a:prstDash val="solid"/>
          </a:ln>
        </p:spPr>
      </p:sp>
      <p:sp>
        <p:nvSpPr>
          <p:cNvPr id="71" name="Text 69"/>
          <p:cNvSpPr/>
          <p:nvPr/>
        </p:nvSpPr>
        <p:spPr>
          <a:xfrm>
            <a:off x="6547104" y="4498848"/>
            <a:ext cx="2258568" cy="164592"/>
          </a:xfrm>
          <a:prstGeom prst="rect">
            <a:avLst/>
          </a:prstGeom>
          <a:noFill/>
          <a:ln/>
        </p:spPr>
        <p:txBody>
          <a:bodyPr wrap="square" lIns="0" tIns="0" rIns="0" bIns="0" rtlCol="0" anchor="ctr"/>
          <a:lstStyle/>
          <a:p>
            <a:pPr marL="0" indent="0">
              <a:buNone/>
            </a:pPr>
            <a:r>
              <a:rPr lang="en-US" sz="920" b="1" dirty="0">
                <a:solidFill>
                  <a:srgbClr val="1677C8"/>
                </a:solidFill>
              </a:rPr>
              <a:t>Tools Used</a:t>
            </a:r>
            <a:endParaRPr lang="en-US" sz="920" dirty="0"/>
          </a:p>
        </p:txBody>
      </p:sp>
      <p:sp>
        <p:nvSpPr>
          <p:cNvPr id="72" name="Text 70"/>
          <p:cNvSpPr/>
          <p:nvPr/>
        </p:nvSpPr>
        <p:spPr>
          <a:xfrm>
            <a:off x="6547104" y="4736592"/>
            <a:ext cx="2258568" cy="274320"/>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Selenium WebDriver</a:t>
            </a:r>
            <a:endParaRPr lang="en-US" sz="770" dirty="0"/>
          </a:p>
          <a:p>
            <a:pPr marL="0" indent="0">
              <a:buNone/>
            </a:pPr>
            <a:r>
              <a:rPr lang="en-US" sz="770" dirty="0">
                <a:solidFill>
                  <a:srgbClr val="1F2937"/>
                </a:solidFill>
              </a:rPr>
              <a:t>Python, Pytest, Behave BDD</a:t>
            </a:r>
            <a:endParaRPr lang="en-US" sz="770" dirty="0"/>
          </a:p>
          <a:p>
            <a:pPr marL="0" indent="0">
              <a:buNone/>
            </a:pPr>
            <a:r>
              <a:rPr lang="en-US" sz="770" dirty="0">
                <a:solidFill>
                  <a:srgbClr val="1F2937"/>
                </a:solidFill>
              </a:rPr>
              <a:t>Allure Reports, Chrome</a:t>
            </a:r>
            <a:endParaRPr lang="en-US" sz="770" dirty="0"/>
          </a:p>
        </p:txBody>
      </p:sp>
      <p:sp>
        <p:nvSpPr>
          <p:cNvPr id="73" name="Shape 71"/>
          <p:cNvSpPr/>
          <p:nvPr/>
        </p:nvSpPr>
        <p:spPr>
          <a:xfrm>
            <a:off x="9006840" y="4389120"/>
            <a:ext cx="2487168" cy="685800"/>
          </a:xfrm>
          <a:prstGeom prst="roundRect">
            <a:avLst>
              <a:gd name="adj" fmla="val 10667"/>
            </a:avLst>
          </a:prstGeom>
          <a:solidFill>
            <a:srgbClr val="FFFFFF"/>
          </a:solidFill>
          <a:ln w="12700">
            <a:solidFill>
              <a:srgbClr val="D6E4F2"/>
            </a:solidFill>
            <a:prstDash val="solid"/>
          </a:ln>
        </p:spPr>
      </p:sp>
      <p:sp>
        <p:nvSpPr>
          <p:cNvPr id="74" name="Shape 72"/>
          <p:cNvSpPr/>
          <p:nvPr/>
        </p:nvSpPr>
        <p:spPr>
          <a:xfrm>
            <a:off x="9006840" y="4389120"/>
            <a:ext cx="73152" cy="685800"/>
          </a:xfrm>
          <a:prstGeom prst="rect">
            <a:avLst/>
          </a:prstGeom>
          <a:solidFill>
            <a:srgbClr val="00A3E0"/>
          </a:solidFill>
          <a:ln w="12700">
            <a:solidFill>
              <a:srgbClr val="00A3E0"/>
            </a:solidFill>
            <a:prstDash val="solid"/>
          </a:ln>
        </p:spPr>
      </p:sp>
      <p:sp>
        <p:nvSpPr>
          <p:cNvPr id="75" name="Text 73"/>
          <p:cNvSpPr/>
          <p:nvPr/>
        </p:nvSpPr>
        <p:spPr>
          <a:xfrm>
            <a:off x="9153144" y="4498848"/>
            <a:ext cx="2258568" cy="164592"/>
          </a:xfrm>
          <a:prstGeom prst="rect">
            <a:avLst/>
          </a:prstGeom>
          <a:noFill/>
          <a:ln/>
        </p:spPr>
        <p:txBody>
          <a:bodyPr wrap="square" lIns="0" tIns="0" rIns="0" bIns="0" rtlCol="0" anchor="ctr"/>
          <a:lstStyle/>
          <a:p>
            <a:pPr marL="0" indent="0">
              <a:buNone/>
            </a:pPr>
            <a:r>
              <a:rPr lang="en-US" sz="920" b="1" dirty="0">
                <a:solidFill>
                  <a:srgbClr val="00A3E0"/>
                </a:solidFill>
              </a:rPr>
              <a:t>Validated Areas</a:t>
            </a:r>
            <a:endParaRPr lang="en-US" sz="920" dirty="0"/>
          </a:p>
        </p:txBody>
      </p:sp>
      <p:sp>
        <p:nvSpPr>
          <p:cNvPr id="76" name="Text 74"/>
          <p:cNvSpPr/>
          <p:nvPr/>
        </p:nvSpPr>
        <p:spPr>
          <a:xfrm>
            <a:off x="9153144" y="4736592"/>
            <a:ext cx="2258568" cy="274320"/>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Workflow navigation</a:t>
            </a:r>
            <a:endParaRPr lang="en-US" sz="770" dirty="0"/>
          </a:p>
          <a:p>
            <a:pPr marL="0" indent="0">
              <a:buNone/>
            </a:pPr>
            <a:r>
              <a:rPr lang="en-US" sz="770" dirty="0">
                <a:solidFill>
                  <a:srgbClr val="1F2937"/>
                </a:solidFill>
              </a:rPr>
              <a:t>Form validations</a:t>
            </a:r>
            <a:endParaRPr lang="en-US" sz="770" dirty="0"/>
          </a:p>
          <a:p>
            <a:pPr marL="0" indent="0">
              <a:buNone/>
            </a:pPr>
            <a:r>
              <a:rPr lang="en-US" sz="770" dirty="0">
                <a:solidFill>
                  <a:srgbClr val="1F2937"/>
                </a:solidFill>
              </a:rPr>
              <a:t>Booking steps</a:t>
            </a:r>
            <a:endParaRPr lang="en-US" sz="770" dirty="0"/>
          </a:p>
          <a:p>
            <a:pPr marL="0" indent="0">
              <a:buNone/>
            </a:pPr>
            <a:r>
              <a:rPr lang="en-US" sz="770" dirty="0">
                <a:solidFill>
                  <a:srgbClr val="1F2937"/>
                </a:solidFill>
              </a:rPr>
              <a:t>Payment page boundary</a:t>
            </a:r>
            <a:endParaRPr lang="en-US" sz="770" dirty="0"/>
          </a:p>
        </p:txBody>
      </p:sp>
      <p:sp>
        <p:nvSpPr>
          <p:cNvPr id="77" name="Shape 75"/>
          <p:cNvSpPr/>
          <p:nvPr/>
        </p:nvSpPr>
        <p:spPr>
          <a:xfrm>
            <a:off x="6400800" y="5303520"/>
            <a:ext cx="1572768" cy="804672"/>
          </a:xfrm>
          <a:prstGeom prst="roundRect">
            <a:avLst>
              <a:gd name="adj" fmla="val 9091"/>
            </a:avLst>
          </a:prstGeom>
          <a:solidFill>
            <a:srgbClr val="F8FAFC"/>
          </a:solidFill>
          <a:ln w="15240">
            <a:solidFill>
              <a:srgbClr val="BFD7ED"/>
            </a:solidFill>
            <a:prstDash val="solid"/>
          </a:ln>
        </p:spPr>
      </p:sp>
      <p:sp>
        <p:nvSpPr>
          <p:cNvPr id="78" name="Shape 76"/>
          <p:cNvSpPr/>
          <p:nvPr/>
        </p:nvSpPr>
        <p:spPr>
          <a:xfrm>
            <a:off x="6510528" y="5413248"/>
            <a:ext cx="1353312" cy="36576"/>
          </a:xfrm>
          <a:prstGeom prst="rect">
            <a:avLst/>
          </a:prstGeom>
          <a:solidFill>
            <a:srgbClr val="1677C8">
              <a:alpha val="75000"/>
            </a:srgbClr>
          </a:solidFill>
          <a:ln w="12700">
            <a:solidFill>
              <a:srgbClr val="333333">
                <a:alpha val="0"/>
              </a:srgbClr>
            </a:solidFill>
            <a:prstDash val="solid"/>
          </a:ln>
        </p:spPr>
      </p:sp>
      <p:sp>
        <p:nvSpPr>
          <p:cNvPr id="79" name="Text 77"/>
          <p:cNvSpPr/>
          <p:nvPr/>
        </p:nvSpPr>
        <p:spPr>
          <a:xfrm>
            <a:off x="6547104" y="5632704"/>
            <a:ext cx="1280160" cy="164592"/>
          </a:xfrm>
          <a:prstGeom prst="rect">
            <a:avLst/>
          </a:prstGeom>
          <a:noFill/>
          <a:ln/>
        </p:spPr>
        <p:txBody>
          <a:bodyPr wrap="square" lIns="0" tIns="0" rIns="0" bIns="0" rtlCol="0" anchor="ctr"/>
          <a:lstStyle/>
          <a:p>
            <a:pPr marL="0" indent="0" algn="ctr">
              <a:buNone/>
            </a:pPr>
            <a:r>
              <a:rPr lang="en-US" sz="750" b="1" dirty="0">
                <a:solidFill>
                  <a:srgbClr val="667085"/>
                </a:solidFill>
              </a:rPr>
              <a:t>Positive Screenshot</a:t>
            </a:r>
            <a:endParaRPr lang="en-US" sz="750" dirty="0"/>
          </a:p>
        </p:txBody>
      </p:sp>
      <p:sp>
        <p:nvSpPr>
          <p:cNvPr id="80" name="Shape 78"/>
          <p:cNvSpPr/>
          <p:nvPr/>
        </p:nvSpPr>
        <p:spPr>
          <a:xfrm>
            <a:off x="8165592" y="5303520"/>
            <a:ext cx="1572768" cy="804672"/>
          </a:xfrm>
          <a:prstGeom prst="roundRect">
            <a:avLst>
              <a:gd name="adj" fmla="val 9091"/>
            </a:avLst>
          </a:prstGeom>
          <a:solidFill>
            <a:srgbClr val="F8FAFC"/>
          </a:solidFill>
          <a:ln w="15240">
            <a:solidFill>
              <a:srgbClr val="BFD7ED"/>
            </a:solidFill>
            <a:prstDash val="solid"/>
          </a:ln>
        </p:spPr>
      </p:sp>
      <p:sp>
        <p:nvSpPr>
          <p:cNvPr id="81" name="Shape 79"/>
          <p:cNvSpPr/>
          <p:nvPr/>
        </p:nvSpPr>
        <p:spPr>
          <a:xfrm>
            <a:off x="8275320" y="5413248"/>
            <a:ext cx="1353312" cy="36576"/>
          </a:xfrm>
          <a:prstGeom prst="rect">
            <a:avLst/>
          </a:prstGeom>
          <a:solidFill>
            <a:srgbClr val="1677C8">
              <a:alpha val="75000"/>
            </a:srgbClr>
          </a:solidFill>
          <a:ln w="12700">
            <a:solidFill>
              <a:srgbClr val="333333">
                <a:alpha val="0"/>
              </a:srgbClr>
            </a:solidFill>
            <a:prstDash val="solid"/>
          </a:ln>
        </p:spPr>
      </p:sp>
      <p:sp>
        <p:nvSpPr>
          <p:cNvPr id="82" name="Text 80"/>
          <p:cNvSpPr/>
          <p:nvPr/>
        </p:nvSpPr>
        <p:spPr>
          <a:xfrm>
            <a:off x="8311896" y="5632704"/>
            <a:ext cx="1280160" cy="164592"/>
          </a:xfrm>
          <a:prstGeom prst="rect">
            <a:avLst/>
          </a:prstGeom>
          <a:noFill/>
          <a:ln/>
        </p:spPr>
        <p:txBody>
          <a:bodyPr wrap="square" lIns="0" tIns="0" rIns="0" bIns="0" rtlCol="0" anchor="ctr"/>
          <a:lstStyle/>
          <a:p>
            <a:pPr marL="0" indent="0" algn="ctr">
              <a:buNone/>
            </a:pPr>
            <a:r>
              <a:rPr lang="en-US" sz="750" b="1" dirty="0">
                <a:solidFill>
                  <a:srgbClr val="667085"/>
                </a:solidFill>
              </a:rPr>
              <a:t>Negative Screenshot</a:t>
            </a:r>
            <a:endParaRPr lang="en-US" sz="750" dirty="0"/>
          </a:p>
        </p:txBody>
      </p:sp>
      <p:sp>
        <p:nvSpPr>
          <p:cNvPr id="83" name="Shape 81"/>
          <p:cNvSpPr/>
          <p:nvPr/>
        </p:nvSpPr>
        <p:spPr>
          <a:xfrm>
            <a:off x="9921240" y="5303520"/>
            <a:ext cx="1572768" cy="804672"/>
          </a:xfrm>
          <a:prstGeom prst="roundRect">
            <a:avLst>
              <a:gd name="adj" fmla="val 9091"/>
            </a:avLst>
          </a:prstGeom>
          <a:solidFill>
            <a:srgbClr val="F8FAFC"/>
          </a:solidFill>
          <a:ln w="15240">
            <a:solidFill>
              <a:srgbClr val="BFD7ED"/>
            </a:solidFill>
            <a:prstDash val="solid"/>
          </a:ln>
        </p:spPr>
      </p:sp>
      <p:sp>
        <p:nvSpPr>
          <p:cNvPr id="84" name="Shape 82"/>
          <p:cNvSpPr/>
          <p:nvPr/>
        </p:nvSpPr>
        <p:spPr>
          <a:xfrm>
            <a:off x="10030968" y="5413248"/>
            <a:ext cx="1353312" cy="36576"/>
          </a:xfrm>
          <a:prstGeom prst="rect">
            <a:avLst/>
          </a:prstGeom>
          <a:solidFill>
            <a:srgbClr val="1677C8">
              <a:alpha val="75000"/>
            </a:srgbClr>
          </a:solidFill>
          <a:ln w="12700">
            <a:solidFill>
              <a:srgbClr val="333333">
                <a:alpha val="0"/>
              </a:srgbClr>
            </a:solidFill>
            <a:prstDash val="solid"/>
          </a:ln>
        </p:spPr>
      </p:sp>
      <p:sp>
        <p:nvSpPr>
          <p:cNvPr id="85" name="Text 83"/>
          <p:cNvSpPr/>
          <p:nvPr/>
        </p:nvSpPr>
        <p:spPr>
          <a:xfrm>
            <a:off x="10067544" y="5632704"/>
            <a:ext cx="1280160" cy="164592"/>
          </a:xfrm>
          <a:prstGeom prst="rect">
            <a:avLst/>
          </a:prstGeom>
          <a:noFill/>
          <a:ln/>
        </p:spPr>
        <p:txBody>
          <a:bodyPr wrap="square" lIns="0" tIns="0" rIns="0" bIns="0" rtlCol="0" anchor="ctr"/>
          <a:lstStyle/>
          <a:p>
            <a:pPr marL="0" indent="0" algn="ctr">
              <a:buNone/>
            </a:pPr>
            <a:r>
              <a:rPr lang="en-US" sz="750" b="1" dirty="0">
                <a:solidFill>
                  <a:srgbClr val="667085"/>
                </a:solidFill>
              </a:rPr>
              <a:t>Allure Report</a:t>
            </a:r>
            <a:endParaRPr lang="en-US" sz="750" dirty="0"/>
          </a:p>
        </p:txBody>
      </p:sp>
      <p:sp>
        <p:nvSpPr>
          <p:cNvPr id="86" name="Shape 84"/>
          <p:cNvSpPr/>
          <p:nvPr/>
        </p:nvSpPr>
        <p:spPr>
          <a:xfrm>
            <a:off x="384048" y="6473952"/>
            <a:ext cx="11384280" cy="0"/>
          </a:xfrm>
          <a:prstGeom prst="line">
            <a:avLst/>
          </a:prstGeom>
          <a:noFill/>
          <a:ln w="12700">
            <a:solidFill>
              <a:srgbClr val="D6E4F2"/>
            </a:solidFill>
            <a:prstDash val="solid"/>
          </a:ln>
        </p:spPr>
      </p:sp>
      <p:sp>
        <p:nvSpPr>
          <p:cNvPr id="87" name="Text 85"/>
          <p:cNvSpPr/>
          <p:nvPr/>
        </p:nvSpPr>
        <p:spPr>
          <a:xfrm>
            <a:off x="384048" y="6547104"/>
            <a:ext cx="5303520" cy="164592"/>
          </a:xfrm>
          <a:prstGeom prst="rect">
            <a:avLst/>
          </a:prstGeom>
          <a:noFill/>
          <a:ln/>
        </p:spPr>
        <p:txBody>
          <a:bodyPr wrap="square" lIns="0" tIns="0" rIns="0" bIns="0" rtlCol="0" anchor="ctr"/>
          <a:lstStyle/>
          <a:p>
            <a:pPr marL="0" indent="0">
              <a:buNone/>
            </a:pPr>
            <a:r>
              <a:rPr lang="en-US" sz="750" dirty="0">
                <a:solidFill>
                  <a:srgbClr val="667085"/>
                </a:solidFill>
              </a:rPr>
              <a:t>Goibibo End-to-End Automation Testing Framework</a:t>
            </a:r>
            <a:endParaRPr lang="en-US" sz="750" dirty="0"/>
          </a:p>
        </p:txBody>
      </p:sp>
      <p:sp>
        <p:nvSpPr>
          <p:cNvPr id="88" name="Text 86"/>
          <p:cNvSpPr/>
          <p:nvPr/>
        </p:nvSpPr>
        <p:spPr>
          <a:xfrm>
            <a:off x="11384280" y="6528816"/>
            <a:ext cx="347472" cy="201168"/>
          </a:xfrm>
          <a:prstGeom prst="rect">
            <a:avLst/>
          </a:prstGeom>
          <a:noFill/>
          <a:ln/>
        </p:spPr>
        <p:txBody>
          <a:bodyPr wrap="square" lIns="0" tIns="0" rIns="0" bIns="0" rtlCol="0" anchor="ctr"/>
          <a:lstStyle/>
          <a:p>
            <a:pPr marL="0" indent="0" algn="r">
              <a:buNone/>
            </a:pPr>
            <a:r>
              <a:rPr lang="en-US" sz="850" b="1" dirty="0">
                <a:solidFill>
                  <a:srgbClr val="1677C8"/>
                </a:solidFill>
              </a:rPr>
              <a:t>03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677C8"/>
          </a:solidFill>
          <a:ln w="12700">
            <a:solidFill>
              <a:srgbClr val="1677C8"/>
            </a:solidFill>
            <a:prstDash val="solid"/>
          </a:ln>
        </p:spPr>
      </p:sp>
      <p:sp>
        <p:nvSpPr>
          <p:cNvPr id="3" name="Shape 1"/>
          <p:cNvSpPr/>
          <p:nvPr/>
        </p:nvSpPr>
        <p:spPr>
          <a:xfrm>
            <a:off x="0" y="164592"/>
            <a:ext cx="12191695" cy="566928"/>
          </a:xfrm>
          <a:prstGeom prst="rect">
            <a:avLst/>
          </a:prstGeom>
          <a:solidFill>
            <a:srgbClr val="FFFFFF"/>
          </a:solidFill>
          <a:ln w="12700">
            <a:solidFill>
              <a:srgbClr val="FFFFFF"/>
            </a:solidFill>
            <a:prstDash val="solid"/>
          </a:ln>
        </p:spPr>
      </p:sp>
      <p:sp>
        <p:nvSpPr>
          <p:cNvPr id="4" name="Text 2"/>
          <p:cNvSpPr/>
          <p:nvPr/>
        </p:nvSpPr>
        <p:spPr>
          <a:xfrm>
            <a:off x="384048" y="237744"/>
            <a:ext cx="1143000" cy="292608"/>
          </a:xfrm>
          <a:prstGeom prst="rect">
            <a:avLst/>
          </a:prstGeom>
          <a:noFill/>
          <a:ln/>
        </p:spPr>
        <p:txBody>
          <a:bodyPr wrap="square" lIns="0" tIns="0" rIns="0" bIns="0" rtlCol="0" anchor="ctr"/>
          <a:lstStyle/>
          <a:p>
            <a:pPr marL="0" indent="0">
              <a:buNone/>
            </a:pPr>
            <a:r>
              <a:rPr lang="en-US" sz="1600" b="1" dirty="0">
                <a:solidFill>
                  <a:srgbClr val="F05A28"/>
                </a:solidFill>
                <a:latin typeface="Aptos Display" pitchFamily="34" charset="0"/>
                <a:ea typeface="Aptos Display" pitchFamily="34" charset="-122"/>
                <a:cs typeface="Aptos Display" pitchFamily="34" charset="-120"/>
              </a:rPr>
              <a:t>goibibo</a:t>
            </a:r>
            <a:endParaRPr lang="en-US" sz="1600" dirty="0"/>
          </a:p>
        </p:txBody>
      </p:sp>
      <p:sp>
        <p:nvSpPr>
          <p:cNvPr id="5" name="Text 3"/>
          <p:cNvSpPr/>
          <p:nvPr/>
        </p:nvSpPr>
        <p:spPr>
          <a:xfrm>
            <a:off x="1335024" y="265176"/>
            <a:ext cx="1170432" cy="228600"/>
          </a:xfrm>
          <a:prstGeom prst="rect">
            <a:avLst/>
          </a:prstGeom>
          <a:noFill/>
          <a:ln/>
        </p:spPr>
        <p:txBody>
          <a:bodyPr wrap="square" lIns="0" tIns="0" rIns="0" bIns="0" rtlCol="0" anchor="ctr"/>
          <a:lstStyle/>
          <a:p>
            <a:pPr marL="0" indent="0">
              <a:buNone/>
            </a:pPr>
            <a:r>
              <a:rPr lang="en-US" sz="950" dirty="0">
                <a:solidFill>
                  <a:srgbClr val="1677C8"/>
                </a:solidFill>
                <a:latin typeface="Aptos" pitchFamily="34" charset="0"/>
                <a:ea typeface="Aptos" pitchFamily="34" charset="-122"/>
                <a:cs typeface="Aptos" pitchFamily="34" charset="-120"/>
              </a:rPr>
              <a:t>automation</a:t>
            </a:r>
            <a:endParaRPr lang="en-US" sz="950" dirty="0"/>
          </a:p>
        </p:txBody>
      </p:sp>
      <p:sp>
        <p:nvSpPr>
          <p:cNvPr id="6" name="Text 4"/>
          <p:cNvSpPr/>
          <p:nvPr/>
        </p:nvSpPr>
        <p:spPr>
          <a:xfrm>
            <a:off x="384048" y="868680"/>
            <a:ext cx="8046720" cy="347472"/>
          </a:xfrm>
          <a:prstGeom prst="rect">
            <a:avLst/>
          </a:prstGeom>
          <a:noFill/>
          <a:ln/>
        </p:spPr>
        <p:txBody>
          <a:bodyPr wrap="square" lIns="0" tIns="0" rIns="0" bIns="0" rtlCol="0" anchor="ctr"/>
          <a:lstStyle/>
          <a:p>
            <a:pPr marL="0" indent="0">
              <a:buNone/>
            </a:pPr>
            <a:r>
              <a:rPr lang="en-US" sz="2400" b="1" dirty="0">
                <a:solidFill>
                  <a:srgbClr val="14375F"/>
                </a:solidFill>
                <a:latin typeface="Aptos Display" pitchFamily="34" charset="0"/>
                <a:ea typeface="Aptos Display" pitchFamily="34" charset="-122"/>
                <a:cs typeface="Aptos Display" pitchFamily="34" charset="-120"/>
              </a:rPr>
              <a:t>Goibibo Cabs Automation — Rishabh Chauhan</a:t>
            </a:r>
            <a:endParaRPr lang="en-US" sz="2400" dirty="0"/>
          </a:p>
        </p:txBody>
      </p:sp>
      <p:sp>
        <p:nvSpPr>
          <p:cNvPr id="7" name="Text 5"/>
          <p:cNvSpPr/>
          <p:nvPr/>
        </p:nvSpPr>
        <p:spPr>
          <a:xfrm>
            <a:off x="393192" y="1234440"/>
            <a:ext cx="7772400" cy="228600"/>
          </a:xfrm>
          <a:prstGeom prst="rect">
            <a:avLst/>
          </a:prstGeom>
          <a:noFill/>
          <a:ln/>
        </p:spPr>
        <p:txBody>
          <a:bodyPr wrap="square" lIns="0" tIns="0" rIns="0" bIns="0" rtlCol="0" anchor="ctr"/>
          <a:lstStyle/>
          <a:p>
            <a:pPr marL="0" indent="0">
              <a:buNone/>
            </a:pPr>
            <a:r>
              <a:rPr lang="en-US" sz="1050" dirty="0">
                <a:solidFill>
                  <a:srgbClr val="667085"/>
                </a:solidFill>
              </a:rPr>
              <a:t>Goibibo Cabs | Rishabh Chauhan | Superset ID: 5394726</a:t>
            </a:r>
            <a:endParaRPr lang="en-US" sz="1050" dirty="0"/>
          </a:p>
        </p:txBody>
      </p:sp>
      <p:sp>
        <p:nvSpPr>
          <p:cNvPr id="8" name="Shape 6"/>
          <p:cNvSpPr/>
          <p:nvPr/>
        </p:nvSpPr>
        <p:spPr>
          <a:xfrm>
            <a:off x="9829800" y="713232"/>
            <a:ext cx="2103120" cy="1554480"/>
          </a:xfrm>
          <a:prstGeom prst="arc">
            <a:avLst/>
          </a:prstGeom>
          <a:noFill/>
          <a:ln w="25400">
            <a:solidFill>
              <a:srgbClr val="00A3E0">
                <a:alpha val="70000"/>
              </a:srgbClr>
            </a:solidFill>
            <a:prstDash val="solid"/>
          </a:ln>
        </p:spPr>
      </p:sp>
      <p:sp>
        <p:nvSpPr>
          <p:cNvPr id="9" name="Shape 7"/>
          <p:cNvSpPr/>
          <p:nvPr/>
        </p:nvSpPr>
        <p:spPr>
          <a:xfrm>
            <a:off x="10972800" y="841248"/>
            <a:ext cx="585216" cy="201168"/>
          </a:xfrm>
          <a:prstGeom prst="line">
            <a:avLst/>
          </a:prstGeom>
          <a:noFill/>
          <a:ln w="25400">
            <a:solidFill>
              <a:srgbClr val="1677C8"/>
            </a:solidFill>
            <a:prstDash val="solid"/>
            <a:headEnd type="none"/>
            <a:tailEnd type="triangle"/>
          </a:ln>
        </p:spPr>
      </p:sp>
      <p:sp>
        <p:nvSpPr>
          <p:cNvPr id="10" name="Shape 8"/>
          <p:cNvSpPr/>
          <p:nvPr/>
        </p:nvSpPr>
        <p:spPr>
          <a:xfrm>
            <a:off x="438912" y="1572768"/>
            <a:ext cx="5413248" cy="4526280"/>
          </a:xfrm>
          <a:prstGeom prst="roundRect">
            <a:avLst>
              <a:gd name="adj" fmla="val 1616"/>
            </a:avLst>
          </a:prstGeom>
          <a:solidFill>
            <a:srgbClr val="FFFFFF"/>
          </a:solidFill>
          <a:ln w="12700">
            <a:solidFill>
              <a:srgbClr val="D6E4F2"/>
            </a:solidFill>
            <a:prstDash val="solid"/>
          </a:ln>
        </p:spPr>
      </p:sp>
      <p:sp>
        <p:nvSpPr>
          <p:cNvPr id="11" name="Shape 9"/>
          <p:cNvSpPr/>
          <p:nvPr/>
        </p:nvSpPr>
        <p:spPr>
          <a:xfrm>
            <a:off x="6263640" y="1572768"/>
            <a:ext cx="5413248" cy="4526280"/>
          </a:xfrm>
          <a:prstGeom prst="roundRect">
            <a:avLst>
              <a:gd name="adj" fmla="val 1616"/>
            </a:avLst>
          </a:prstGeom>
          <a:solidFill>
            <a:srgbClr val="FFFFFF"/>
          </a:solidFill>
          <a:ln w="12700">
            <a:solidFill>
              <a:srgbClr val="D6E4F2"/>
            </a:solidFill>
            <a:prstDash val="solid"/>
          </a:ln>
        </p:spPr>
      </p:sp>
      <p:sp>
        <p:nvSpPr>
          <p:cNvPr id="12" name="Shape 10"/>
          <p:cNvSpPr/>
          <p:nvPr/>
        </p:nvSpPr>
        <p:spPr>
          <a:xfrm>
            <a:off x="438912" y="1572768"/>
            <a:ext cx="5413248" cy="384048"/>
          </a:xfrm>
          <a:prstGeom prst="rect">
            <a:avLst/>
          </a:prstGeom>
          <a:solidFill>
            <a:srgbClr val="1677C8"/>
          </a:solidFill>
          <a:ln w="12700">
            <a:solidFill>
              <a:srgbClr val="1677C8"/>
            </a:solidFill>
            <a:prstDash val="solid"/>
          </a:ln>
        </p:spPr>
      </p:sp>
      <p:sp>
        <p:nvSpPr>
          <p:cNvPr id="13" name="Shape 11"/>
          <p:cNvSpPr/>
          <p:nvPr/>
        </p:nvSpPr>
        <p:spPr>
          <a:xfrm>
            <a:off x="6263640" y="1572768"/>
            <a:ext cx="5413248" cy="384048"/>
          </a:xfrm>
          <a:prstGeom prst="rect">
            <a:avLst/>
          </a:prstGeom>
          <a:solidFill>
            <a:srgbClr val="14375F"/>
          </a:solidFill>
          <a:ln w="12700">
            <a:solidFill>
              <a:srgbClr val="14375F"/>
            </a:solidFill>
            <a:prstDash val="solid"/>
          </a:ln>
        </p:spPr>
      </p:sp>
      <p:sp>
        <p:nvSpPr>
          <p:cNvPr id="14" name="Text 12"/>
          <p:cNvSpPr/>
          <p:nvPr/>
        </p:nvSpPr>
        <p:spPr>
          <a:xfrm>
            <a:off x="603504" y="1682496"/>
            <a:ext cx="2377440" cy="118872"/>
          </a:xfrm>
          <a:prstGeom prst="rect">
            <a:avLst/>
          </a:prstGeom>
          <a:noFill/>
          <a:ln/>
        </p:spPr>
        <p:txBody>
          <a:bodyPr wrap="square" lIns="0" tIns="0" rIns="0" bIns="0" rtlCol="0" anchor="ctr"/>
          <a:lstStyle/>
          <a:p>
            <a:pPr marL="0" indent="0">
              <a:buNone/>
            </a:pPr>
            <a:r>
              <a:rPr lang="en-US" sz="800" b="1" dirty="0">
                <a:solidFill>
                  <a:srgbClr val="FFFFFF"/>
                </a:solidFill>
              </a:rPr>
              <a:t>SELENIUM AUTOMATION</a:t>
            </a:r>
            <a:endParaRPr lang="en-US" sz="800" dirty="0"/>
          </a:p>
        </p:txBody>
      </p:sp>
      <p:sp>
        <p:nvSpPr>
          <p:cNvPr id="15" name="Text 13"/>
          <p:cNvSpPr/>
          <p:nvPr/>
        </p:nvSpPr>
        <p:spPr>
          <a:xfrm>
            <a:off x="6428232" y="1682496"/>
            <a:ext cx="2011680" cy="118872"/>
          </a:xfrm>
          <a:prstGeom prst="rect">
            <a:avLst/>
          </a:prstGeom>
          <a:noFill/>
          <a:ln/>
        </p:spPr>
        <p:txBody>
          <a:bodyPr wrap="square" lIns="0" tIns="0" rIns="0" bIns="0" rtlCol="0" anchor="ctr"/>
          <a:lstStyle/>
          <a:p>
            <a:pPr marL="0" indent="0">
              <a:buNone/>
            </a:pPr>
            <a:r>
              <a:rPr lang="en-US" sz="800" b="1" dirty="0">
                <a:solidFill>
                  <a:srgbClr val="FFFFFF"/>
                </a:solidFill>
              </a:rPr>
              <a:t>BDD AUTOMATION</a:t>
            </a:r>
            <a:endParaRPr lang="en-US" sz="800" dirty="0"/>
          </a:p>
        </p:txBody>
      </p:sp>
      <p:sp>
        <p:nvSpPr>
          <p:cNvPr id="16" name="Shape 14"/>
          <p:cNvSpPr/>
          <p:nvPr/>
        </p:nvSpPr>
        <p:spPr>
          <a:xfrm>
            <a:off x="576072" y="2139696"/>
            <a:ext cx="2560320" cy="868680"/>
          </a:xfrm>
          <a:prstGeom prst="roundRect">
            <a:avLst>
              <a:gd name="adj" fmla="val 8421"/>
            </a:avLst>
          </a:prstGeom>
          <a:solidFill>
            <a:srgbClr val="FFFFFF"/>
          </a:solidFill>
          <a:ln w="12700">
            <a:solidFill>
              <a:srgbClr val="D6E4F2"/>
            </a:solidFill>
            <a:prstDash val="solid"/>
          </a:ln>
        </p:spPr>
      </p:sp>
      <p:sp>
        <p:nvSpPr>
          <p:cNvPr id="17" name="Shape 15"/>
          <p:cNvSpPr/>
          <p:nvPr/>
        </p:nvSpPr>
        <p:spPr>
          <a:xfrm>
            <a:off x="576072" y="2139696"/>
            <a:ext cx="73152" cy="868680"/>
          </a:xfrm>
          <a:prstGeom prst="rect">
            <a:avLst/>
          </a:prstGeom>
          <a:solidFill>
            <a:srgbClr val="1677C8"/>
          </a:solidFill>
          <a:ln w="12700">
            <a:solidFill>
              <a:srgbClr val="1677C8"/>
            </a:solidFill>
            <a:prstDash val="solid"/>
          </a:ln>
        </p:spPr>
      </p:sp>
      <p:sp>
        <p:nvSpPr>
          <p:cNvPr id="18" name="Text 16"/>
          <p:cNvSpPr/>
          <p:nvPr/>
        </p:nvSpPr>
        <p:spPr>
          <a:xfrm>
            <a:off x="722376" y="2249424"/>
            <a:ext cx="2331720" cy="164592"/>
          </a:xfrm>
          <a:prstGeom prst="rect">
            <a:avLst/>
          </a:prstGeom>
          <a:noFill/>
          <a:ln/>
        </p:spPr>
        <p:txBody>
          <a:bodyPr wrap="square" lIns="0" tIns="0" rIns="0" bIns="0" rtlCol="0" anchor="ctr"/>
          <a:lstStyle/>
          <a:p>
            <a:pPr marL="0" indent="0">
              <a:buNone/>
            </a:pPr>
            <a:r>
              <a:rPr lang="en-US" sz="920" b="1" dirty="0">
                <a:solidFill>
                  <a:srgbClr val="1677C8"/>
                </a:solidFill>
              </a:rPr>
              <a:t>Project Profile</a:t>
            </a:r>
            <a:endParaRPr lang="en-US" sz="920" dirty="0"/>
          </a:p>
        </p:txBody>
      </p:sp>
      <p:sp>
        <p:nvSpPr>
          <p:cNvPr id="19" name="Text 17"/>
          <p:cNvSpPr/>
          <p:nvPr/>
        </p:nvSpPr>
        <p:spPr>
          <a:xfrm>
            <a:off x="722376" y="2487168"/>
            <a:ext cx="2331720" cy="457200"/>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Project: Goibibo Cabs Automation</a:t>
            </a:r>
            <a:endParaRPr lang="en-US" sz="770" dirty="0"/>
          </a:p>
          <a:p>
            <a:pPr marL="0" indent="0">
              <a:buNone/>
            </a:pPr>
            <a:r>
              <a:rPr lang="en-US" sz="770" dirty="0">
                <a:solidFill>
                  <a:srgbClr val="1F2937"/>
                </a:solidFill>
              </a:rPr>
              <a:t>Domain: Travel &amp; Transport</a:t>
            </a:r>
            <a:endParaRPr lang="en-US" sz="770" dirty="0"/>
          </a:p>
          <a:p>
            <a:pPr marL="0" indent="0">
              <a:buNone/>
            </a:pPr>
            <a:r>
              <a:rPr lang="en-US" sz="770" dirty="0">
                <a:solidFill>
                  <a:srgbClr val="1F2937"/>
                </a:solidFill>
              </a:rPr>
              <a:t>Name: Rishabh Chauhan</a:t>
            </a:r>
            <a:endParaRPr lang="en-US" sz="770" dirty="0"/>
          </a:p>
          <a:p>
            <a:pPr marL="0" indent="0">
              <a:buNone/>
            </a:pPr>
            <a:r>
              <a:rPr lang="en-US" sz="770" dirty="0">
                <a:solidFill>
                  <a:srgbClr val="1F2937"/>
                </a:solidFill>
              </a:rPr>
              <a:t>Superset ID: 5394726</a:t>
            </a:r>
            <a:endParaRPr lang="en-US" sz="770" dirty="0"/>
          </a:p>
        </p:txBody>
      </p:sp>
      <p:sp>
        <p:nvSpPr>
          <p:cNvPr id="20" name="Shape 18"/>
          <p:cNvSpPr/>
          <p:nvPr/>
        </p:nvSpPr>
        <p:spPr>
          <a:xfrm>
            <a:off x="3273552" y="2139696"/>
            <a:ext cx="2395728" cy="868680"/>
          </a:xfrm>
          <a:prstGeom prst="roundRect">
            <a:avLst>
              <a:gd name="adj" fmla="val 8421"/>
            </a:avLst>
          </a:prstGeom>
          <a:solidFill>
            <a:srgbClr val="FFFFFF"/>
          </a:solidFill>
          <a:ln w="12700">
            <a:solidFill>
              <a:srgbClr val="D6E4F2"/>
            </a:solidFill>
            <a:prstDash val="solid"/>
          </a:ln>
        </p:spPr>
      </p:sp>
      <p:sp>
        <p:nvSpPr>
          <p:cNvPr id="21" name="Shape 19"/>
          <p:cNvSpPr/>
          <p:nvPr/>
        </p:nvSpPr>
        <p:spPr>
          <a:xfrm>
            <a:off x="3273552" y="2139696"/>
            <a:ext cx="73152" cy="868680"/>
          </a:xfrm>
          <a:prstGeom prst="rect">
            <a:avLst/>
          </a:prstGeom>
          <a:solidFill>
            <a:srgbClr val="00A3E0"/>
          </a:solidFill>
          <a:ln w="12700">
            <a:solidFill>
              <a:srgbClr val="00A3E0"/>
            </a:solidFill>
            <a:prstDash val="solid"/>
          </a:ln>
        </p:spPr>
      </p:sp>
      <p:sp>
        <p:nvSpPr>
          <p:cNvPr id="22" name="Text 20"/>
          <p:cNvSpPr/>
          <p:nvPr/>
        </p:nvSpPr>
        <p:spPr>
          <a:xfrm>
            <a:off x="3419856" y="2249424"/>
            <a:ext cx="2167128" cy="164592"/>
          </a:xfrm>
          <a:prstGeom prst="rect">
            <a:avLst/>
          </a:prstGeom>
          <a:noFill/>
          <a:ln/>
        </p:spPr>
        <p:txBody>
          <a:bodyPr wrap="square" lIns="0" tIns="0" rIns="0" bIns="0" rtlCol="0" anchor="ctr"/>
          <a:lstStyle/>
          <a:p>
            <a:pPr marL="0" indent="0">
              <a:buNone/>
            </a:pPr>
            <a:r>
              <a:rPr lang="en-US" sz="920" b="1" dirty="0">
                <a:solidFill>
                  <a:srgbClr val="00A3E0"/>
                </a:solidFill>
              </a:rPr>
              <a:t>Framework</a:t>
            </a:r>
            <a:endParaRPr lang="en-US" sz="920" dirty="0"/>
          </a:p>
        </p:txBody>
      </p:sp>
      <p:sp>
        <p:nvSpPr>
          <p:cNvPr id="23" name="Text 21"/>
          <p:cNvSpPr/>
          <p:nvPr/>
        </p:nvSpPr>
        <p:spPr>
          <a:xfrm>
            <a:off x="3419856" y="2487168"/>
            <a:ext cx="2167128" cy="457200"/>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Python + Selenium WebDriver</a:t>
            </a:r>
            <a:endParaRPr lang="en-US" sz="770" dirty="0"/>
          </a:p>
          <a:p>
            <a:pPr marL="0" indent="0">
              <a:buNone/>
            </a:pPr>
            <a:r>
              <a:rPr lang="en-US" sz="770" dirty="0">
                <a:solidFill>
                  <a:srgbClr val="1F2937"/>
                </a:solidFill>
              </a:rPr>
              <a:t>Pytest + POM Framework</a:t>
            </a:r>
            <a:endParaRPr lang="en-US" sz="770" dirty="0"/>
          </a:p>
          <a:p>
            <a:pPr marL="0" indent="0">
              <a:buNone/>
            </a:pPr>
            <a:r>
              <a:rPr lang="en-US" sz="770" dirty="0">
                <a:solidFill>
                  <a:srgbClr val="1F2937"/>
                </a:solidFill>
              </a:rPr>
              <a:t>Chrome Browser</a:t>
            </a:r>
            <a:endParaRPr lang="en-US" sz="770" dirty="0"/>
          </a:p>
          <a:p>
            <a:pPr marL="0" indent="0">
              <a:buNone/>
            </a:pPr>
            <a:r>
              <a:rPr lang="en-US" sz="770" dirty="0">
                <a:solidFill>
                  <a:srgbClr val="1F2937"/>
                </a:solidFill>
              </a:rPr>
              <a:t>Logs and screenshots enabled</a:t>
            </a:r>
            <a:endParaRPr lang="en-US" sz="770" dirty="0"/>
          </a:p>
        </p:txBody>
      </p:sp>
      <p:sp>
        <p:nvSpPr>
          <p:cNvPr id="24" name="Shape 22"/>
          <p:cNvSpPr/>
          <p:nvPr/>
        </p:nvSpPr>
        <p:spPr>
          <a:xfrm>
            <a:off x="576072" y="3172968"/>
            <a:ext cx="5093208" cy="841248"/>
          </a:xfrm>
          <a:prstGeom prst="roundRect">
            <a:avLst>
              <a:gd name="adj" fmla="val 8696"/>
            </a:avLst>
          </a:prstGeom>
          <a:solidFill>
            <a:srgbClr val="FFFFFF"/>
          </a:solidFill>
          <a:ln w="12700">
            <a:solidFill>
              <a:srgbClr val="D6E4F2"/>
            </a:solidFill>
            <a:prstDash val="solid"/>
          </a:ln>
        </p:spPr>
      </p:sp>
      <p:sp>
        <p:nvSpPr>
          <p:cNvPr id="25" name="Shape 23"/>
          <p:cNvSpPr/>
          <p:nvPr/>
        </p:nvSpPr>
        <p:spPr>
          <a:xfrm>
            <a:off x="576072" y="3172968"/>
            <a:ext cx="73152" cy="841248"/>
          </a:xfrm>
          <a:prstGeom prst="rect">
            <a:avLst/>
          </a:prstGeom>
          <a:solidFill>
            <a:srgbClr val="1677C8"/>
          </a:solidFill>
          <a:ln w="12700">
            <a:solidFill>
              <a:srgbClr val="1677C8"/>
            </a:solidFill>
            <a:prstDash val="solid"/>
          </a:ln>
        </p:spPr>
      </p:sp>
      <p:sp>
        <p:nvSpPr>
          <p:cNvPr id="26" name="Text 24"/>
          <p:cNvSpPr/>
          <p:nvPr/>
        </p:nvSpPr>
        <p:spPr>
          <a:xfrm>
            <a:off x="722376" y="3282696"/>
            <a:ext cx="4864608" cy="164592"/>
          </a:xfrm>
          <a:prstGeom prst="rect">
            <a:avLst/>
          </a:prstGeom>
          <a:noFill/>
          <a:ln/>
        </p:spPr>
        <p:txBody>
          <a:bodyPr wrap="square" lIns="0" tIns="0" rIns="0" bIns="0" rtlCol="0" anchor="ctr"/>
          <a:lstStyle/>
          <a:p>
            <a:pPr marL="0" indent="0">
              <a:buNone/>
            </a:pPr>
            <a:r>
              <a:rPr lang="en-US" sz="920" b="1" dirty="0">
                <a:solidFill>
                  <a:srgbClr val="1677C8"/>
                </a:solidFill>
              </a:rPr>
              <a:t>Simple Project Description</a:t>
            </a:r>
            <a:endParaRPr lang="en-US" sz="920" dirty="0"/>
          </a:p>
        </p:txBody>
      </p:sp>
      <p:sp>
        <p:nvSpPr>
          <p:cNvPr id="27" name="Text 25"/>
          <p:cNvSpPr/>
          <p:nvPr/>
        </p:nvSpPr>
        <p:spPr>
          <a:xfrm>
            <a:off x="722376" y="3520440"/>
            <a:ext cx="4864608" cy="429768"/>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This module automates the complete cab booking workflow on Goibibo using Selenium WebDriver with Python. The framework validates search, selection, booking navigation, form validations, and payment page navigation using reusable Page Object Model architecture.</a:t>
            </a:r>
            <a:endParaRPr lang="en-US" sz="770" dirty="0"/>
          </a:p>
        </p:txBody>
      </p:sp>
      <p:sp>
        <p:nvSpPr>
          <p:cNvPr id="28" name="Text 26"/>
          <p:cNvSpPr/>
          <p:nvPr/>
        </p:nvSpPr>
        <p:spPr>
          <a:xfrm>
            <a:off x="576072" y="4197096"/>
            <a:ext cx="1280160" cy="146304"/>
          </a:xfrm>
          <a:prstGeom prst="rect">
            <a:avLst/>
          </a:prstGeom>
          <a:noFill/>
          <a:ln/>
        </p:spPr>
        <p:txBody>
          <a:bodyPr wrap="square" lIns="0" tIns="0" rIns="0" bIns="0" rtlCol="0" anchor="ctr"/>
          <a:lstStyle/>
          <a:p>
            <a:pPr marL="0" indent="0">
              <a:buNone/>
            </a:pPr>
            <a:r>
              <a:rPr lang="en-US" sz="850" b="1" dirty="0">
                <a:solidFill>
                  <a:srgbClr val="14375F"/>
                </a:solidFill>
              </a:rPr>
              <a:t>Module Flow</a:t>
            </a:r>
            <a:endParaRPr lang="en-US" sz="850" dirty="0"/>
          </a:p>
        </p:txBody>
      </p:sp>
      <p:sp>
        <p:nvSpPr>
          <p:cNvPr id="29" name="Shape 27"/>
          <p:cNvSpPr/>
          <p:nvPr/>
        </p:nvSpPr>
        <p:spPr>
          <a:xfrm>
            <a:off x="576072" y="4425696"/>
            <a:ext cx="662287" cy="393192"/>
          </a:xfrm>
          <a:prstGeom prst="roundRect">
            <a:avLst>
              <a:gd name="adj" fmla="val 13953"/>
            </a:avLst>
          </a:prstGeom>
          <a:solidFill>
            <a:srgbClr val="FFFFFF"/>
          </a:solidFill>
          <a:ln w="12700">
            <a:solidFill>
              <a:srgbClr val="D6E4F2"/>
            </a:solidFill>
            <a:prstDash val="solid"/>
          </a:ln>
        </p:spPr>
      </p:sp>
      <p:sp>
        <p:nvSpPr>
          <p:cNvPr id="30" name="Text 28"/>
          <p:cNvSpPr/>
          <p:nvPr/>
        </p:nvSpPr>
        <p:spPr>
          <a:xfrm>
            <a:off x="603504" y="4517136"/>
            <a:ext cx="607423" cy="146304"/>
          </a:xfrm>
          <a:prstGeom prst="rect">
            <a:avLst/>
          </a:prstGeom>
          <a:noFill/>
          <a:ln/>
        </p:spPr>
        <p:txBody>
          <a:bodyPr wrap="square" lIns="0" tIns="0" rIns="0" bIns="0" rtlCol="0" anchor="ctr">
            <a:normAutofit/>
          </a:bodyPr>
          <a:lstStyle/>
          <a:p>
            <a:pPr marL="0" indent="0" algn="ctr">
              <a:buNone/>
            </a:pPr>
            <a:r>
              <a:rPr lang="en-US" sz="640" b="1" dirty="0">
                <a:solidFill>
                  <a:srgbClr val="1F2937"/>
                </a:solidFill>
              </a:rPr>
              <a:t>Open</a:t>
            </a:r>
            <a:endParaRPr lang="en-US" sz="640" dirty="0"/>
          </a:p>
        </p:txBody>
      </p:sp>
      <p:sp>
        <p:nvSpPr>
          <p:cNvPr id="31" name="Shape 29"/>
          <p:cNvSpPr/>
          <p:nvPr/>
        </p:nvSpPr>
        <p:spPr>
          <a:xfrm>
            <a:off x="1238359" y="4622292"/>
            <a:ext cx="73152" cy="0"/>
          </a:xfrm>
          <a:prstGeom prst="line">
            <a:avLst/>
          </a:prstGeom>
          <a:noFill/>
          <a:ln w="15240">
            <a:solidFill>
              <a:srgbClr val="1677C8"/>
            </a:solidFill>
            <a:prstDash val="solid"/>
            <a:tailEnd type="triangle"/>
          </a:ln>
        </p:spPr>
      </p:sp>
      <p:sp>
        <p:nvSpPr>
          <p:cNvPr id="32" name="Shape 30"/>
          <p:cNvSpPr/>
          <p:nvPr/>
        </p:nvSpPr>
        <p:spPr>
          <a:xfrm>
            <a:off x="1311511" y="4425696"/>
            <a:ext cx="662287" cy="393192"/>
          </a:xfrm>
          <a:prstGeom prst="roundRect">
            <a:avLst>
              <a:gd name="adj" fmla="val 13953"/>
            </a:avLst>
          </a:prstGeom>
          <a:solidFill>
            <a:srgbClr val="F3F8FE"/>
          </a:solidFill>
          <a:ln w="12700">
            <a:solidFill>
              <a:srgbClr val="D6E4F2"/>
            </a:solidFill>
            <a:prstDash val="solid"/>
          </a:ln>
        </p:spPr>
      </p:sp>
      <p:sp>
        <p:nvSpPr>
          <p:cNvPr id="33" name="Text 31"/>
          <p:cNvSpPr/>
          <p:nvPr/>
        </p:nvSpPr>
        <p:spPr>
          <a:xfrm>
            <a:off x="1338943" y="4517136"/>
            <a:ext cx="607423" cy="146304"/>
          </a:xfrm>
          <a:prstGeom prst="rect">
            <a:avLst/>
          </a:prstGeom>
          <a:noFill/>
          <a:ln/>
        </p:spPr>
        <p:txBody>
          <a:bodyPr wrap="square" lIns="0" tIns="0" rIns="0" bIns="0" rtlCol="0" anchor="ctr">
            <a:normAutofit/>
          </a:bodyPr>
          <a:lstStyle/>
          <a:p>
            <a:pPr marL="0" indent="0" algn="ctr">
              <a:buNone/>
            </a:pPr>
            <a:r>
              <a:rPr lang="en-US" sz="640" b="1" dirty="0">
                <a:solidFill>
                  <a:srgbClr val="1F2937"/>
                </a:solidFill>
              </a:rPr>
              <a:t>Cabs</a:t>
            </a:r>
            <a:endParaRPr lang="en-US" sz="640" dirty="0"/>
          </a:p>
        </p:txBody>
      </p:sp>
      <p:sp>
        <p:nvSpPr>
          <p:cNvPr id="34" name="Shape 32"/>
          <p:cNvSpPr/>
          <p:nvPr/>
        </p:nvSpPr>
        <p:spPr>
          <a:xfrm>
            <a:off x="1973798" y="4622292"/>
            <a:ext cx="73152" cy="0"/>
          </a:xfrm>
          <a:prstGeom prst="line">
            <a:avLst/>
          </a:prstGeom>
          <a:noFill/>
          <a:ln w="15240">
            <a:solidFill>
              <a:srgbClr val="1677C8"/>
            </a:solidFill>
            <a:prstDash val="solid"/>
            <a:tailEnd type="triangle"/>
          </a:ln>
        </p:spPr>
      </p:sp>
      <p:sp>
        <p:nvSpPr>
          <p:cNvPr id="35" name="Shape 33"/>
          <p:cNvSpPr/>
          <p:nvPr/>
        </p:nvSpPr>
        <p:spPr>
          <a:xfrm>
            <a:off x="2046950" y="4425696"/>
            <a:ext cx="662287" cy="393192"/>
          </a:xfrm>
          <a:prstGeom prst="roundRect">
            <a:avLst>
              <a:gd name="adj" fmla="val 13953"/>
            </a:avLst>
          </a:prstGeom>
          <a:solidFill>
            <a:srgbClr val="FFFFFF"/>
          </a:solidFill>
          <a:ln w="12700">
            <a:solidFill>
              <a:srgbClr val="D6E4F2"/>
            </a:solidFill>
            <a:prstDash val="solid"/>
          </a:ln>
        </p:spPr>
      </p:sp>
      <p:sp>
        <p:nvSpPr>
          <p:cNvPr id="36" name="Text 34"/>
          <p:cNvSpPr/>
          <p:nvPr/>
        </p:nvSpPr>
        <p:spPr>
          <a:xfrm>
            <a:off x="2074382" y="4517136"/>
            <a:ext cx="607423" cy="146304"/>
          </a:xfrm>
          <a:prstGeom prst="rect">
            <a:avLst/>
          </a:prstGeom>
          <a:noFill/>
          <a:ln/>
        </p:spPr>
        <p:txBody>
          <a:bodyPr wrap="square" lIns="0" tIns="0" rIns="0" bIns="0" rtlCol="0" anchor="ctr">
            <a:normAutofit/>
          </a:bodyPr>
          <a:lstStyle/>
          <a:p>
            <a:pPr marL="0" indent="0" algn="ctr">
              <a:buNone/>
            </a:pPr>
            <a:r>
              <a:rPr lang="en-US" sz="640" b="1" dirty="0">
                <a:solidFill>
                  <a:srgbClr val="1F2937"/>
                </a:solidFill>
              </a:rPr>
              <a:t>Pickup/Drop</a:t>
            </a:r>
            <a:endParaRPr lang="en-US" sz="640" dirty="0"/>
          </a:p>
        </p:txBody>
      </p:sp>
      <p:sp>
        <p:nvSpPr>
          <p:cNvPr id="37" name="Shape 35"/>
          <p:cNvSpPr/>
          <p:nvPr/>
        </p:nvSpPr>
        <p:spPr>
          <a:xfrm>
            <a:off x="2709237" y="4622292"/>
            <a:ext cx="73152" cy="0"/>
          </a:xfrm>
          <a:prstGeom prst="line">
            <a:avLst/>
          </a:prstGeom>
          <a:noFill/>
          <a:ln w="15240">
            <a:solidFill>
              <a:srgbClr val="1677C8"/>
            </a:solidFill>
            <a:prstDash val="solid"/>
            <a:tailEnd type="triangle"/>
          </a:ln>
        </p:spPr>
      </p:sp>
      <p:sp>
        <p:nvSpPr>
          <p:cNvPr id="38" name="Shape 36"/>
          <p:cNvSpPr/>
          <p:nvPr/>
        </p:nvSpPr>
        <p:spPr>
          <a:xfrm>
            <a:off x="2782389" y="4425696"/>
            <a:ext cx="662287" cy="393192"/>
          </a:xfrm>
          <a:prstGeom prst="roundRect">
            <a:avLst>
              <a:gd name="adj" fmla="val 13953"/>
            </a:avLst>
          </a:prstGeom>
          <a:solidFill>
            <a:srgbClr val="F3F8FE"/>
          </a:solidFill>
          <a:ln w="12700">
            <a:solidFill>
              <a:srgbClr val="D6E4F2"/>
            </a:solidFill>
            <a:prstDash val="solid"/>
          </a:ln>
        </p:spPr>
      </p:sp>
      <p:sp>
        <p:nvSpPr>
          <p:cNvPr id="39" name="Text 37"/>
          <p:cNvSpPr/>
          <p:nvPr/>
        </p:nvSpPr>
        <p:spPr>
          <a:xfrm>
            <a:off x="2809821" y="4517136"/>
            <a:ext cx="607423" cy="146304"/>
          </a:xfrm>
          <a:prstGeom prst="rect">
            <a:avLst/>
          </a:prstGeom>
          <a:noFill/>
          <a:ln/>
        </p:spPr>
        <p:txBody>
          <a:bodyPr wrap="square" lIns="0" tIns="0" rIns="0" bIns="0" rtlCol="0" anchor="ctr">
            <a:normAutofit/>
          </a:bodyPr>
          <a:lstStyle/>
          <a:p>
            <a:pPr marL="0" indent="0" algn="ctr">
              <a:buNone/>
            </a:pPr>
            <a:r>
              <a:rPr lang="en-US" sz="640" b="1" dirty="0">
                <a:solidFill>
                  <a:srgbClr val="1F2937"/>
                </a:solidFill>
              </a:rPr>
              <a:t>Search</a:t>
            </a:r>
            <a:endParaRPr lang="en-US" sz="640" dirty="0"/>
          </a:p>
        </p:txBody>
      </p:sp>
      <p:sp>
        <p:nvSpPr>
          <p:cNvPr id="40" name="Shape 38"/>
          <p:cNvSpPr/>
          <p:nvPr/>
        </p:nvSpPr>
        <p:spPr>
          <a:xfrm>
            <a:off x="3444675" y="4622292"/>
            <a:ext cx="73152" cy="0"/>
          </a:xfrm>
          <a:prstGeom prst="line">
            <a:avLst/>
          </a:prstGeom>
          <a:noFill/>
          <a:ln w="15240">
            <a:solidFill>
              <a:srgbClr val="1677C8"/>
            </a:solidFill>
            <a:prstDash val="solid"/>
            <a:tailEnd type="triangle"/>
          </a:ln>
        </p:spPr>
      </p:sp>
      <p:sp>
        <p:nvSpPr>
          <p:cNvPr id="41" name="Shape 39"/>
          <p:cNvSpPr/>
          <p:nvPr/>
        </p:nvSpPr>
        <p:spPr>
          <a:xfrm>
            <a:off x="3517827" y="4425696"/>
            <a:ext cx="662287" cy="393192"/>
          </a:xfrm>
          <a:prstGeom prst="roundRect">
            <a:avLst>
              <a:gd name="adj" fmla="val 13953"/>
            </a:avLst>
          </a:prstGeom>
          <a:solidFill>
            <a:srgbClr val="FFFFFF"/>
          </a:solidFill>
          <a:ln w="12700">
            <a:solidFill>
              <a:srgbClr val="D6E4F2"/>
            </a:solidFill>
            <a:prstDash val="solid"/>
          </a:ln>
        </p:spPr>
      </p:sp>
      <p:sp>
        <p:nvSpPr>
          <p:cNvPr id="42" name="Text 40"/>
          <p:cNvSpPr/>
          <p:nvPr/>
        </p:nvSpPr>
        <p:spPr>
          <a:xfrm>
            <a:off x="3545259" y="4517136"/>
            <a:ext cx="607423" cy="146304"/>
          </a:xfrm>
          <a:prstGeom prst="rect">
            <a:avLst/>
          </a:prstGeom>
          <a:noFill/>
          <a:ln/>
        </p:spPr>
        <p:txBody>
          <a:bodyPr wrap="square" lIns="0" tIns="0" rIns="0" bIns="0" rtlCol="0" anchor="ctr">
            <a:normAutofit/>
          </a:bodyPr>
          <a:lstStyle/>
          <a:p>
            <a:pPr marL="0" indent="0" algn="ctr">
              <a:buNone/>
            </a:pPr>
            <a:r>
              <a:rPr lang="en-US" sz="640" b="1" dirty="0">
                <a:solidFill>
                  <a:srgbClr val="1F2937"/>
                </a:solidFill>
              </a:rPr>
              <a:t>Select Cab</a:t>
            </a:r>
            <a:endParaRPr lang="en-US" sz="640" dirty="0"/>
          </a:p>
        </p:txBody>
      </p:sp>
      <p:sp>
        <p:nvSpPr>
          <p:cNvPr id="43" name="Shape 41"/>
          <p:cNvSpPr/>
          <p:nvPr/>
        </p:nvSpPr>
        <p:spPr>
          <a:xfrm>
            <a:off x="4180114" y="4622292"/>
            <a:ext cx="73152" cy="0"/>
          </a:xfrm>
          <a:prstGeom prst="line">
            <a:avLst/>
          </a:prstGeom>
          <a:noFill/>
          <a:ln w="15240">
            <a:solidFill>
              <a:srgbClr val="1677C8"/>
            </a:solidFill>
            <a:prstDash val="solid"/>
            <a:tailEnd type="triangle"/>
          </a:ln>
        </p:spPr>
      </p:sp>
      <p:sp>
        <p:nvSpPr>
          <p:cNvPr id="44" name="Shape 42"/>
          <p:cNvSpPr/>
          <p:nvPr/>
        </p:nvSpPr>
        <p:spPr>
          <a:xfrm>
            <a:off x="4253266" y="4425696"/>
            <a:ext cx="662287" cy="393192"/>
          </a:xfrm>
          <a:prstGeom prst="roundRect">
            <a:avLst>
              <a:gd name="adj" fmla="val 13953"/>
            </a:avLst>
          </a:prstGeom>
          <a:solidFill>
            <a:srgbClr val="F3F8FE"/>
          </a:solidFill>
          <a:ln w="12700">
            <a:solidFill>
              <a:srgbClr val="D6E4F2"/>
            </a:solidFill>
            <a:prstDash val="solid"/>
          </a:ln>
        </p:spPr>
      </p:sp>
      <p:sp>
        <p:nvSpPr>
          <p:cNvPr id="45" name="Text 43"/>
          <p:cNvSpPr/>
          <p:nvPr/>
        </p:nvSpPr>
        <p:spPr>
          <a:xfrm>
            <a:off x="4280698" y="4517136"/>
            <a:ext cx="607423" cy="146304"/>
          </a:xfrm>
          <a:prstGeom prst="rect">
            <a:avLst/>
          </a:prstGeom>
          <a:noFill/>
          <a:ln/>
        </p:spPr>
        <p:txBody>
          <a:bodyPr wrap="square" lIns="0" tIns="0" rIns="0" bIns="0" rtlCol="0" anchor="ctr">
            <a:normAutofit/>
          </a:bodyPr>
          <a:lstStyle/>
          <a:p>
            <a:pPr marL="0" indent="0" algn="ctr">
              <a:buNone/>
            </a:pPr>
            <a:r>
              <a:rPr lang="en-US" sz="640" b="1" dirty="0">
                <a:solidFill>
                  <a:srgbClr val="1F2937"/>
                </a:solidFill>
              </a:rPr>
              <a:t>Booking</a:t>
            </a:r>
            <a:endParaRPr lang="en-US" sz="640" dirty="0"/>
          </a:p>
        </p:txBody>
      </p:sp>
      <p:sp>
        <p:nvSpPr>
          <p:cNvPr id="46" name="Shape 44"/>
          <p:cNvSpPr/>
          <p:nvPr/>
        </p:nvSpPr>
        <p:spPr>
          <a:xfrm>
            <a:off x="4915553" y="4622292"/>
            <a:ext cx="73152" cy="0"/>
          </a:xfrm>
          <a:prstGeom prst="line">
            <a:avLst/>
          </a:prstGeom>
          <a:noFill/>
          <a:ln w="15240">
            <a:solidFill>
              <a:srgbClr val="1677C8"/>
            </a:solidFill>
            <a:prstDash val="solid"/>
            <a:tailEnd type="triangle"/>
          </a:ln>
        </p:spPr>
      </p:sp>
      <p:sp>
        <p:nvSpPr>
          <p:cNvPr id="47" name="Shape 45"/>
          <p:cNvSpPr/>
          <p:nvPr/>
        </p:nvSpPr>
        <p:spPr>
          <a:xfrm>
            <a:off x="4988705" y="4425696"/>
            <a:ext cx="662287" cy="393192"/>
          </a:xfrm>
          <a:prstGeom prst="roundRect">
            <a:avLst>
              <a:gd name="adj" fmla="val 13953"/>
            </a:avLst>
          </a:prstGeom>
          <a:solidFill>
            <a:srgbClr val="FFFFFF"/>
          </a:solidFill>
          <a:ln w="12700">
            <a:solidFill>
              <a:srgbClr val="D6E4F2"/>
            </a:solidFill>
            <a:prstDash val="solid"/>
          </a:ln>
        </p:spPr>
      </p:sp>
      <p:sp>
        <p:nvSpPr>
          <p:cNvPr id="48" name="Text 46"/>
          <p:cNvSpPr/>
          <p:nvPr/>
        </p:nvSpPr>
        <p:spPr>
          <a:xfrm>
            <a:off x="5016137" y="4517136"/>
            <a:ext cx="607423" cy="146304"/>
          </a:xfrm>
          <a:prstGeom prst="rect">
            <a:avLst/>
          </a:prstGeom>
          <a:noFill/>
          <a:ln/>
        </p:spPr>
        <p:txBody>
          <a:bodyPr wrap="square" lIns="0" tIns="0" rIns="0" bIns="0" rtlCol="0" anchor="ctr">
            <a:normAutofit/>
          </a:bodyPr>
          <a:lstStyle/>
          <a:p>
            <a:pPr marL="0" indent="0" algn="ctr">
              <a:buNone/>
            </a:pPr>
            <a:r>
              <a:rPr lang="en-US" sz="640" b="1" dirty="0">
                <a:solidFill>
                  <a:srgbClr val="1F2937"/>
                </a:solidFill>
              </a:rPr>
              <a:t>Payment</a:t>
            </a:r>
            <a:endParaRPr lang="en-US" sz="640" dirty="0"/>
          </a:p>
        </p:txBody>
      </p:sp>
      <p:sp>
        <p:nvSpPr>
          <p:cNvPr id="49" name="Shape 47"/>
          <p:cNvSpPr/>
          <p:nvPr/>
        </p:nvSpPr>
        <p:spPr>
          <a:xfrm>
            <a:off x="576072" y="5029200"/>
            <a:ext cx="2487168" cy="768096"/>
          </a:xfrm>
          <a:prstGeom prst="roundRect">
            <a:avLst>
              <a:gd name="adj" fmla="val 9524"/>
            </a:avLst>
          </a:prstGeom>
          <a:solidFill>
            <a:srgbClr val="FFFFFF"/>
          </a:solidFill>
          <a:ln w="12700">
            <a:solidFill>
              <a:srgbClr val="D6E4F2"/>
            </a:solidFill>
            <a:prstDash val="solid"/>
          </a:ln>
        </p:spPr>
      </p:sp>
      <p:sp>
        <p:nvSpPr>
          <p:cNvPr id="50" name="Shape 48"/>
          <p:cNvSpPr/>
          <p:nvPr/>
        </p:nvSpPr>
        <p:spPr>
          <a:xfrm>
            <a:off x="576072" y="5029200"/>
            <a:ext cx="73152" cy="768096"/>
          </a:xfrm>
          <a:prstGeom prst="rect">
            <a:avLst/>
          </a:prstGeom>
          <a:solidFill>
            <a:srgbClr val="1677C8"/>
          </a:solidFill>
          <a:ln w="12700">
            <a:solidFill>
              <a:srgbClr val="1677C8"/>
            </a:solidFill>
            <a:prstDash val="solid"/>
          </a:ln>
        </p:spPr>
      </p:sp>
      <p:sp>
        <p:nvSpPr>
          <p:cNvPr id="51" name="Text 49"/>
          <p:cNvSpPr/>
          <p:nvPr/>
        </p:nvSpPr>
        <p:spPr>
          <a:xfrm>
            <a:off x="722376" y="5138928"/>
            <a:ext cx="2258568" cy="164592"/>
          </a:xfrm>
          <a:prstGeom prst="rect">
            <a:avLst/>
          </a:prstGeom>
          <a:noFill/>
          <a:ln/>
        </p:spPr>
        <p:txBody>
          <a:bodyPr wrap="square" lIns="0" tIns="0" rIns="0" bIns="0" rtlCol="0" anchor="ctr"/>
          <a:lstStyle/>
          <a:p>
            <a:pPr marL="0" indent="0">
              <a:buNone/>
            </a:pPr>
            <a:r>
              <a:rPr lang="en-US" sz="920" b="1" dirty="0">
                <a:solidFill>
                  <a:srgbClr val="1677C8"/>
                </a:solidFill>
              </a:rPr>
              <a:t>Test Environment</a:t>
            </a:r>
            <a:endParaRPr lang="en-US" sz="920" dirty="0"/>
          </a:p>
        </p:txBody>
      </p:sp>
      <p:sp>
        <p:nvSpPr>
          <p:cNvPr id="52" name="Text 50"/>
          <p:cNvSpPr/>
          <p:nvPr/>
        </p:nvSpPr>
        <p:spPr>
          <a:xfrm>
            <a:off x="722376" y="5376672"/>
            <a:ext cx="2258568" cy="356616"/>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OS: Windows 11</a:t>
            </a:r>
            <a:endParaRPr lang="en-US" sz="770" dirty="0"/>
          </a:p>
          <a:p>
            <a:pPr marL="0" indent="0">
              <a:buNone/>
            </a:pPr>
            <a:r>
              <a:rPr lang="en-US" sz="770" dirty="0">
                <a:solidFill>
                  <a:srgbClr val="1F2937"/>
                </a:solidFill>
              </a:rPr>
              <a:t>Framework: POM</a:t>
            </a:r>
            <a:endParaRPr lang="en-US" sz="770" dirty="0"/>
          </a:p>
          <a:p>
            <a:pPr marL="0" indent="0">
              <a:buNone/>
            </a:pPr>
            <a:r>
              <a:rPr lang="en-US" sz="770" dirty="0">
                <a:solidFill>
                  <a:srgbClr val="1F2937"/>
                </a:solidFill>
              </a:rPr>
              <a:t>Logs: Enabled</a:t>
            </a:r>
            <a:endParaRPr lang="en-US" sz="770" dirty="0"/>
          </a:p>
          <a:p>
            <a:pPr marL="0" indent="0">
              <a:buNone/>
            </a:pPr>
            <a:r>
              <a:rPr lang="en-US" sz="770" dirty="0">
                <a:solidFill>
                  <a:srgbClr val="1F2937"/>
                </a:solidFill>
              </a:rPr>
              <a:t>Screenshots: Enabled</a:t>
            </a:r>
            <a:endParaRPr lang="en-US" sz="770" dirty="0"/>
          </a:p>
        </p:txBody>
      </p:sp>
      <p:sp>
        <p:nvSpPr>
          <p:cNvPr id="53" name="Shape 51"/>
          <p:cNvSpPr/>
          <p:nvPr/>
        </p:nvSpPr>
        <p:spPr>
          <a:xfrm>
            <a:off x="3182112" y="5029200"/>
            <a:ext cx="2487168" cy="768096"/>
          </a:xfrm>
          <a:prstGeom prst="roundRect">
            <a:avLst>
              <a:gd name="adj" fmla="val 9524"/>
            </a:avLst>
          </a:prstGeom>
          <a:solidFill>
            <a:srgbClr val="FFFFFF"/>
          </a:solidFill>
          <a:ln w="12700">
            <a:solidFill>
              <a:srgbClr val="D6E4F2"/>
            </a:solidFill>
            <a:prstDash val="solid"/>
          </a:ln>
        </p:spPr>
      </p:sp>
      <p:sp>
        <p:nvSpPr>
          <p:cNvPr id="54" name="Shape 52"/>
          <p:cNvSpPr/>
          <p:nvPr/>
        </p:nvSpPr>
        <p:spPr>
          <a:xfrm>
            <a:off x="3182112" y="5029200"/>
            <a:ext cx="73152" cy="768096"/>
          </a:xfrm>
          <a:prstGeom prst="rect">
            <a:avLst/>
          </a:prstGeom>
          <a:solidFill>
            <a:srgbClr val="12B76A"/>
          </a:solidFill>
          <a:ln w="12700">
            <a:solidFill>
              <a:srgbClr val="12B76A"/>
            </a:solidFill>
            <a:prstDash val="solid"/>
          </a:ln>
        </p:spPr>
      </p:sp>
      <p:sp>
        <p:nvSpPr>
          <p:cNvPr id="55" name="Text 53"/>
          <p:cNvSpPr/>
          <p:nvPr/>
        </p:nvSpPr>
        <p:spPr>
          <a:xfrm>
            <a:off x="3328416" y="5138928"/>
            <a:ext cx="2258568" cy="164592"/>
          </a:xfrm>
          <a:prstGeom prst="rect">
            <a:avLst/>
          </a:prstGeom>
          <a:noFill/>
          <a:ln/>
        </p:spPr>
        <p:txBody>
          <a:bodyPr wrap="square" lIns="0" tIns="0" rIns="0" bIns="0" rtlCol="0" anchor="ctr"/>
          <a:lstStyle/>
          <a:p>
            <a:pPr marL="0" indent="0">
              <a:buNone/>
            </a:pPr>
            <a:r>
              <a:rPr lang="en-US" sz="920" b="1" dirty="0">
                <a:solidFill>
                  <a:srgbClr val="12B76A"/>
                </a:solidFill>
              </a:rPr>
              <a:t>Execution Result</a:t>
            </a:r>
            <a:endParaRPr lang="en-US" sz="920" dirty="0"/>
          </a:p>
        </p:txBody>
      </p:sp>
      <p:sp>
        <p:nvSpPr>
          <p:cNvPr id="56" name="Text 54"/>
          <p:cNvSpPr/>
          <p:nvPr/>
        </p:nvSpPr>
        <p:spPr>
          <a:xfrm>
            <a:off x="3328416" y="5376672"/>
            <a:ext cx="2258568" cy="356616"/>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Total Tests: 6</a:t>
            </a:r>
            <a:endParaRPr lang="en-US" sz="770" dirty="0"/>
          </a:p>
          <a:p>
            <a:pPr marL="0" indent="0">
              <a:buNone/>
            </a:pPr>
            <a:r>
              <a:rPr lang="en-US" sz="770" dirty="0">
                <a:solidFill>
                  <a:srgbClr val="1F2937"/>
                </a:solidFill>
              </a:rPr>
              <a:t>Passed: 6</a:t>
            </a:r>
            <a:endParaRPr lang="en-US" sz="770" dirty="0"/>
          </a:p>
          <a:p>
            <a:pPr marL="0" indent="0">
              <a:buNone/>
            </a:pPr>
            <a:r>
              <a:rPr lang="en-US" sz="770" dirty="0">
                <a:solidFill>
                  <a:srgbClr val="1F2937"/>
                </a:solidFill>
              </a:rPr>
              <a:t>Failed: 0</a:t>
            </a:r>
            <a:endParaRPr lang="en-US" sz="770" dirty="0"/>
          </a:p>
          <a:p>
            <a:pPr marL="0" indent="0">
              <a:buNone/>
            </a:pPr>
            <a:r>
              <a:rPr lang="en-US" sz="770" dirty="0">
                <a:solidFill>
                  <a:srgbClr val="1F2937"/>
                </a:solidFill>
              </a:rPr>
              <a:t>Accuracy: 100%</a:t>
            </a:r>
            <a:endParaRPr lang="en-US" sz="770" dirty="0"/>
          </a:p>
        </p:txBody>
      </p:sp>
      <p:sp>
        <p:nvSpPr>
          <p:cNvPr id="57" name="Shape 55"/>
          <p:cNvSpPr/>
          <p:nvPr/>
        </p:nvSpPr>
        <p:spPr>
          <a:xfrm>
            <a:off x="6400800" y="2139696"/>
            <a:ext cx="5093208" cy="804672"/>
          </a:xfrm>
          <a:prstGeom prst="roundRect">
            <a:avLst>
              <a:gd name="adj" fmla="val 9091"/>
            </a:avLst>
          </a:prstGeom>
          <a:solidFill>
            <a:srgbClr val="FFFFFF"/>
          </a:solidFill>
          <a:ln w="12700">
            <a:solidFill>
              <a:srgbClr val="D6E4F2"/>
            </a:solidFill>
            <a:prstDash val="solid"/>
          </a:ln>
        </p:spPr>
      </p:sp>
      <p:sp>
        <p:nvSpPr>
          <p:cNvPr id="58" name="Shape 56"/>
          <p:cNvSpPr/>
          <p:nvPr/>
        </p:nvSpPr>
        <p:spPr>
          <a:xfrm>
            <a:off x="6400800" y="2139696"/>
            <a:ext cx="73152" cy="804672"/>
          </a:xfrm>
          <a:prstGeom prst="rect">
            <a:avLst/>
          </a:prstGeom>
          <a:solidFill>
            <a:srgbClr val="14375F"/>
          </a:solidFill>
          <a:ln w="12700">
            <a:solidFill>
              <a:srgbClr val="14375F"/>
            </a:solidFill>
            <a:prstDash val="solid"/>
          </a:ln>
        </p:spPr>
      </p:sp>
      <p:sp>
        <p:nvSpPr>
          <p:cNvPr id="59" name="Text 57"/>
          <p:cNvSpPr/>
          <p:nvPr/>
        </p:nvSpPr>
        <p:spPr>
          <a:xfrm>
            <a:off x="6547104" y="2249424"/>
            <a:ext cx="4864608" cy="164592"/>
          </a:xfrm>
          <a:prstGeom prst="rect">
            <a:avLst/>
          </a:prstGeom>
          <a:noFill/>
          <a:ln/>
        </p:spPr>
        <p:txBody>
          <a:bodyPr wrap="square" lIns="0" tIns="0" rIns="0" bIns="0" rtlCol="0" anchor="ctr"/>
          <a:lstStyle/>
          <a:p>
            <a:pPr marL="0" indent="0">
              <a:buNone/>
            </a:pPr>
            <a:r>
              <a:rPr lang="en-US" sz="920" b="1" dirty="0">
                <a:solidFill>
                  <a:srgbClr val="14375F"/>
                </a:solidFill>
              </a:rPr>
              <a:t>BDD Test Strategy</a:t>
            </a:r>
            <a:endParaRPr lang="en-US" sz="920" dirty="0"/>
          </a:p>
        </p:txBody>
      </p:sp>
      <p:sp>
        <p:nvSpPr>
          <p:cNvPr id="60" name="Text 58"/>
          <p:cNvSpPr/>
          <p:nvPr/>
        </p:nvSpPr>
        <p:spPr>
          <a:xfrm>
            <a:off x="6547104" y="2487168"/>
            <a:ext cx="4864608" cy="393192"/>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Behave BDD uses Gherkin feature files with Given, When, Then syntax. Scenarios are readable for technical and non-technical reviewers and map to Selenium step definitions.</a:t>
            </a:r>
            <a:endParaRPr lang="en-US" sz="770" dirty="0"/>
          </a:p>
        </p:txBody>
      </p:sp>
      <p:sp>
        <p:nvSpPr>
          <p:cNvPr id="61" name="Shape 59"/>
          <p:cNvSpPr/>
          <p:nvPr/>
        </p:nvSpPr>
        <p:spPr>
          <a:xfrm>
            <a:off x="6400800" y="3108960"/>
            <a:ext cx="2487168" cy="1097280"/>
          </a:xfrm>
          <a:prstGeom prst="roundRect">
            <a:avLst>
              <a:gd name="adj" fmla="val 6667"/>
            </a:avLst>
          </a:prstGeom>
          <a:solidFill>
            <a:srgbClr val="FFFFFF"/>
          </a:solidFill>
          <a:ln w="12700">
            <a:solidFill>
              <a:srgbClr val="D6E4F2"/>
            </a:solidFill>
            <a:prstDash val="solid"/>
          </a:ln>
        </p:spPr>
      </p:sp>
      <p:sp>
        <p:nvSpPr>
          <p:cNvPr id="62" name="Shape 60"/>
          <p:cNvSpPr/>
          <p:nvPr/>
        </p:nvSpPr>
        <p:spPr>
          <a:xfrm>
            <a:off x="6400800" y="3108960"/>
            <a:ext cx="73152" cy="1097280"/>
          </a:xfrm>
          <a:prstGeom prst="rect">
            <a:avLst/>
          </a:prstGeom>
          <a:solidFill>
            <a:srgbClr val="12B76A"/>
          </a:solidFill>
          <a:ln w="12700">
            <a:solidFill>
              <a:srgbClr val="12B76A"/>
            </a:solidFill>
            <a:prstDash val="solid"/>
          </a:ln>
        </p:spPr>
      </p:sp>
      <p:sp>
        <p:nvSpPr>
          <p:cNvPr id="63" name="Text 61"/>
          <p:cNvSpPr/>
          <p:nvPr/>
        </p:nvSpPr>
        <p:spPr>
          <a:xfrm>
            <a:off x="6547104" y="3218688"/>
            <a:ext cx="2258568" cy="164592"/>
          </a:xfrm>
          <a:prstGeom prst="rect">
            <a:avLst/>
          </a:prstGeom>
          <a:noFill/>
          <a:ln/>
        </p:spPr>
        <p:txBody>
          <a:bodyPr wrap="square" lIns="0" tIns="0" rIns="0" bIns="0" rtlCol="0" anchor="ctr"/>
          <a:lstStyle/>
          <a:p>
            <a:pPr marL="0" indent="0">
              <a:buNone/>
            </a:pPr>
            <a:r>
              <a:rPr lang="en-US" sz="920" b="1" dirty="0">
                <a:solidFill>
                  <a:srgbClr val="12B76A"/>
                </a:solidFill>
              </a:rPr>
              <a:t>Positive Test Cases</a:t>
            </a:r>
            <a:endParaRPr lang="en-US" sz="920" dirty="0"/>
          </a:p>
        </p:txBody>
      </p:sp>
      <p:sp>
        <p:nvSpPr>
          <p:cNvPr id="64" name="Text 62"/>
          <p:cNvSpPr/>
          <p:nvPr/>
        </p:nvSpPr>
        <p:spPr>
          <a:xfrm>
            <a:off x="6547104" y="3456432"/>
            <a:ext cx="2258568" cy="685800"/>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1. Successful cab search</a:t>
            </a:r>
            <a:endParaRPr lang="en-US" sz="770" dirty="0"/>
          </a:p>
          <a:p>
            <a:pPr marL="0" indent="0">
              <a:buNone/>
            </a:pPr>
            <a:r>
              <a:rPr lang="en-US" sz="770" dirty="0">
                <a:solidFill>
                  <a:srgbClr val="1F2937"/>
                </a:solidFill>
              </a:rPr>
              <a:t>2. Successful cab booking</a:t>
            </a:r>
            <a:endParaRPr lang="en-US" sz="770" dirty="0"/>
          </a:p>
          <a:p>
            <a:pPr marL="0" indent="0">
              <a:buNone/>
            </a:pPr>
            <a:r>
              <a:rPr lang="en-US" sz="770" dirty="0">
                <a:solidFill>
                  <a:srgbClr val="1F2937"/>
                </a:solidFill>
              </a:rPr>
              <a:t>3. Pickup-drop validation</a:t>
            </a:r>
            <a:endParaRPr lang="en-US" sz="770" dirty="0"/>
          </a:p>
          <a:p>
            <a:pPr marL="0" indent="0">
              <a:buNone/>
            </a:pPr>
            <a:r>
              <a:rPr lang="en-US" sz="770" dirty="0">
                <a:solidFill>
                  <a:srgbClr val="1F2937"/>
                </a:solidFill>
              </a:rPr>
              <a:t>4. Payment validation</a:t>
            </a:r>
            <a:endParaRPr lang="en-US" sz="770" dirty="0"/>
          </a:p>
        </p:txBody>
      </p:sp>
      <p:sp>
        <p:nvSpPr>
          <p:cNvPr id="65" name="Shape 63"/>
          <p:cNvSpPr/>
          <p:nvPr/>
        </p:nvSpPr>
        <p:spPr>
          <a:xfrm>
            <a:off x="9006840" y="3108960"/>
            <a:ext cx="2487168" cy="1097280"/>
          </a:xfrm>
          <a:prstGeom prst="roundRect">
            <a:avLst>
              <a:gd name="adj" fmla="val 6667"/>
            </a:avLst>
          </a:prstGeom>
          <a:solidFill>
            <a:srgbClr val="FFFFFF"/>
          </a:solidFill>
          <a:ln w="12700">
            <a:solidFill>
              <a:srgbClr val="D6E4F2"/>
            </a:solidFill>
            <a:prstDash val="solid"/>
          </a:ln>
        </p:spPr>
      </p:sp>
      <p:sp>
        <p:nvSpPr>
          <p:cNvPr id="66" name="Shape 64"/>
          <p:cNvSpPr/>
          <p:nvPr/>
        </p:nvSpPr>
        <p:spPr>
          <a:xfrm>
            <a:off x="9006840" y="3108960"/>
            <a:ext cx="73152" cy="1097280"/>
          </a:xfrm>
          <a:prstGeom prst="rect">
            <a:avLst/>
          </a:prstGeom>
          <a:solidFill>
            <a:srgbClr val="D92D20"/>
          </a:solidFill>
          <a:ln w="12700">
            <a:solidFill>
              <a:srgbClr val="D92D20"/>
            </a:solidFill>
            <a:prstDash val="solid"/>
          </a:ln>
        </p:spPr>
      </p:sp>
      <p:sp>
        <p:nvSpPr>
          <p:cNvPr id="67" name="Text 65"/>
          <p:cNvSpPr/>
          <p:nvPr/>
        </p:nvSpPr>
        <p:spPr>
          <a:xfrm>
            <a:off x="9153144" y="3218688"/>
            <a:ext cx="2258568" cy="164592"/>
          </a:xfrm>
          <a:prstGeom prst="rect">
            <a:avLst/>
          </a:prstGeom>
          <a:noFill/>
          <a:ln/>
        </p:spPr>
        <p:txBody>
          <a:bodyPr wrap="square" lIns="0" tIns="0" rIns="0" bIns="0" rtlCol="0" anchor="ctr"/>
          <a:lstStyle/>
          <a:p>
            <a:pPr marL="0" indent="0">
              <a:buNone/>
            </a:pPr>
            <a:r>
              <a:rPr lang="en-US" sz="920" b="1" dirty="0">
                <a:solidFill>
                  <a:srgbClr val="D92D20"/>
                </a:solidFill>
              </a:rPr>
              <a:t>Negative Test Cases</a:t>
            </a:r>
            <a:endParaRPr lang="en-US" sz="920" dirty="0"/>
          </a:p>
        </p:txBody>
      </p:sp>
      <p:sp>
        <p:nvSpPr>
          <p:cNvPr id="68" name="Text 66"/>
          <p:cNvSpPr/>
          <p:nvPr/>
        </p:nvSpPr>
        <p:spPr>
          <a:xfrm>
            <a:off x="9153144" y="3456432"/>
            <a:ext cx="2258568" cy="685800"/>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1. Empty pickup location validation</a:t>
            </a:r>
            <a:endParaRPr lang="en-US" sz="770" dirty="0"/>
          </a:p>
          <a:p>
            <a:pPr marL="0" indent="0">
              <a:buNone/>
            </a:pPr>
            <a:r>
              <a:rPr lang="en-US" sz="770" dirty="0">
                <a:solidFill>
                  <a:srgbClr val="1F2937"/>
                </a:solidFill>
              </a:rPr>
              <a:t>2. Invalid route validation</a:t>
            </a:r>
            <a:endParaRPr lang="en-US" sz="770" dirty="0"/>
          </a:p>
        </p:txBody>
      </p:sp>
      <p:sp>
        <p:nvSpPr>
          <p:cNvPr id="69" name="Shape 67"/>
          <p:cNvSpPr/>
          <p:nvPr/>
        </p:nvSpPr>
        <p:spPr>
          <a:xfrm>
            <a:off x="6400800" y="4389120"/>
            <a:ext cx="2487168" cy="685800"/>
          </a:xfrm>
          <a:prstGeom prst="roundRect">
            <a:avLst>
              <a:gd name="adj" fmla="val 10667"/>
            </a:avLst>
          </a:prstGeom>
          <a:solidFill>
            <a:srgbClr val="FFFFFF"/>
          </a:solidFill>
          <a:ln w="12700">
            <a:solidFill>
              <a:srgbClr val="D6E4F2"/>
            </a:solidFill>
            <a:prstDash val="solid"/>
          </a:ln>
        </p:spPr>
      </p:sp>
      <p:sp>
        <p:nvSpPr>
          <p:cNvPr id="70" name="Shape 68"/>
          <p:cNvSpPr/>
          <p:nvPr/>
        </p:nvSpPr>
        <p:spPr>
          <a:xfrm>
            <a:off x="6400800" y="4389120"/>
            <a:ext cx="73152" cy="685800"/>
          </a:xfrm>
          <a:prstGeom prst="rect">
            <a:avLst/>
          </a:prstGeom>
          <a:solidFill>
            <a:srgbClr val="1677C8"/>
          </a:solidFill>
          <a:ln w="12700">
            <a:solidFill>
              <a:srgbClr val="1677C8"/>
            </a:solidFill>
            <a:prstDash val="solid"/>
          </a:ln>
        </p:spPr>
      </p:sp>
      <p:sp>
        <p:nvSpPr>
          <p:cNvPr id="71" name="Text 69"/>
          <p:cNvSpPr/>
          <p:nvPr/>
        </p:nvSpPr>
        <p:spPr>
          <a:xfrm>
            <a:off x="6547104" y="4498848"/>
            <a:ext cx="2258568" cy="164592"/>
          </a:xfrm>
          <a:prstGeom prst="rect">
            <a:avLst/>
          </a:prstGeom>
          <a:noFill/>
          <a:ln/>
        </p:spPr>
        <p:txBody>
          <a:bodyPr wrap="square" lIns="0" tIns="0" rIns="0" bIns="0" rtlCol="0" anchor="ctr"/>
          <a:lstStyle/>
          <a:p>
            <a:pPr marL="0" indent="0">
              <a:buNone/>
            </a:pPr>
            <a:r>
              <a:rPr lang="en-US" sz="920" b="1" dirty="0">
                <a:solidFill>
                  <a:srgbClr val="1677C8"/>
                </a:solidFill>
              </a:rPr>
              <a:t>Tools Used</a:t>
            </a:r>
            <a:endParaRPr lang="en-US" sz="920" dirty="0"/>
          </a:p>
        </p:txBody>
      </p:sp>
      <p:sp>
        <p:nvSpPr>
          <p:cNvPr id="72" name="Text 70"/>
          <p:cNvSpPr/>
          <p:nvPr/>
        </p:nvSpPr>
        <p:spPr>
          <a:xfrm>
            <a:off x="6547104" y="4736592"/>
            <a:ext cx="2258568" cy="274320"/>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Selenium WebDriver</a:t>
            </a:r>
            <a:endParaRPr lang="en-US" sz="770" dirty="0"/>
          </a:p>
          <a:p>
            <a:pPr marL="0" indent="0">
              <a:buNone/>
            </a:pPr>
            <a:r>
              <a:rPr lang="en-US" sz="770" dirty="0">
                <a:solidFill>
                  <a:srgbClr val="1F2937"/>
                </a:solidFill>
              </a:rPr>
              <a:t>Python, Pytest, Behave BDD</a:t>
            </a:r>
            <a:endParaRPr lang="en-US" sz="770" dirty="0"/>
          </a:p>
          <a:p>
            <a:pPr marL="0" indent="0">
              <a:buNone/>
            </a:pPr>
            <a:r>
              <a:rPr lang="en-US" sz="770" dirty="0">
                <a:solidFill>
                  <a:srgbClr val="1F2937"/>
                </a:solidFill>
              </a:rPr>
              <a:t>Allure Reports, Chrome</a:t>
            </a:r>
            <a:endParaRPr lang="en-US" sz="770" dirty="0"/>
          </a:p>
        </p:txBody>
      </p:sp>
      <p:sp>
        <p:nvSpPr>
          <p:cNvPr id="73" name="Shape 71"/>
          <p:cNvSpPr/>
          <p:nvPr/>
        </p:nvSpPr>
        <p:spPr>
          <a:xfrm>
            <a:off x="9006840" y="4389120"/>
            <a:ext cx="2487168" cy="685800"/>
          </a:xfrm>
          <a:prstGeom prst="roundRect">
            <a:avLst>
              <a:gd name="adj" fmla="val 10667"/>
            </a:avLst>
          </a:prstGeom>
          <a:solidFill>
            <a:srgbClr val="FFFFFF"/>
          </a:solidFill>
          <a:ln w="12700">
            <a:solidFill>
              <a:srgbClr val="D6E4F2"/>
            </a:solidFill>
            <a:prstDash val="solid"/>
          </a:ln>
        </p:spPr>
      </p:sp>
      <p:sp>
        <p:nvSpPr>
          <p:cNvPr id="74" name="Shape 72"/>
          <p:cNvSpPr/>
          <p:nvPr/>
        </p:nvSpPr>
        <p:spPr>
          <a:xfrm>
            <a:off x="9006840" y="4389120"/>
            <a:ext cx="73152" cy="685800"/>
          </a:xfrm>
          <a:prstGeom prst="rect">
            <a:avLst/>
          </a:prstGeom>
          <a:solidFill>
            <a:srgbClr val="00A3E0"/>
          </a:solidFill>
          <a:ln w="12700">
            <a:solidFill>
              <a:srgbClr val="00A3E0"/>
            </a:solidFill>
            <a:prstDash val="solid"/>
          </a:ln>
        </p:spPr>
      </p:sp>
      <p:sp>
        <p:nvSpPr>
          <p:cNvPr id="75" name="Text 73"/>
          <p:cNvSpPr/>
          <p:nvPr/>
        </p:nvSpPr>
        <p:spPr>
          <a:xfrm>
            <a:off x="9153144" y="4498848"/>
            <a:ext cx="2258568" cy="164592"/>
          </a:xfrm>
          <a:prstGeom prst="rect">
            <a:avLst/>
          </a:prstGeom>
          <a:noFill/>
          <a:ln/>
        </p:spPr>
        <p:txBody>
          <a:bodyPr wrap="square" lIns="0" tIns="0" rIns="0" bIns="0" rtlCol="0" anchor="ctr"/>
          <a:lstStyle/>
          <a:p>
            <a:pPr marL="0" indent="0">
              <a:buNone/>
            </a:pPr>
            <a:r>
              <a:rPr lang="en-US" sz="920" b="1" dirty="0">
                <a:solidFill>
                  <a:srgbClr val="00A3E0"/>
                </a:solidFill>
              </a:rPr>
              <a:t>Validated Areas</a:t>
            </a:r>
            <a:endParaRPr lang="en-US" sz="920" dirty="0"/>
          </a:p>
        </p:txBody>
      </p:sp>
      <p:sp>
        <p:nvSpPr>
          <p:cNvPr id="76" name="Text 74"/>
          <p:cNvSpPr/>
          <p:nvPr/>
        </p:nvSpPr>
        <p:spPr>
          <a:xfrm>
            <a:off x="9153144" y="4736592"/>
            <a:ext cx="2258568" cy="274320"/>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Workflow navigation</a:t>
            </a:r>
            <a:endParaRPr lang="en-US" sz="770" dirty="0"/>
          </a:p>
          <a:p>
            <a:pPr marL="0" indent="0">
              <a:buNone/>
            </a:pPr>
            <a:r>
              <a:rPr lang="en-US" sz="770" dirty="0">
                <a:solidFill>
                  <a:srgbClr val="1F2937"/>
                </a:solidFill>
              </a:rPr>
              <a:t>Form validations</a:t>
            </a:r>
            <a:endParaRPr lang="en-US" sz="770" dirty="0"/>
          </a:p>
          <a:p>
            <a:pPr marL="0" indent="0">
              <a:buNone/>
            </a:pPr>
            <a:r>
              <a:rPr lang="en-US" sz="770" dirty="0">
                <a:solidFill>
                  <a:srgbClr val="1F2937"/>
                </a:solidFill>
              </a:rPr>
              <a:t>Booking steps</a:t>
            </a:r>
            <a:endParaRPr lang="en-US" sz="770" dirty="0"/>
          </a:p>
          <a:p>
            <a:pPr marL="0" indent="0">
              <a:buNone/>
            </a:pPr>
            <a:r>
              <a:rPr lang="en-US" sz="770" dirty="0">
                <a:solidFill>
                  <a:srgbClr val="1F2937"/>
                </a:solidFill>
              </a:rPr>
              <a:t>Payment page boundary</a:t>
            </a:r>
            <a:endParaRPr lang="en-US" sz="770" dirty="0"/>
          </a:p>
        </p:txBody>
      </p:sp>
      <p:sp>
        <p:nvSpPr>
          <p:cNvPr id="77" name="Shape 75"/>
          <p:cNvSpPr/>
          <p:nvPr/>
        </p:nvSpPr>
        <p:spPr>
          <a:xfrm>
            <a:off x="6400800" y="5303520"/>
            <a:ext cx="1572768" cy="804672"/>
          </a:xfrm>
          <a:prstGeom prst="roundRect">
            <a:avLst>
              <a:gd name="adj" fmla="val 9091"/>
            </a:avLst>
          </a:prstGeom>
          <a:solidFill>
            <a:srgbClr val="F8FAFC"/>
          </a:solidFill>
          <a:ln w="15240">
            <a:solidFill>
              <a:srgbClr val="BFD7ED"/>
            </a:solidFill>
            <a:prstDash val="solid"/>
          </a:ln>
        </p:spPr>
      </p:sp>
      <p:sp>
        <p:nvSpPr>
          <p:cNvPr id="78" name="Shape 76"/>
          <p:cNvSpPr/>
          <p:nvPr/>
        </p:nvSpPr>
        <p:spPr>
          <a:xfrm>
            <a:off x="6510528" y="5413248"/>
            <a:ext cx="1353312" cy="36576"/>
          </a:xfrm>
          <a:prstGeom prst="rect">
            <a:avLst/>
          </a:prstGeom>
          <a:solidFill>
            <a:srgbClr val="1677C8">
              <a:alpha val="75000"/>
            </a:srgbClr>
          </a:solidFill>
          <a:ln w="12700">
            <a:solidFill>
              <a:srgbClr val="333333">
                <a:alpha val="0"/>
              </a:srgbClr>
            </a:solidFill>
            <a:prstDash val="solid"/>
          </a:ln>
        </p:spPr>
      </p:sp>
      <p:sp>
        <p:nvSpPr>
          <p:cNvPr id="79" name="Text 77"/>
          <p:cNvSpPr/>
          <p:nvPr/>
        </p:nvSpPr>
        <p:spPr>
          <a:xfrm>
            <a:off x="6547104" y="5632704"/>
            <a:ext cx="1280160" cy="164592"/>
          </a:xfrm>
          <a:prstGeom prst="rect">
            <a:avLst/>
          </a:prstGeom>
          <a:noFill/>
          <a:ln/>
        </p:spPr>
        <p:txBody>
          <a:bodyPr wrap="square" lIns="0" tIns="0" rIns="0" bIns="0" rtlCol="0" anchor="ctr"/>
          <a:lstStyle/>
          <a:p>
            <a:pPr marL="0" indent="0" algn="ctr">
              <a:buNone/>
            </a:pPr>
            <a:r>
              <a:rPr lang="en-US" sz="750" b="1" dirty="0">
                <a:solidFill>
                  <a:srgbClr val="667085"/>
                </a:solidFill>
              </a:rPr>
              <a:t>Positive Screenshot</a:t>
            </a:r>
            <a:endParaRPr lang="en-US" sz="750" dirty="0"/>
          </a:p>
        </p:txBody>
      </p:sp>
      <p:sp>
        <p:nvSpPr>
          <p:cNvPr id="80" name="Shape 78"/>
          <p:cNvSpPr/>
          <p:nvPr/>
        </p:nvSpPr>
        <p:spPr>
          <a:xfrm>
            <a:off x="8165592" y="5303520"/>
            <a:ext cx="1572768" cy="804672"/>
          </a:xfrm>
          <a:prstGeom prst="roundRect">
            <a:avLst>
              <a:gd name="adj" fmla="val 9091"/>
            </a:avLst>
          </a:prstGeom>
          <a:solidFill>
            <a:srgbClr val="F8FAFC"/>
          </a:solidFill>
          <a:ln w="15240">
            <a:solidFill>
              <a:srgbClr val="BFD7ED"/>
            </a:solidFill>
            <a:prstDash val="solid"/>
          </a:ln>
        </p:spPr>
      </p:sp>
      <p:sp>
        <p:nvSpPr>
          <p:cNvPr id="81" name="Shape 79"/>
          <p:cNvSpPr/>
          <p:nvPr/>
        </p:nvSpPr>
        <p:spPr>
          <a:xfrm>
            <a:off x="8275320" y="5413248"/>
            <a:ext cx="1353312" cy="36576"/>
          </a:xfrm>
          <a:prstGeom prst="rect">
            <a:avLst/>
          </a:prstGeom>
          <a:solidFill>
            <a:srgbClr val="1677C8">
              <a:alpha val="75000"/>
            </a:srgbClr>
          </a:solidFill>
          <a:ln w="12700">
            <a:solidFill>
              <a:srgbClr val="333333">
                <a:alpha val="0"/>
              </a:srgbClr>
            </a:solidFill>
            <a:prstDash val="solid"/>
          </a:ln>
        </p:spPr>
      </p:sp>
      <p:sp>
        <p:nvSpPr>
          <p:cNvPr id="82" name="Text 80"/>
          <p:cNvSpPr/>
          <p:nvPr/>
        </p:nvSpPr>
        <p:spPr>
          <a:xfrm>
            <a:off x="8311896" y="5632704"/>
            <a:ext cx="1280160" cy="164592"/>
          </a:xfrm>
          <a:prstGeom prst="rect">
            <a:avLst/>
          </a:prstGeom>
          <a:noFill/>
          <a:ln/>
        </p:spPr>
        <p:txBody>
          <a:bodyPr wrap="square" lIns="0" tIns="0" rIns="0" bIns="0" rtlCol="0" anchor="ctr"/>
          <a:lstStyle/>
          <a:p>
            <a:pPr marL="0" indent="0" algn="ctr">
              <a:buNone/>
            </a:pPr>
            <a:r>
              <a:rPr lang="en-US" sz="750" b="1" dirty="0">
                <a:solidFill>
                  <a:srgbClr val="667085"/>
                </a:solidFill>
              </a:rPr>
              <a:t>Negative Screenshot</a:t>
            </a:r>
            <a:endParaRPr lang="en-US" sz="750" dirty="0"/>
          </a:p>
        </p:txBody>
      </p:sp>
      <p:sp>
        <p:nvSpPr>
          <p:cNvPr id="83" name="Shape 81"/>
          <p:cNvSpPr/>
          <p:nvPr/>
        </p:nvSpPr>
        <p:spPr>
          <a:xfrm>
            <a:off x="9921240" y="5303520"/>
            <a:ext cx="1572768" cy="804672"/>
          </a:xfrm>
          <a:prstGeom prst="roundRect">
            <a:avLst>
              <a:gd name="adj" fmla="val 9091"/>
            </a:avLst>
          </a:prstGeom>
          <a:solidFill>
            <a:srgbClr val="F8FAFC"/>
          </a:solidFill>
          <a:ln w="15240">
            <a:solidFill>
              <a:srgbClr val="BFD7ED"/>
            </a:solidFill>
            <a:prstDash val="solid"/>
          </a:ln>
        </p:spPr>
      </p:sp>
      <p:sp>
        <p:nvSpPr>
          <p:cNvPr id="84" name="Shape 82"/>
          <p:cNvSpPr/>
          <p:nvPr/>
        </p:nvSpPr>
        <p:spPr>
          <a:xfrm>
            <a:off x="10030968" y="5413248"/>
            <a:ext cx="1353312" cy="36576"/>
          </a:xfrm>
          <a:prstGeom prst="rect">
            <a:avLst/>
          </a:prstGeom>
          <a:solidFill>
            <a:srgbClr val="1677C8">
              <a:alpha val="75000"/>
            </a:srgbClr>
          </a:solidFill>
          <a:ln w="12700">
            <a:solidFill>
              <a:srgbClr val="333333">
                <a:alpha val="0"/>
              </a:srgbClr>
            </a:solidFill>
            <a:prstDash val="solid"/>
          </a:ln>
        </p:spPr>
      </p:sp>
      <p:sp>
        <p:nvSpPr>
          <p:cNvPr id="85" name="Text 83"/>
          <p:cNvSpPr/>
          <p:nvPr/>
        </p:nvSpPr>
        <p:spPr>
          <a:xfrm>
            <a:off x="10067544" y="5632704"/>
            <a:ext cx="1280160" cy="164592"/>
          </a:xfrm>
          <a:prstGeom prst="rect">
            <a:avLst/>
          </a:prstGeom>
          <a:noFill/>
          <a:ln/>
        </p:spPr>
        <p:txBody>
          <a:bodyPr wrap="square" lIns="0" tIns="0" rIns="0" bIns="0" rtlCol="0" anchor="ctr"/>
          <a:lstStyle/>
          <a:p>
            <a:pPr marL="0" indent="0" algn="ctr">
              <a:buNone/>
            </a:pPr>
            <a:r>
              <a:rPr lang="en-US" sz="750" b="1" dirty="0">
                <a:solidFill>
                  <a:srgbClr val="667085"/>
                </a:solidFill>
              </a:rPr>
              <a:t>Allure Report</a:t>
            </a:r>
            <a:endParaRPr lang="en-US" sz="750" dirty="0"/>
          </a:p>
        </p:txBody>
      </p:sp>
      <p:sp>
        <p:nvSpPr>
          <p:cNvPr id="86" name="Shape 84"/>
          <p:cNvSpPr/>
          <p:nvPr/>
        </p:nvSpPr>
        <p:spPr>
          <a:xfrm>
            <a:off x="384048" y="6473952"/>
            <a:ext cx="11384280" cy="0"/>
          </a:xfrm>
          <a:prstGeom prst="line">
            <a:avLst/>
          </a:prstGeom>
          <a:noFill/>
          <a:ln w="12700">
            <a:solidFill>
              <a:srgbClr val="D6E4F2"/>
            </a:solidFill>
            <a:prstDash val="solid"/>
          </a:ln>
        </p:spPr>
      </p:sp>
      <p:sp>
        <p:nvSpPr>
          <p:cNvPr id="87" name="Text 85"/>
          <p:cNvSpPr/>
          <p:nvPr/>
        </p:nvSpPr>
        <p:spPr>
          <a:xfrm>
            <a:off x="384048" y="6547104"/>
            <a:ext cx="5303520" cy="164592"/>
          </a:xfrm>
          <a:prstGeom prst="rect">
            <a:avLst/>
          </a:prstGeom>
          <a:noFill/>
          <a:ln/>
        </p:spPr>
        <p:txBody>
          <a:bodyPr wrap="square" lIns="0" tIns="0" rIns="0" bIns="0" rtlCol="0" anchor="ctr"/>
          <a:lstStyle/>
          <a:p>
            <a:pPr marL="0" indent="0">
              <a:buNone/>
            </a:pPr>
            <a:r>
              <a:rPr lang="en-US" sz="750" dirty="0">
                <a:solidFill>
                  <a:srgbClr val="667085"/>
                </a:solidFill>
              </a:rPr>
              <a:t>Goibibo End-to-End Automation Testing Framework</a:t>
            </a:r>
            <a:endParaRPr lang="en-US" sz="750" dirty="0"/>
          </a:p>
        </p:txBody>
      </p:sp>
      <p:sp>
        <p:nvSpPr>
          <p:cNvPr id="88" name="Text 86"/>
          <p:cNvSpPr/>
          <p:nvPr/>
        </p:nvSpPr>
        <p:spPr>
          <a:xfrm>
            <a:off x="11384280" y="6528816"/>
            <a:ext cx="347472" cy="201168"/>
          </a:xfrm>
          <a:prstGeom prst="rect">
            <a:avLst/>
          </a:prstGeom>
          <a:noFill/>
          <a:ln/>
        </p:spPr>
        <p:txBody>
          <a:bodyPr wrap="square" lIns="0" tIns="0" rIns="0" bIns="0" rtlCol="0" anchor="ctr"/>
          <a:lstStyle/>
          <a:p>
            <a:pPr marL="0" indent="0" algn="r">
              <a:buNone/>
            </a:pPr>
            <a:r>
              <a:rPr lang="en-US" sz="850" b="1" dirty="0">
                <a:solidFill>
                  <a:srgbClr val="1677C8"/>
                </a:solidFill>
              </a:rPr>
              <a:t>04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677C8"/>
          </a:solidFill>
          <a:ln w="12700">
            <a:solidFill>
              <a:srgbClr val="1677C8"/>
            </a:solidFill>
            <a:prstDash val="solid"/>
          </a:ln>
        </p:spPr>
      </p:sp>
      <p:sp>
        <p:nvSpPr>
          <p:cNvPr id="3" name="Shape 1"/>
          <p:cNvSpPr/>
          <p:nvPr/>
        </p:nvSpPr>
        <p:spPr>
          <a:xfrm>
            <a:off x="0" y="164592"/>
            <a:ext cx="12191695" cy="566928"/>
          </a:xfrm>
          <a:prstGeom prst="rect">
            <a:avLst/>
          </a:prstGeom>
          <a:solidFill>
            <a:srgbClr val="FFFFFF"/>
          </a:solidFill>
          <a:ln w="12700">
            <a:solidFill>
              <a:srgbClr val="FFFFFF"/>
            </a:solidFill>
            <a:prstDash val="solid"/>
          </a:ln>
        </p:spPr>
      </p:sp>
      <p:sp>
        <p:nvSpPr>
          <p:cNvPr id="4" name="Text 2"/>
          <p:cNvSpPr/>
          <p:nvPr/>
        </p:nvSpPr>
        <p:spPr>
          <a:xfrm>
            <a:off x="384048" y="237744"/>
            <a:ext cx="1143000" cy="292608"/>
          </a:xfrm>
          <a:prstGeom prst="rect">
            <a:avLst/>
          </a:prstGeom>
          <a:noFill/>
          <a:ln/>
        </p:spPr>
        <p:txBody>
          <a:bodyPr wrap="square" lIns="0" tIns="0" rIns="0" bIns="0" rtlCol="0" anchor="ctr"/>
          <a:lstStyle/>
          <a:p>
            <a:pPr marL="0" indent="0">
              <a:buNone/>
            </a:pPr>
            <a:r>
              <a:rPr lang="en-US" sz="1600" b="1" dirty="0">
                <a:solidFill>
                  <a:srgbClr val="F05A28"/>
                </a:solidFill>
                <a:latin typeface="Aptos Display" pitchFamily="34" charset="0"/>
                <a:ea typeface="Aptos Display" pitchFamily="34" charset="-122"/>
                <a:cs typeface="Aptos Display" pitchFamily="34" charset="-120"/>
              </a:rPr>
              <a:t>goibibo</a:t>
            </a:r>
            <a:endParaRPr lang="en-US" sz="1600" dirty="0"/>
          </a:p>
        </p:txBody>
      </p:sp>
      <p:sp>
        <p:nvSpPr>
          <p:cNvPr id="5" name="Text 3"/>
          <p:cNvSpPr/>
          <p:nvPr/>
        </p:nvSpPr>
        <p:spPr>
          <a:xfrm>
            <a:off x="1335024" y="265176"/>
            <a:ext cx="1170432" cy="228600"/>
          </a:xfrm>
          <a:prstGeom prst="rect">
            <a:avLst/>
          </a:prstGeom>
          <a:noFill/>
          <a:ln/>
        </p:spPr>
        <p:txBody>
          <a:bodyPr wrap="square" lIns="0" tIns="0" rIns="0" bIns="0" rtlCol="0" anchor="ctr"/>
          <a:lstStyle/>
          <a:p>
            <a:pPr marL="0" indent="0">
              <a:buNone/>
            </a:pPr>
            <a:r>
              <a:rPr lang="en-US" sz="950" dirty="0">
                <a:solidFill>
                  <a:srgbClr val="1677C8"/>
                </a:solidFill>
                <a:latin typeface="Aptos" pitchFamily="34" charset="0"/>
                <a:ea typeface="Aptos" pitchFamily="34" charset="-122"/>
                <a:cs typeface="Aptos" pitchFamily="34" charset="-120"/>
              </a:rPr>
              <a:t>automation</a:t>
            </a:r>
            <a:endParaRPr lang="en-US" sz="950" dirty="0"/>
          </a:p>
        </p:txBody>
      </p:sp>
      <p:sp>
        <p:nvSpPr>
          <p:cNvPr id="6" name="Text 4"/>
          <p:cNvSpPr/>
          <p:nvPr/>
        </p:nvSpPr>
        <p:spPr>
          <a:xfrm>
            <a:off x="384048" y="868680"/>
            <a:ext cx="8046720" cy="347472"/>
          </a:xfrm>
          <a:prstGeom prst="rect">
            <a:avLst/>
          </a:prstGeom>
          <a:noFill/>
          <a:ln/>
        </p:spPr>
        <p:txBody>
          <a:bodyPr wrap="square" lIns="0" tIns="0" rIns="0" bIns="0" rtlCol="0" anchor="ctr"/>
          <a:lstStyle/>
          <a:p>
            <a:pPr marL="0" indent="0">
              <a:buNone/>
            </a:pPr>
            <a:r>
              <a:rPr lang="en-US" sz="2400" b="1" dirty="0">
                <a:solidFill>
                  <a:srgbClr val="14375F"/>
                </a:solidFill>
                <a:latin typeface="Aptos Display" pitchFamily="34" charset="0"/>
                <a:ea typeface="Aptos Display" pitchFamily="34" charset="-122"/>
                <a:cs typeface="Aptos Display" pitchFamily="34" charset="-120"/>
              </a:rPr>
              <a:t>Goibibo Bus Automation — Aditya Pandey</a:t>
            </a:r>
            <a:endParaRPr lang="en-US" sz="2400" dirty="0"/>
          </a:p>
        </p:txBody>
      </p:sp>
      <p:sp>
        <p:nvSpPr>
          <p:cNvPr id="7" name="Text 5"/>
          <p:cNvSpPr/>
          <p:nvPr/>
        </p:nvSpPr>
        <p:spPr>
          <a:xfrm>
            <a:off x="393192" y="1234440"/>
            <a:ext cx="7772400" cy="228600"/>
          </a:xfrm>
          <a:prstGeom prst="rect">
            <a:avLst/>
          </a:prstGeom>
          <a:noFill/>
          <a:ln/>
        </p:spPr>
        <p:txBody>
          <a:bodyPr wrap="square" lIns="0" tIns="0" rIns="0" bIns="0" rtlCol="0" anchor="ctr"/>
          <a:lstStyle/>
          <a:p>
            <a:pPr marL="0" indent="0">
              <a:buNone/>
            </a:pPr>
            <a:r>
              <a:rPr lang="en-US" sz="1050" dirty="0">
                <a:solidFill>
                  <a:srgbClr val="667085"/>
                </a:solidFill>
              </a:rPr>
              <a:t>Goibibo Bus | Aditya Pandey | Superset ID: 5097819</a:t>
            </a:r>
            <a:endParaRPr lang="en-US" sz="1050" dirty="0"/>
          </a:p>
        </p:txBody>
      </p:sp>
      <p:sp>
        <p:nvSpPr>
          <p:cNvPr id="8" name="Shape 6"/>
          <p:cNvSpPr/>
          <p:nvPr/>
        </p:nvSpPr>
        <p:spPr>
          <a:xfrm>
            <a:off x="9829800" y="713232"/>
            <a:ext cx="2103120" cy="1554480"/>
          </a:xfrm>
          <a:prstGeom prst="arc">
            <a:avLst/>
          </a:prstGeom>
          <a:noFill/>
          <a:ln w="25400">
            <a:solidFill>
              <a:srgbClr val="00A3E0">
                <a:alpha val="70000"/>
              </a:srgbClr>
            </a:solidFill>
            <a:prstDash val="solid"/>
          </a:ln>
        </p:spPr>
      </p:sp>
      <p:sp>
        <p:nvSpPr>
          <p:cNvPr id="9" name="Shape 7"/>
          <p:cNvSpPr/>
          <p:nvPr/>
        </p:nvSpPr>
        <p:spPr>
          <a:xfrm>
            <a:off x="10972800" y="841248"/>
            <a:ext cx="585216" cy="201168"/>
          </a:xfrm>
          <a:prstGeom prst="line">
            <a:avLst/>
          </a:prstGeom>
          <a:noFill/>
          <a:ln w="25400">
            <a:solidFill>
              <a:srgbClr val="1677C8"/>
            </a:solidFill>
            <a:prstDash val="solid"/>
            <a:headEnd type="none"/>
            <a:tailEnd type="triangle"/>
          </a:ln>
        </p:spPr>
      </p:sp>
      <p:sp>
        <p:nvSpPr>
          <p:cNvPr id="10" name="Shape 8"/>
          <p:cNvSpPr/>
          <p:nvPr/>
        </p:nvSpPr>
        <p:spPr>
          <a:xfrm>
            <a:off x="438912" y="1572768"/>
            <a:ext cx="5413248" cy="4526280"/>
          </a:xfrm>
          <a:prstGeom prst="roundRect">
            <a:avLst>
              <a:gd name="adj" fmla="val 1616"/>
            </a:avLst>
          </a:prstGeom>
          <a:solidFill>
            <a:srgbClr val="FFFFFF"/>
          </a:solidFill>
          <a:ln w="12700">
            <a:solidFill>
              <a:srgbClr val="D6E4F2"/>
            </a:solidFill>
            <a:prstDash val="solid"/>
          </a:ln>
        </p:spPr>
      </p:sp>
      <p:sp>
        <p:nvSpPr>
          <p:cNvPr id="11" name="Shape 9"/>
          <p:cNvSpPr/>
          <p:nvPr/>
        </p:nvSpPr>
        <p:spPr>
          <a:xfrm>
            <a:off x="6263640" y="1572768"/>
            <a:ext cx="5413248" cy="4526280"/>
          </a:xfrm>
          <a:prstGeom prst="roundRect">
            <a:avLst>
              <a:gd name="adj" fmla="val 1616"/>
            </a:avLst>
          </a:prstGeom>
          <a:solidFill>
            <a:srgbClr val="FFFFFF"/>
          </a:solidFill>
          <a:ln w="12700">
            <a:solidFill>
              <a:srgbClr val="D6E4F2"/>
            </a:solidFill>
            <a:prstDash val="solid"/>
          </a:ln>
        </p:spPr>
      </p:sp>
      <p:sp>
        <p:nvSpPr>
          <p:cNvPr id="12" name="Shape 10"/>
          <p:cNvSpPr/>
          <p:nvPr/>
        </p:nvSpPr>
        <p:spPr>
          <a:xfrm>
            <a:off x="438912" y="1572768"/>
            <a:ext cx="5413248" cy="384048"/>
          </a:xfrm>
          <a:prstGeom prst="rect">
            <a:avLst/>
          </a:prstGeom>
          <a:solidFill>
            <a:srgbClr val="1677C8"/>
          </a:solidFill>
          <a:ln w="12700">
            <a:solidFill>
              <a:srgbClr val="1677C8"/>
            </a:solidFill>
            <a:prstDash val="solid"/>
          </a:ln>
        </p:spPr>
      </p:sp>
      <p:sp>
        <p:nvSpPr>
          <p:cNvPr id="13" name="Shape 11"/>
          <p:cNvSpPr/>
          <p:nvPr/>
        </p:nvSpPr>
        <p:spPr>
          <a:xfrm>
            <a:off x="6263640" y="1572768"/>
            <a:ext cx="5413248" cy="384048"/>
          </a:xfrm>
          <a:prstGeom prst="rect">
            <a:avLst/>
          </a:prstGeom>
          <a:solidFill>
            <a:srgbClr val="14375F"/>
          </a:solidFill>
          <a:ln w="12700">
            <a:solidFill>
              <a:srgbClr val="14375F"/>
            </a:solidFill>
            <a:prstDash val="solid"/>
          </a:ln>
        </p:spPr>
      </p:sp>
      <p:sp>
        <p:nvSpPr>
          <p:cNvPr id="14" name="Text 12"/>
          <p:cNvSpPr/>
          <p:nvPr/>
        </p:nvSpPr>
        <p:spPr>
          <a:xfrm>
            <a:off x="603504" y="1682496"/>
            <a:ext cx="2377440" cy="118872"/>
          </a:xfrm>
          <a:prstGeom prst="rect">
            <a:avLst/>
          </a:prstGeom>
          <a:noFill/>
          <a:ln/>
        </p:spPr>
        <p:txBody>
          <a:bodyPr wrap="square" lIns="0" tIns="0" rIns="0" bIns="0" rtlCol="0" anchor="ctr"/>
          <a:lstStyle/>
          <a:p>
            <a:pPr marL="0" indent="0">
              <a:buNone/>
            </a:pPr>
            <a:r>
              <a:rPr lang="en-US" sz="800" b="1" dirty="0">
                <a:solidFill>
                  <a:srgbClr val="FFFFFF"/>
                </a:solidFill>
              </a:rPr>
              <a:t>SELENIUM AUTOMATION</a:t>
            </a:r>
            <a:endParaRPr lang="en-US" sz="800" dirty="0"/>
          </a:p>
        </p:txBody>
      </p:sp>
      <p:sp>
        <p:nvSpPr>
          <p:cNvPr id="15" name="Text 13"/>
          <p:cNvSpPr/>
          <p:nvPr/>
        </p:nvSpPr>
        <p:spPr>
          <a:xfrm>
            <a:off x="6428232" y="1682496"/>
            <a:ext cx="2011680" cy="118872"/>
          </a:xfrm>
          <a:prstGeom prst="rect">
            <a:avLst/>
          </a:prstGeom>
          <a:noFill/>
          <a:ln/>
        </p:spPr>
        <p:txBody>
          <a:bodyPr wrap="square" lIns="0" tIns="0" rIns="0" bIns="0" rtlCol="0" anchor="ctr"/>
          <a:lstStyle/>
          <a:p>
            <a:pPr marL="0" indent="0">
              <a:buNone/>
            </a:pPr>
            <a:r>
              <a:rPr lang="en-US" sz="800" b="1" dirty="0">
                <a:solidFill>
                  <a:srgbClr val="FFFFFF"/>
                </a:solidFill>
              </a:rPr>
              <a:t>BDD AUTOMATION</a:t>
            </a:r>
            <a:endParaRPr lang="en-US" sz="800" dirty="0"/>
          </a:p>
        </p:txBody>
      </p:sp>
      <p:sp>
        <p:nvSpPr>
          <p:cNvPr id="16" name="Shape 14"/>
          <p:cNvSpPr/>
          <p:nvPr/>
        </p:nvSpPr>
        <p:spPr>
          <a:xfrm>
            <a:off x="576072" y="2139696"/>
            <a:ext cx="2560320" cy="868680"/>
          </a:xfrm>
          <a:prstGeom prst="roundRect">
            <a:avLst>
              <a:gd name="adj" fmla="val 8421"/>
            </a:avLst>
          </a:prstGeom>
          <a:solidFill>
            <a:srgbClr val="FFFFFF"/>
          </a:solidFill>
          <a:ln w="12700">
            <a:solidFill>
              <a:srgbClr val="D6E4F2"/>
            </a:solidFill>
            <a:prstDash val="solid"/>
          </a:ln>
        </p:spPr>
      </p:sp>
      <p:sp>
        <p:nvSpPr>
          <p:cNvPr id="17" name="Shape 15"/>
          <p:cNvSpPr/>
          <p:nvPr/>
        </p:nvSpPr>
        <p:spPr>
          <a:xfrm>
            <a:off x="576072" y="2139696"/>
            <a:ext cx="73152" cy="868680"/>
          </a:xfrm>
          <a:prstGeom prst="rect">
            <a:avLst/>
          </a:prstGeom>
          <a:solidFill>
            <a:srgbClr val="1677C8"/>
          </a:solidFill>
          <a:ln w="12700">
            <a:solidFill>
              <a:srgbClr val="1677C8"/>
            </a:solidFill>
            <a:prstDash val="solid"/>
          </a:ln>
        </p:spPr>
      </p:sp>
      <p:sp>
        <p:nvSpPr>
          <p:cNvPr id="18" name="Text 16"/>
          <p:cNvSpPr/>
          <p:nvPr/>
        </p:nvSpPr>
        <p:spPr>
          <a:xfrm>
            <a:off x="722376" y="2249424"/>
            <a:ext cx="2331720" cy="164592"/>
          </a:xfrm>
          <a:prstGeom prst="rect">
            <a:avLst/>
          </a:prstGeom>
          <a:noFill/>
          <a:ln/>
        </p:spPr>
        <p:txBody>
          <a:bodyPr wrap="square" lIns="0" tIns="0" rIns="0" bIns="0" rtlCol="0" anchor="ctr"/>
          <a:lstStyle/>
          <a:p>
            <a:pPr marL="0" indent="0">
              <a:buNone/>
            </a:pPr>
            <a:r>
              <a:rPr lang="en-US" sz="920" b="1" dirty="0">
                <a:solidFill>
                  <a:srgbClr val="1677C8"/>
                </a:solidFill>
              </a:rPr>
              <a:t>Project Profile</a:t>
            </a:r>
            <a:endParaRPr lang="en-US" sz="920" dirty="0"/>
          </a:p>
        </p:txBody>
      </p:sp>
      <p:sp>
        <p:nvSpPr>
          <p:cNvPr id="19" name="Text 17"/>
          <p:cNvSpPr/>
          <p:nvPr/>
        </p:nvSpPr>
        <p:spPr>
          <a:xfrm>
            <a:off x="722376" y="2487168"/>
            <a:ext cx="2331720" cy="457200"/>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Project: Goibibo Bus Automation</a:t>
            </a:r>
            <a:endParaRPr lang="en-US" sz="770" dirty="0"/>
          </a:p>
          <a:p>
            <a:pPr marL="0" indent="0">
              <a:buNone/>
            </a:pPr>
            <a:r>
              <a:rPr lang="en-US" sz="770" dirty="0">
                <a:solidFill>
                  <a:srgbClr val="1F2937"/>
                </a:solidFill>
              </a:rPr>
              <a:t>Domain: Travel &amp; Transport</a:t>
            </a:r>
            <a:endParaRPr lang="en-US" sz="770" dirty="0"/>
          </a:p>
          <a:p>
            <a:pPr marL="0" indent="0">
              <a:buNone/>
            </a:pPr>
            <a:r>
              <a:rPr lang="en-US" sz="770" dirty="0">
                <a:solidFill>
                  <a:srgbClr val="1F2937"/>
                </a:solidFill>
              </a:rPr>
              <a:t>Name: Aditya Pandey</a:t>
            </a:r>
            <a:endParaRPr lang="en-US" sz="770" dirty="0"/>
          </a:p>
          <a:p>
            <a:pPr marL="0" indent="0">
              <a:buNone/>
            </a:pPr>
            <a:r>
              <a:rPr lang="en-US" sz="770" dirty="0">
                <a:solidFill>
                  <a:srgbClr val="1F2937"/>
                </a:solidFill>
              </a:rPr>
              <a:t>Superset ID: 5097819</a:t>
            </a:r>
            <a:endParaRPr lang="en-US" sz="770" dirty="0"/>
          </a:p>
        </p:txBody>
      </p:sp>
      <p:sp>
        <p:nvSpPr>
          <p:cNvPr id="20" name="Shape 18"/>
          <p:cNvSpPr/>
          <p:nvPr/>
        </p:nvSpPr>
        <p:spPr>
          <a:xfrm>
            <a:off x="3273552" y="2139696"/>
            <a:ext cx="2395728" cy="868680"/>
          </a:xfrm>
          <a:prstGeom prst="roundRect">
            <a:avLst>
              <a:gd name="adj" fmla="val 8421"/>
            </a:avLst>
          </a:prstGeom>
          <a:solidFill>
            <a:srgbClr val="FFFFFF"/>
          </a:solidFill>
          <a:ln w="12700">
            <a:solidFill>
              <a:srgbClr val="D6E4F2"/>
            </a:solidFill>
            <a:prstDash val="solid"/>
          </a:ln>
        </p:spPr>
      </p:sp>
      <p:sp>
        <p:nvSpPr>
          <p:cNvPr id="21" name="Shape 19"/>
          <p:cNvSpPr/>
          <p:nvPr/>
        </p:nvSpPr>
        <p:spPr>
          <a:xfrm>
            <a:off x="3273552" y="2139696"/>
            <a:ext cx="73152" cy="868680"/>
          </a:xfrm>
          <a:prstGeom prst="rect">
            <a:avLst/>
          </a:prstGeom>
          <a:solidFill>
            <a:srgbClr val="00A3E0"/>
          </a:solidFill>
          <a:ln w="12700">
            <a:solidFill>
              <a:srgbClr val="00A3E0"/>
            </a:solidFill>
            <a:prstDash val="solid"/>
          </a:ln>
        </p:spPr>
      </p:sp>
      <p:sp>
        <p:nvSpPr>
          <p:cNvPr id="22" name="Text 20"/>
          <p:cNvSpPr/>
          <p:nvPr/>
        </p:nvSpPr>
        <p:spPr>
          <a:xfrm>
            <a:off x="3419856" y="2249424"/>
            <a:ext cx="2167128" cy="164592"/>
          </a:xfrm>
          <a:prstGeom prst="rect">
            <a:avLst/>
          </a:prstGeom>
          <a:noFill/>
          <a:ln/>
        </p:spPr>
        <p:txBody>
          <a:bodyPr wrap="square" lIns="0" tIns="0" rIns="0" bIns="0" rtlCol="0" anchor="ctr"/>
          <a:lstStyle/>
          <a:p>
            <a:pPr marL="0" indent="0">
              <a:buNone/>
            </a:pPr>
            <a:r>
              <a:rPr lang="en-US" sz="920" b="1" dirty="0">
                <a:solidFill>
                  <a:srgbClr val="00A3E0"/>
                </a:solidFill>
              </a:rPr>
              <a:t>Framework</a:t>
            </a:r>
            <a:endParaRPr lang="en-US" sz="920" dirty="0"/>
          </a:p>
        </p:txBody>
      </p:sp>
      <p:sp>
        <p:nvSpPr>
          <p:cNvPr id="23" name="Text 21"/>
          <p:cNvSpPr/>
          <p:nvPr/>
        </p:nvSpPr>
        <p:spPr>
          <a:xfrm>
            <a:off x="3419856" y="2487168"/>
            <a:ext cx="2167128" cy="457200"/>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Python + Selenium WebDriver</a:t>
            </a:r>
            <a:endParaRPr lang="en-US" sz="770" dirty="0"/>
          </a:p>
          <a:p>
            <a:pPr marL="0" indent="0">
              <a:buNone/>
            </a:pPr>
            <a:r>
              <a:rPr lang="en-US" sz="770" dirty="0">
                <a:solidFill>
                  <a:srgbClr val="1F2937"/>
                </a:solidFill>
              </a:rPr>
              <a:t>Pytest + POM Framework</a:t>
            </a:r>
            <a:endParaRPr lang="en-US" sz="770" dirty="0"/>
          </a:p>
          <a:p>
            <a:pPr marL="0" indent="0">
              <a:buNone/>
            </a:pPr>
            <a:r>
              <a:rPr lang="en-US" sz="770" dirty="0">
                <a:solidFill>
                  <a:srgbClr val="1F2937"/>
                </a:solidFill>
              </a:rPr>
              <a:t>Chrome Browser</a:t>
            </a:r>
            <a:endParaRPr lang="en-US" sz="770" dirty="0"/>
          </a:p>
          <a:p>
            <a:pPr marL="0" indent="0">
              <a:buNone/>
            </a:pPr>
            <a:r>
              <a:rPr lang="en-US" sz="770" dirty="0">
                <a:solidFill>
                  <a:srgbClr val="1F2937"/>
                </a:solidFill>
              </a:rPr>
              <a:t>Logs and screenshots enabled</a:t>
            </a:r>
            <a:endParaRPr lang="en-US" sz="770" dirty="0"/>
          </a:p>
        </p:txBody>
      </p:sp>
      <p:sp>
        <p:nvSpPr>
          <p:cNvPr id="24" name="Shape 22"/>
          <p:cNvSpPr/>
          <p:nvPr/>
        </p:nvSpPr>
        <p:spPr>
          <a:xfrm>
            <a:off x="576072" y="3172968"/>
            <a:ext cx="5093208" cy="841248"/>
          </a:xfrm>
          <a:prstGeom prst="roundRect">
            <a:avLst>
              <a:gd name="adj" fmla="val 8696"/>
            </a:avLst>
          </a:prstGeom>
          <a:solidFill>
            <a:srgbClr val="FFFFFF"/>
          </a:solidFill>
          <a:ln w="12700">
            <a:solidFill>
              <a:srgbClr val="D6E4F2"/>
            </a:solidFill>
            <a:prstDash val="solid"/>
          </a:ln>
        </p:spPr>
      </p:sp>
      <p:sp>
        <p:nvSpPr>
          <p:cNvPr id="25" name="Shape 23"/>
          <p:cNvSpPr/>
          <p:nvPr/>
        </p:nvSpPr>
        <p:spPr>
          <a:xfrm>
            <a:off x="576072" y="3172968"/>
            <a:ext cx="73152" cy="841248"/>
          </a:xfrm>
          <a:prstGeom prst="rect">
            <a:avLst/>
          </a:prstGeom>
          <a:solidFill>
            <a:srgbClr val="1677C8"/>
          </a:solidFill>
          <a:ln w="12700">
            <a:solidFill>
              <a:srgbClr val="1677C8"/>
            </a:solidFill>
            <a:prstDash val="solid"/>
          </a:ln>
        </p:spPr>
      </p:sp>
      <p:sp>
        <p:nvSpPr>
          <p:cNvPr id="26" name="Text 24"/>
          <p:cNvSpPr/>
          <p:nvPr/>
        </p:nvSpPr>
        <p:spPr>
          <a:xfrm>
            <a:off x="722376" y="3282696"/>
            <a:ext cx="4864608" cy="164592"/>
          </a:xfrm>
          <a:prstGeom prst="rect">
            <a:avLst/>
          </a:prstGeom>
          <a:noFill/>
          <a:ln/>
        </p:spPr>
        <p:txBody>
          <a:bodyPr wrap="square" lIns="0" tIns="0" rIns="0" bIns="0" rtlCol="0" anchor="ctr"/>
          <a:lstStyle/>
          <a:p>
            <a:pPr marL="0" indent="0">
              <a:buNone/>
            </a:pPr>
            <a:r>
              <a:rPr lang="en-US" sz="920" b="1" dirty="0">
                <a:solidFill>
                  <a:srgbClr val="1677C8"/>
                </a:solidFill>
              </a:rPr>
              <a:t>Simple Project Description</a:t>
            </a:r>
            <a:endParaRPr lang="en-US" sz="920" dirty="0"/>
          </a:p>
        </p:txBody>
      </p:sp>
      <p:sp>
        <p:nvSpPr>
          <p:cNvPr id="27" name="Text 25"/>
          <p:cNvSpPr/>
          <p:nvPr/>
        </p:nvSpPr>
        <p:spPr>
          <a:xfrm>
            <a:off x="722376" y="3520440"/>
            <a:ext cx="4864608" cy="429768"/>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This module automates the complete bus booking workflow on Goibibo using Selenium WebDriver with Python. The framework validates search, selection, booking navigation, form validations, and payment page navigation using reusable Page Object Model architecture.</a:t>
            </a:r>
            <a:endParaRPr lang="en-US" sz="770" dirty="0"/>
          </a:p>
        </p:txBody>
      </p:sp>
      <p:sp>
        <p:nvSpPr>
          <p:cNvPr id="28" name="Text 26"/>
          <p:cNvSpPr/>
          <p:nvPr/>
        </p:nvSpPr>
        <p:spPr>
          <a:xfrm>
            <a:off x="576072" y="4197096"/>
            <a:ext cx="1280160" cy="146304"/>
          </a:xfrm>
          <a:prstGeom prst="rect">
            <a:avLst/>
          </a:prstGeom>
          <a:noFill/>
          <a:ln/>
        </p:spPr>
        <p:txBody>
          <a:bodyPr wrap="square" lIns="0" tIns="0" rIns="0" bIns="0" rtlCol="0" anchor="ctr"/>
          <a:lstStyle/>
          <a:p>
            <a:pPr marL="0" indent="0">
              <a:buNone/>
            </a:pPr>
            <a:r>
              <a:rPr lang="en-US" sz="850" b="1" dirty="0">
                <a:solidFill>
                  <a:srgbClr val="14375F"/>
                </a:solidFill>
              </a:rPr>
              <a:t>Module Flow</a:t>
            </a:r>
            <a:endParaRPr lang="en-US" sz="850" dirty="0"/>
          </a:p>
        </p:txBody>
      </p:sp>
      <p:sp>
        <p:nvSpPr>
          <p:cNvPr id="29" name="Shape 27"/>
          <p:cNvSpPr/>
          <p:nvPr/>
        </p:nvSpPr>
        <p:spPr>
          <a:xfrm>
            <a:off x="576072" y="4425696"/>
            <a:ext cx="662287" cy="393192"/>
          </a:xfrm>
          <a:prstGeom prst="roundRect">
            <a:avLst>
              <a:gd name="adj" fmla="val 13953"/>
            </a:avLst>
          </a:prstGeom>
          <a:solidFill>
            <a:srgbClr val="FFFFFF"/>
          </a:solidFill>
          <a:ln w="12700">
            <a:solidFill>
              <a:srgbClr val="D6E4F2"/>
            </a:solidFill>
            <a:prstDash val="solid"/>
          </a:ln>
        </p:spPr>
      </p:sp>
      <p:sp>
        <p:nvSpPr>
          <p:cNvPr id="30" name="Text 28"/>
          <p:cNvSpPr/>
          <p:nvPr/>
        </p:nvSpPr>
        <p:spPr>
          <a:xfrm>
            <a:off x="603504" y="4517136"/>
            <a:ext cx="607423" cy="146304"/>
          </a:xfrm>
          <a:prstGeom prst="rect">
            <a:avLst/>
          </a:prstGeom>
          <a:noFill/>
          <a:ln/>
        </p:spPr>
        <p:txBody>
          <a:bodyPr wrap="square" lIns="0" tIns="0" rIns="0" bIns="0" rtlCol="0" anchor="ctr">
            <a:normAutofit/>
          </a:bodyPr>
          <a:lstStyle/>
          <a:p>
            <a:pPr marL="0" indent="0" algn="ctr">
              <a:buNone/>
            </a:pPr>
            <a:r>
              <a:rPr lang="en-US" sz="640" b="1" dirty="0">
                <a:solidFill>
                  <a:srgbClr val="1F2937"/>
                </a:solidFill>
              </a:rPr>
              <a:t>Open</a:t>
            </a:r>
            <a:endParaRPr lang="en-US" sz="640" dirty="0"/>
          </a:p>
        </p:txBody>
      </p:sp>
      <p:sp>
        <p:nvSpPr>
          <p:cNvPr id="31" name="Shape 29"/>
          <p:cNvSpPr/>
          <p:nvPr/>
        </p:nvSpPr>
        <p:spPr>
          <a:xfrm>
            <a:off x="1238359" y="4622292"/>
            <a:ext cx="73152" cy="0"/>
          </a:xfrm>
          <a:prstGeom prst="line">
            <a:avLst/>
          </a:prstGeom>
          <a:noFill/>
          <a:ln w="15240">
            <a:solidFill>
              <a:srgbClr val="1677C8"/>
            </a:solidFill>
            <a:prstDash val="solid"/>
            <a:tailEnd type="triangle"/>
          </a:ln>
        </p:spPr>
      </p:sp>
      <p:sp>
        <p:nvSpPr>
          <p:cNvPr id="32" name="Shape 30"/>
          <p:cNvSpPr/>
          <p:nvPr/>
        </p:nvSpPr>
        <p:spPr>
          <a:xfrm>
            <a:off x="1311511" y="4425696"/>
            <a:ext cx="662287" cy="393192"/>
          </a:xfrm>
          <a:prstGeom prst="roundRect">
            <a:avLst>
              <a:gd name="adj" fmla="val 13953"/>
            </a:avLst>
          </a:prstGeom>
          <a:solidFill>
            <a:srgbClr val="F3F8FE"/>
          </a:solidFill>
          <a:ln w="12700">
            <a:solidFill>
              <a:srgbClr val="D6E4F2"/>
            </a:solidFill>
            <a:prstDash val="solid"/>
          </a:ln>
        </p:spPr>
      </p:sp>
      <p:sp>
        <p:nvSpPr>
          <p:cNvPr id="33" name="Text 31"/>
          <p:cNvSpPr/>
          <p:nvPr/>
        </p:nvSpPr>
        <p:spPr>
          <a:xfrm>
            <a:off x="1338943" y="4517136"/>
            <a:ext cx="607423" cy="146304"/>
          </a:xfrm>
          <a:prstGeom prst="rect">
            <a:avLst/>
          </a:prstGeom>
          <a:noFill/>
          <a:ln/>
        </p:spPr>
        <p:txBody>
          <a:bodyPr wrap="square" lIns="0" tIns="0" rIns="0" bIns="0" rtlCol="0" anchor="ctr">
            <a:normAutofit/>
          </a:bodyPr>
          <a:lstStyle/>
          <a:p>
            <a:pPr marL="0" indent="0" algn="ctr">
              <a:buNone/>
            </a:pPr>
            <a:r>
              <a:rPr lang="en-US" sz="640" b="1" dirty="0">
                <a:solidFill>
                  <a:srgbClr val="1F2937"/>
                </a:solidFill>
              </a:rPr>
              <a:t>Bus</a:t>
            </a:r>
            <a:endParaRPr lang="en-US" sz="640" dirty="0"/>
          </a:p>
        </p:txBody>
      </p:sp>
      <p:sp>
        <p:nvSpPr>
          <p:cNvPr id="34" name="Shape 32"/>
          <p:cNvSpPr/>
          <p:nvPr/>
        </p:nvSpPr>
        <p:spPr>
          <a:xfrm>
            <a:off x="1973798" y="4622292"/>
            <a:ext cx="73152" cy="0"/>
          </a:xfrm>
          <a:prstGeom prst="line">
            <a:avLst/>
          </a:prstGeom>
          <a:noFill/>
          <a:ln w="15240">
            <a:solidFill>
              <a:srgbClr val="1677C8"/>
            </a:solidFill>
            <a:prstDash val="solid"/>
            <a:tailEnd type="triangle"/>
          </a:ln>
        </p:spPr>
      </p:sp>
      <p:sp>
        <p:nvSpPr>
          <p:cNvPr id="35" name="Shape 33"/>
          <p:cNvSpPr/>
          <p:nvPr/>
        </p:nvSpPr>
        <p:spPr>
          <a:xfrm>
            <a:off x="2046950" y="4425696"/>
            <a:ext cx="662287" cy="393192"/>
          </a:xfrm>
          <a:prstGeom prst="roundRect">
            <a:avLst>
              <a:gd name="adj" fmla="val 13953"/>
            </a:avLst>
          </a:prstGeom>
          <a:solidFill>
            <a:srgbClr val="FFFFFF"/>
          </a:solidFill>
          <a:ln w="12700">
            <a:solidFill>
              <a:srgbClr val="D6E4F2"/>
            </a:solidFill>
            <a:prstDash val="solid"/>
          </a:ln>
        </p:spPr>
      </p:sp>
      <p:sp>
        <p:nvSpPr>
          <p:cNvPr id="36" name="Text 34"/>
          <p:cNvSpPr/>
          <p:nvPr/>
        </p:nvSpPr>
        <p:spPr>
          <a:xfrm>
            <a:off x="2074382" y="4517136"/>
            <a:ext cx="607423" cy="146304"/>
          </a:xfrm>
          <a:prstGeom prst="rect">
            <a:avLst/>
          </a:prstGeom>
          <a:noFill/>
          <a:ln/>
        </p:spPr>
        <p:txBody>
          <a:bodyPr wrap="square" lIns="0" tIns="0" rIns="0" bIns="0" rtlCol="0" anchor="ctr">
            <a:normAutofit/>
          </a:bodyPr>
          <a:lstStyle/>
          <a:p>
            <a:pPr marL="0" indent="0" algn="ctr">
              <a:buNone/>
            </a:pPr>
            <a:r>
              <a:rPr lang="en-US" sz="640" b="1" dirty="0">
                <a:solidFill>
                  <a:srgbClr val="1F2937"/>
                </a:solidFill>
              </a:rPr>
              <a:t>Source/Dest</a:t>
            </a:r>
            <a:endParaRPr lang="en-US" sz="640" dirty="0"/>
          </a:p>
        </p:txBody>
      </p:sp>
      <p:sp>
        <p:nvSpPr>
          <p:cNvPr id="37" name="Shape 35"/>
          <p:cNvSpPr/>
          <p:nvPr/>
        </p:nvSpPr>
        <p:spPr>
          <a:xfrm>
            <a:off x="2709237" y="4622292"/>
            <a:ext cx="73152" cy="0"/>
          </a:xfrm>
          <a:prstGeom prst="line">
            <a:avLst/>
          </a:prstGeom>
          <a:noFill/>
          <a:ln w="15240">
            <a:solidFill>
              <a:srgbClr val="1677C8"/>
            </a:solidFill>
            <a:prstDash val="solid"/>
            <a:tailEnd type="triangle"/>
          </a:ln>
        </p:spPr>
      </p:sp>
      <p:sp>
        <p:nvSpPr>
          <p:cNvPr id="38" name="Shape 36"/>
          <p:cNvSpPr/>
          <p:nvPr/>
        </p:nvSpPr>
        <p:spPr>
          <a:xfrm>
            <a:off x="2782389" y="4425696"/>
            <a:ext cx="662287" cy="393192"/>
          </a:xfrm>
          <a:prstGeom prst="roundRect">
            <a:avLst>
              <a:gd name="adj" fmla="val 13953"/>
            </a:avLst>
          </a:prstGeom>
          <a:solidFill>
            <a:srgbClr val="F3F8FE"/>
          </a:solidFill>
          <a:ln w="12700">
            <a:solidFill>
              <a:srgbClr val="D6E4F2"/>
            </a:solidFill>
            <a:prstDash val="solid"/>
          </a:ln>
        </p:spPr>
      </p:sp>
      <p:sp>
        <p:nvSpPr>
          <p:cNvPr id="39" name="Text 37"/>
          <p:cNvSpPr/>
          <p:nvPr/>
        </p:nvSpPr>
        <p:spPr>
          <a:xfrm>
            <a:off x="2809821" y="4517136"/>
            <a:ext cx="607423" cy="146304"/>
          </a:xfrm>
          <a:prstGeom prst="rect">
            <a:avLst/>
          </a:prstGeom>
          <a:noFill/>
          <a:ln/>
        </p:spPr>
        <p:txBody>
          <a:bodyPr wrap="square" lIns="0" tIns="0" rIns="0" bIns="0" rtlCol="0" anchor="ctr">
            <a:normAutofit/>
          </a:bodyPr>
          <a:lstStyle/>
          <a:p>
            <a:pPr marL="0" indent="0" algn="ctr">
              <a:buNone/>
            </a:pPr>
            <a:r>
              <a:rPr lang="en-US" sz="640" b="1" dirty="0">
                <a:solidFill>
                  <a:srgbClr val="1F2937"/>
                </a:solidFill>
              </a:rPr>
              <a:t>Search</a:t>
            </a:r>
            <a:endParaRPr lang="en-US" sz="640" dirty="0"/>
          </a:p>
        </p:txBody>
      </p:sp>
      <p:sp>
        <p:nvSpPr>
          <p:cNvPr id="40" name="Shape 38"/>
          <p:cNvSpPr/>
          <p:nvPr/>
        </p:nvSpPr>
        <p:spPr>
          <a:xfrm>
            <a:off x="3444675" y="4622292"/>
            <a:ext cx="73152" cy="0"/>
          </a:xfrm>
          <a:prstGeom prst="line">
            <a:avLst/>
          </a:prstGeom>
          <a:noFill/>
          <a:ln w="15240">
            <a:solidFill>
              <a:srgbClr val="1677C8"/>
            </a:solidFill>
            <a:prstDash val="solid"/>
            <a:tailEnd type="triangle"/>
          </a:ln>
        </p:spPr>
      </p:sp>
      <p:sp>
        <p:nvSpPr>
          <p:cNvPr id="41" name="Shape 39"/>
          <p:cNvSpPr/>
          <p:nvPr/>
        </p:nvSpPr>
        <p:spPr>
          <a:xfrm>
            <a:off x="3517827" y="4425696"/>
            <a:ext cx="662287" cy="393192"/>
          </a:xfrm>
          <a:prstGeom prst="roundRect">
            <a:avLst>
              <a:gd name="adj" fmla="val 13953"/>
            </a:avLst>
          </a:prstGeom>
          <a:solidFill>
            <a:srgbClr val="FFFFFF"/>
          </a:solidFill>
          <a:ln w="12700">
            <a:solidFill>
              <a:srgbClr val="D6E4F2"/>
            </a:solidFill>
            <a:prstDash val="solid"/>
          </a:ln>
        </p:spPr>
      </p:sp>
      <p:sp>
        <p:nvSpPr>
          <p:cNvPr id="42" name="Text 40"/>
          <p:cNvSpPr/>
          <p:nvPr/>
        </p:nvSpPr>
        <p:spPr>
          <a:xfrm>
            <a:off x="3545259" y="4517136"/>
            <a:ext cx="607423" cy="146304"/>
          </a:xfrm>
          <a:prstGeom prst="rect">
            <a:avLst/>
          </a:prstGeom>
          <a:noFill/>
          <a:ln/>
        </p:spPr>
        <p:txBody>
          <a:bodyPr wrap="square" lIns="0" tIns="0" rIns="0" bIns="0" rtlCol="0" anchor="ctr">
            <a:normAutofit/>
          </a:bodyPr>
          <a:lstStyle/>
          <a:p>
            <a:pPr marL="0" indent="0" algn="ctr">
              <a:buNone/>
            </a:pPr>
            <a:r>
              <a:rPr lang="en-US" sz="640" b="1" dirty="0">
                <a:solidFill>
                  <a:srgbClr val="1F2937"/>
                </a:solidFill>
              </a:rPr>
              <a:t>Seat</a:t>
            </a:r>
            <a:endParaRPr lang="en-US" sz="640" dirty="0"/>
          </a:p>
        </p:txBody>
      </p:sp>
      <p:sp>
        <p:nvSpPr>
          <p:cNvPr id="43" name="Shape 41"/>
          <p:cNvSpPr/>
          <p:nvPr/>
        </p:nvSpPr>
        <p:spPr>
          <a:xfrm>
            <a:off x="4180114" y="4622292"/>
            <a:ext cx="73152" cy="0"/>
          </a:xfrm>
          <a:prstGeom prst="line">
            <a:avLst/>
          </a:prstGeom>
          <a:noFill/>
          <a:ln w="15240">
            <a:solidFill>
              <a:srgbClr val="1677C8"/>
            </a:solidFill>
            <a:prstDash val="solid"/>
            <a:tailEnd type="triangle"/>
          </a:ln>
        </p:spPr>
      </p:sp>
      <p:sp>
        <p:nvSpPr>
          <p:cNvPr id="44" name="Shape 42"/>
          <p:cNvSpPr/>
          <p:nvPr/>
        </p:nvSpPr>
        <p:spPr>
          <a:xfrm>
            <a:off x="4253266" y="4425696"/>
            <a:ext cx="662287" cy="393192"/>
          </a:xfrm>
          <a:prstGeom prst="roundRect">
            <a:avLst>
              <a:gd name="adj" fmla="val 13953"/>
            </a:avLst>
          </a:prstGeom>
          <a:solidFill>
            <a:srgbClr val="F3F8FE"/>
          </a:solidFill>
          <a:ln w="12700">
            <a:solidFill>
              <a:srgbClr val="D6E4F2"/>
            </a:solidFill>
            <a:prstDash val="solid"/>
          </a:ln>
        </p:spPr>
      </p:sp>
      <p:sp>
        <p:nvSpPr>
          <p:cNvPr id="45" name="Text 43"/>
          <p:cNvSpPr/>
          <p:nvPr/>
        </p:nvSpPr>
        <p:spPr>
          <a:xfrm>
            <a:off x="4280698" y="4517136"/>
            <a:ext cx="607423" cy="146304"/>
          </a:xfrm>
          <a:prstGeom prst="rect">
            <a:avLst/>
          </a:prstGeom>
          <a:noFill/>
          <a:ln/>
        </p:spPr>
        <p:txBody>
          <a:bodyPr wrap="square" lIns="0" tIns="0" rIns="0" bIns="0" rtlCol="0" anchor="ctr">
            <a:normAutofit/>
          </a:bodyPr>
          <a:lstStyle/>
          <a:p>
            <a:pPr marL="0" indent="0" algn="ctr">
              <a:buNone/>
            </a:pPr>
            <a:r>
              <a:rPr lang="en-US" sz="640" b="1" dirty="0">
                <a:solidFill>
                  <a:srgbClr val="1F2937"/>
                </a:solidFill>
              </a:rPr>
              <a:t>Booking</a:t>
            </a:r>
            <a:endParaRPr lang="en-US" sz="640" dirty="0"/>
          </a:p>
        </p:txBody>
      </p:sp>
      <p:sp>
        <p:nvSpPr>
          <p:cNvPr id="46" name="Shape 44"/>
          <p:cNvSpPr/>
          <p:nvPr/>
        </p:nvSpPr>
        <p:spPr>
          <a:xfrm>
            <a:off x="4915553" y="4622292"/>
            <a:ext cx="73152" cy="0"/>
          </a:xfrm>
          <a:prstGeom prst="line">
            <a:avLst/>
          </a:prstGeom>
          <a:noFill/>
          <a:ln w="15240">
            <a:solidFill>
              <a:srgbClr val="1677C8"/>
            </a:solidFill>
            <a:prstDash val="solid"/>
            <a:tailEnd type="triangle"/>
          </a:ln>
        </p:spPr>
      </p:sp>
      <p:sp>
        <p:nvSpPr>
          <p:cNvPr id="47" name="Shape 45"/>
          <p:cNvSpPr/>
          <p:nvPr/>
        </p:nvSpPr>
        <p:spPr>
          <a:xfrm>
            <a:off x="4988705" y="4425696"/>
            <a:ext cx="662287" cy="393192"/>
          </a:xfrm>
          <a:prstGeom prst="roundRect">
            <a:avLst>
              <a:gd name="adj" fmla="val 13953"/>
            </a:avLst>
          </a:prstGeom>
          <a:solidFill>
            <a:srgbClr val="FFFFFF"/>
          </a:solidFill>
          <a:ln w="12700">
            <a:solidFill>
              <a:srgbClr val="D6E4F2"/>
            </a:solidFill>
            <a:prstDash val="solid"/>
          </a:ln>
        </p:spPr>
      </p:sp>
      <p:sp>
        <p:nvSpPr>
          <p:cNvPr id="48" name="Text 46"/>
          <p:cNvSpPr/>
          <p:nvPr/>
        </p:nvSpPr>
        <p:spPr>
          <a:xfrm>
            <a:off x="5016137" y="4517136"/>
            <a:ext cx="607423" cy="146304"/>
          </a:xfrm>
          <a:prstGeom prst="rect">
            <a:avLst/>
          </a:prstGeom>
          <a:noFill/>
          <a:ln/>
        </p:spPr>
        <p:txBody>
          <a:bodyPr wrap="square" lIns="0" tIns="0" rIns="0" bIns="0" rtlCol="0" anchor="ctr">
            <a:normAutofit/>
          </a:bodyPr>
          <a:lstStyle/>
          <a:p>
            <a:pPr marL="0" indent="0" algn="ctr">
              <a:buNone/>
            </a:pPr>
            <a:r>
              <a:rPr lang="en-US" sz="640" b="1" dirty="0">
                <a:solidFill>
                  <a:srgbClr val="1F2937"/>
                </a:solidFill>
              </a:rPr>
              <a:t>Payment</a:t>
            </a:r>
            <a:endParaRPr lang="en-US" sz="640" dirty="0"/>
          </a:p>
        </p:txBody>
      </p:sp>
      <p:sp>
        <p:nvSpPr>
          <p:cNvPr id="49" name="Shape 47"/>
          <p:cNvSpPr/>
          <p:nvPr/>
        </p:nvSpPr>
        <p:spPr>
          <a:xfrm>
            <a:off x="576072" y="5029200"/>
            <a:ext cx="2487168" cy="768096"/>
          </a:xfrm>
          <a:prstGeom prst="roundRect">
            <a:avLst>
              <a:gd name="adj" fmla="val 9524"/>
            </a:avLst>
          </a:prstGeom>
          <a:solidFill>
            <a:srgbClr val="FFFFFF"/>
          </a:solidFill>
          <a:ln w="12700">
            <a:solidFill>
              <a:srgbClr val="D6E4F2"/>
            </a:solidFill>
            <a:prstDash val="solid"/>
          </a:ln>
        </p:spPr>
      </p:sp>
      <p:sp>
        <p:nvSpPr>
          <p:cNvPr id="50" name="Shape 48"/>
          <p:cNvSpPr/>
          <p:nvPr/>
        </p:nvSpPr>
        <p:spPr>
          <a:xfrm>
            <a:off x="576072" y="5029200"/>
            <a:ext cx="73152" cy="768096"/>
          </a:xfrm>
          <a:prstGeom prst="rect">
            <a:avLst/>
          </a:prstGeom>
          <a:solidFill>
            <a:srgbClr val="1677C8"/>
          </a:solidFill>
          <a:ln w="12700">
            <a:solidFill>
              <a:srgbClr val="1677C8"/>
            </a:solidFill>
            <a:prstDash val="solid"/>
          </a:ln>
        </p:spPr>
      </p:sp>
      <p:sp>
        <p:nvSpPr>
          <p:cNvPr id="51" name="Text 49"/>
          <p:cNvSpPr/>
          <p:nvPr/>
        </p:nvSpPr>
        <p:spPr>
          <a:xfrm>
            <a:off x="722376" y="5138928"/>
            <a:ext cx="2258568" cy="164592"/>
          </a:xfrm>
          <a:prstGeom prst="rect">
            <a:avLst/>
          </a:prstGeom>
          <a:noFill/>
          <a:ln/>
        </p:spPr>
        <p:txBody>
          <a:bodyPr wrap="square" lIns="0" tIns="0" rIns="0" bIns="0" rtlCol="0" anchor="ctr"/>
          <a:lstStyle/>
          <a:p>
            <a:pPr marL="0" indent="0">
              <a:buNone/>
            </a:pPr>
            <a:r>
              <a:rPr lang="en-US" sz="920" b="1" dirty="0">
                <a:solidFill>
                  <a:srgbClr val="1677C8"/>
                </a:solidFill>
              </a:rPr>
              <a:t>Test Environment</a:t>
            </a:r>
            <a:endParaRPr lang="en-US" sz="920" dirty="0"/>
          </a:p>
        </p:txBody>
      </p:sp>
      <p:sp>
        <p:nvSpPr>
          <p:cNvPr id="52" name="Text 50"/>
          <p:cNvSpPr/>
          <p:nvPr/>
        </p:nvSpPr>
        <p:spPr>
          <a:xfrm>
            <a:off x="722376" y="5376672"/>
            <a:ext cx="2258568" cy="356616"/>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OS: Windows 11</a:t>
            </a:r>
            <a:endParaRPr lang="en-US" sz="770" dirty="0"/>
          </a:p>
          <a:p>
            <a:pPr marL="0" indent="0">
              <a:buNone/>
            </a:pPr>
            <a:r>
              <a:rPr lang="en-US" sz="770" dirty="0">
                <a:solidFill>
                  <a:srgbClr val="1F2937"/>
                </a:solidFill>
              </a:rPr>
              <a:t>Framework: POM</a:t>
            </a:r>
            <a:endParaRPr lang="en-US" sz="770" dirty="0"/>
          </a:p>
          <a:p>
            <a:pPr marL="0" indent="0">
              <a:buNone/>
            </a:pPr>
            <a:r>
              <a:rPr lang="en-US" sz="770" dirty="0">
                <a:solidFill>
                  <a:srgbClr val="1F2937"/>
                </a:solidFill>
              </a:rPr>
              <a:t>Logs: Enabled</a:t>
            </a:r>
            <a:endParaRPr lang="en-US" sz="770" dirty="0"/>
          </a:p>
          <a:p>
            <a:pPr marL="0" indent="0">
              <a:buNone/>
            </a:pPr>
            <a:r>
              <a:rPr lang="en-US" sz="770" dirty="0">
                <a:solidFill>
                  <a:srgbClr val="1F2937"/>
                </a:solidFill>
              </a:rPr>
              <a:t>Screenshots: Enabled</a:t>
            </a:r>
            <a:endParaRPr lang="en-US" sz="770" dirty="0"/>
          </a:p>
        </p:txBody>
      </p:sp>
      <p:sp>
        <p:nvSpPr>
          <p:cNvPr id="53" name="Shape 51"/>
          <p:cNvSpPr/>
          <p:nvPr/>
        </p:nvSpPr>
        <p:spPr>
          <a:xfrm>
            <a:off x="3182112" y="5029200"/>
            <a:ext cx="2487168" cy="768096"/>
          </a:xfrm>
          <a:prstGeom prst="roundRect">
            <a:avLst>
              <a:gd name="adj" fmla="val 9524"/>
            </a:avLst>
          </a:prstGeom>
          <a:solidFill>
            <a:srgbClr val="FFFFFF"/>
          </a:solidFill>
          <a:ln w="12700">
            <a:solidFill>
              <a:srgbClr val="D6E4F2"/>
            </a:solidFill>
            <a:prstDash val="solid"/>
          </a:ln>
        </p:spPr>
      </p:sp>
      <p:sp>
        <p:nvSpPr>
          <p:cNvPr id="54" name="Shape 52"/>
          <p:cNvSpPr/>
          <p:nvPr/>
        </p:nvSpPr>
        <p:spPr>
          <a:xfrm>
            <a:off x="3182112" y="5029200"/>
            <a:ext cx="73152" cy="768096"/>
          </a:xfrm>
          <a:prstGeom prst="rect">
            <a:avLst/>
          </a:prstGeom>
          <a:solidFill>
            <a:srgbClr val="12B76A"/>
          </a:solidFill>
          <a:ln w="12700">
            <a:solidFill>
              <a:srgbClr val="12B76A"/>
            </a:solidFill>
            <a:prstDash val="solid"/>
          </a:ln>
        </p:spPr>
      </p:sp>
      <p:sp>
        <p:nvSpPr>
          <p:cNvPr id="55" name="Text 53"/>
          <p:cNvSpPr/>
          <p:nvPr/>
        </p:nvSpPr>
        <p:spPr>
          <a:xfrm>
            <a:off x="3328416" y="5138928"/>
            <a:ext cx="2258568" cy="164592"/>
          </a:xfrm>
          <a:prstGeom prst="rect">
            <a:avLst/>
          </a:prstGeom>
          <a:noFill/>
          <a:ln/>
        </p:spPr>
        <p:txBody>
          <a:bodyPr wrap="square" lIns="0" tIns="0" rIns="0" bIns="0" rtlCol="0" anchor="ctr"/>
          <a:lstStyle/>
          <a:p>
            <a:pPr marL="0" indent="0">
              <a:buNone/>
            </a:pPr>
            <a:r>
              <a:rPr lang="en-US" sz="920" b="1" dirty="0">
                <a:solidFill>
                  <a:srgbClr val="12B76A"/>
                </a:solidFill>
              </a:rPr>
              <a:t>Execution Result</a:t>
            </a:r>
            <a:endParaRPr lang="en-US" sz="920" dirty="0"/>
          </a:p>
        </p:txBody>
      </p:sp>
      <p:sp>
        <p:nvSpPr>
          <p:cNvPr id="56" name="Text 54"/>
          <p:cNvSpPr/>
          <p:nvPr/>
        </p:nvSpPr>
        <p:spPr>
          <a:xfrm>
            <a:off x="3328416" y="5376672"/>
            <a:ext cx="2258568" cy="356616"/>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Total Tests: 6</a:t>
            </a:r>
            <a:endParaRPr lang="en-US" sz="770" dirty="0"/>
          </a:p>
          <a:p>
            <a:pPr marL="0" indent="0">
              <a:buNone/>
            </a:pPr>
            <a:r>
              <a:rPr lang="en-US" sz="770" dirty="0">
                <a:solidFill>
                  <a:srgbClr val="1F2937"/>
                </a:solidFill>
              </a:rPr>
              <a:t>Passed: 6</a:t>
            </a:r>
            <a:endParaRPr lang="en-US" sz="770" dirty="0"/>
          </a:p>
          <a:p>
            <a:pPr marL="0" indent="0">
              <a:buNone/>
            </a:pPr>
            <a:r>
              <a:rPr lang="en-US" sz="770" dirty="0">
                <a:solidFill>
                  <a:srgbClr val="1F2937"/>
                </a:solidFill>
              </a:rPr>
              <a:t>Failed: 0</a:t>
            </a:r>
            <a:endParaRPr lang="en-US" sz="770" dirty="0"/>
          </a:p>
          <a:p>
            <a:pPr marL="0" indent="0">
              <a:buNone/>
            </a:pPr>
            <a:r>
              <a:rPr lang="en-US" sz="770" dirty="0">
                <a:solidFill>
                  <a:srgbClr val="1F2937"/>
                </a:solidFill>
              </a:rPr>
              <a:t>Accuracy: 100%</a:t>
            </a:r>
            <a:endParaRPr lang="en-US" sz="770" dirty="0"/>
          </a:p>
        </p:txBody>
      </p:sp>
      <p:sp>
        <p:nvSpPr>
          <p:cNvPr id="57" name="Shape 55"/>
          <p:cNvSpPr/>
          <p:nvPr/>
        </p:nvSpPr>
        <p:spPr>
          <a:xfrm>
            <a:off x="6400800" y="2139696"/>
            <a:ext cx="5093208" cy="804672"/>
          </a:xfrm>
          <a:prstGeom prst="roundRect">
            <a:avLst>
              <a:gd name="adj" fmla="val 9091"/>
            </a:avLst>
          </a:prstGeom>
          <a:solidFill>
            <a:srgbClr val="FFFFFF"/>
          </a:solidFill>
          <a:ln w="12700">
            <a:solidFill>
              <a:srgbClr val="D6E4F2"/>
            </a:solidFill>
            <a:prstDash val="solid"/>
          </a:ln>
        </p:spPr>
      </p:sp>
      <p:sp>
        <p:nvSpPr>
          <p:cNvPr id="58" name="Shape 56"/>
          <p:cNvSpPr/>
          <p:nvPr/>
        </p:nvSpPr>
        <p:spPr>
          <a:xfrm>
            <a:off x="6400800" y="2139696"/>
            <a:ext cx="73152" cy="804672"/>
          </a:xfrm>
          <a:prstGeom prst="rect">
            <a:avLst/>
          </a:prstGeom>
          <a:solidFill>
            <a:srgbClr val="14375F"/>
          </a:solidFill>
          <a:ln w="12700">
            <a:solidFill>
              <a:srgbClr val="14375F"/>
            </a:solidFill>
            <a:prstDash val="solid"/>
          </a:ln>
        </p:spPr>
      </p:sp>
      <p:sp>
        <p:nvSpPr>
          <p:cNvPr id="59" name="Text 57"/>
          <p:cNvSpPr/>
          <p:nvPr/>
        </p:nvSpPr>
        <p:spPr>
          <a:xfrm>
            <a:off x="6547104" y="2249424"/>
            <a:ext cx="4864608" cy="164592"/>
          </a:xfrm>
          <a:prstGeom prst="rect">
            <a:avLst/>
          </a:prstGeom>
          <a:noFill/>
          <a:ln/>
        </p:spPr>
        <p:txBody>
          <a:bodyPr wrap="square" lIns="0" tIns="0" rIns="0" bIns="0" rtlCol="0" anchor="ctr"/>
          <a:lstStyle/>
          <a:p>
            <a:pPr marL="0" indent="0">
              <a:buNone/>
            </a:pPr>
            <a:r>
              <a:rPr lang="en-US" sz="920" b="1" dirty="0">
                <a:solidFill>
                  <a:srgbClr val="14375F"/>
                </a:solidFill>
              </a:rPr>
              <a:t>BDD Test Strategy</a:t>
            </a:r>
            <a:endParaRPr lang="en-US" sz="920" dirty="0"/>
          </a:p>
        </p:txBody>
      </p:sp>
      <p:sp>
        <p:nvSpPr>
          <p:cNvPr id="60" name="Text 58"/>
          <p:cNvSpPr/>
          <p:nvPr/>
        </p:nvSpPr>
        <p:spPr>
          <a:xfrm>
            <a:off x="6547104" y="2487168"/>
            <a:ext cx="4864608" cy="393192"/>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Behave BDD uses Gherkin feature files with Given, When, Then syntax. Scenarios are readable for technical and non-technical reviewers and map to Selenium step definitions.</a:t>
            </a:r>
            <a:endParaRPr lang="en-US" sz="770" dirty="0"/>
          </a:p>
        </p:txBody>
      </p:sp>
      <p:sp>
        <p:nvSpPr>
          <p:cNvPr id="61" name="Shape 59"/>
          <p:cNvSpPr/>
          <p:nvPr/>
        </p:nvSpPr>
        <p:spPr>
          <a:xfrm>
            <a:off x="6400800" y="3108960"/>
            <a:ext cx="2487168" cy="1097280"/>
          </a:xfrm>
          <a:prstGeom prst="roundRect">
            <a:avLst>
              <a:gd name="adj" fmla="val 6667"/>
            </a:avLst>
          </a:prstGeom>
          <a:solidFill>
            <a:srgbClr val="FFFFFF"/>
          </a:solidFill>
          <a:ln w="12700">
            <a:solidFill>
              <a:srgbClr val="D6E4F2"/>
            </a:solidFill>
            <a:prstDash val="solid"/>
          </a:ln>
        </p:spPr>
      </p:sp>
      <p:sp>
        <p:nvSpPr>
          <p:cNvPr id="62" name="Shape 60"/>
          <p:cNvSpPr/>
          <p:nvPr/>
        </p:nvSpPr>
        <p:spPr>
          <a:xfrm>
            <a:off x="6400800" y="3108960"/>
            <a:ext cx="73152" cy="1097280"/>
          </a:xfrm>
          <a:prstGeom prst="rect">
            <a:avLst/>
          </a:prstGeom>
          <a:solidFill>
            <a:srgbClr val="12B76A"/>
          </a:solidFill>
          <a:ln w="12700">
            <a:solidFill>
              <a:srgbClr val="12B76A"/>
            </a:solidFill>
            <a:prstDash val="solid"/>
          </a:ln>
        </p:spPr>
      </p:sp>
      <p:sp>
        <p:nvSpPr>
          <p:cNvPr id="63" name="Text 61"/>
          <p:cNvSpPr/>
          <p:nvPr/>
        </p:nvSpPr>
        <p:spPr>
          <a:xfrm>
            <a:off x="6547104" y="3218688"/>
            <a:ext cx="2258568" cy="164592"/>
          </a:xfrm>
          <a:prstGeom prst="rect">
            <a:avLst/>
          </a:prstGeom>
          <a:noFill/>
          <a:ln/>
        </p:spPr>
        <p:txBody>
          <a:bodyPr wrap="square" lIns="0" tIns="0" rIns="0" bIns="0" rtlCol="0" anchor="ctr"/>
          <a:lstStyle/>
          <a:p>
            <a:pPr marL="0" indent="0">
              <a:buNone/>
            </a:pPr>
            <a:r>
              <a:rPr lang="en-US" sz="920" b="1" dirty="0">
                <a:solidFill>
                  <a:srgbClr val="12B76A"/>
                </a:solidFill>
              </a:rPr>
              <a:t>Positive Test Cases</a:t>
            </a:r>
            <a:endParaRPr lang="en-US" sz="920" dirty="0"/>
          </a:p>
        </p:txBody>
      </p:sp>
      <p:sp>
        <p:nvSpPr>
          <p:cNvPr id="64" name="Text 62"/>
          <p:cNvSpPr/>
          <p:nvPr/>
        </p:nvSpPr>
        <p:spPr>
          <a:xfrm>
            <a:off x="6547104" y="3456432"/>
            <a:ext cx="2258568" cy="685800"/>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1. Successful bus search</a:t>
            </a:r>
            <a:endParaRPr lang="en-US" sz="770" dirty="0"/>
          </a:p>
          <a:p>
            <a:pPr marL="0" indent="0">
              <a:buNone/>
            </a:pPr>
            <a:r>
              <a:rPr lang="en-US" sz="770" dirty="0">
                <a:solidFill>
                  <a:srgbClr val="1F2937"/>
                </a:solidFill>
              </a:rPr>
              <a:t>2. Seat selection validation</a:t>
            </a:r>
            <a:endParaRPr lang="en-US" sz="770" dirty="0"/>
          </a:p>
          <a:p>
            <a:pPr marL="0" indent="0">
              <a:buNone/>
            </a:pPr>
            <a:r>
              <a:rPr lang="en-US" sz="770" dirty="0">
                <a:solidFill>
                  <a:srgbClr val="1F2937"/>
                </a:solidFill>
              </a:rPr>
              <a:t>3. Booking flow validation</a:t>
            </a:r>
            <a:endParaRPr lang="en-US" sz="770" dirty="0"/>
          </a:p>
          <a:p>
            <a:pPr marL="0" indent="0">
              <a:buNone/>
            </a:pPr>
            <a:r>
              <a:rPr lang="en-US" sz="770" dirty="0">
                <a:solidFill>
                  <a:srgbClr val="1F2937"/>
                </a:solidFill>
              </a:rPr>
              <a:t>4. Payment page validation</a:t>
            </a:r>
            <a:endParaRPr lang="en-US" sz="770" dirty="0"/>
          </a:p>
        </p:txBody>
      </p:sp>
      <p:sp>
        <p:nvSpPr>
          <p:cNvPr id="65" name="Shape 63"/>
          <p:cNvSpPr/>
          <p:nvPr/>
        </p:nvSpPr>
        <p:spPr>
          <a:xfrm>
            <a:off x="9006840" y="3108960"/>
            <a:ext cx="2487168" cy="1097280"/>
          </a:xfrm>
          <a:prstGeom prst="roundRect">
            <a:avLst>
              <a:gd name="adj" fmla="val 6667"/>
            </a:avLst>
          </a:prstGeom>
          <a:solidFill>
            <a:srgbClr val="FFFFFF"/>
          </a:solidFill>
          <a:ln w="12700">
            <a:solidFill>
              <a:srgbClr val="D6E4F2"/>
            </a:solidFill>
            <a:prstDash val="solid"/>
          </a:ln>
        </p:spPr>
      </p:sp>
      <p:sp>
        <p:nvSpPr>
          <p:cNvPr id="66" name="Shape 64"/>
          <p:cNvSpPr/>
          <p:nvPr/>
        </p:nvSpPr>
        <p:spPr>
          <a:xfrm>
            <a:off x="9006840" y="3108960"/>
            <a:ext cx="73152" cy="1097280"/>
          </a:xfrm>
          <a:prstGeom prst="rect">
            <a:avLst/>
          </a:prstGeom>
          <a:solidFill>
            <a:srgbClr val="D92D20"/>
          </a:solidFill>
          <a:ln w="12700">
            <a:solidFill>
              <a:srgbClr val="D92D20"/>
            </a:solidFill>
            <a:prstDash val="solid"/>
          </a:ln>
        </p:spPr>
      </p:sp>
      <p:sp>
        <p:nvSpPr>
          <p:cNvPr id="67" name="Text 65"/>
          <p:cNvSpPr/>
          <p:nvPr/>
        </p:nvSpPr>
        <p:spPr>
          <a:xfrm>
            <a:off x="9153144" y="3218688"/>
            <a:ext cx="2258568" cy="164592"/>
          </a:xfrm>
          <a:prstGeom prst="rect">
            <a:avLst/>
          </a:prstGeom>
          <a:noFill/>
          <a:ln/>
        </p:spPr>
        <p:txBody>
          <a:bodyPr wrap="square" lIns="0" tIns="0" rIns="0" bIns="0" rtlCol="0" anchor="ctr"/>
          <a:lstStyle/>
          <a:p>
            <a:pPr marL="0" indent="0">
              <a:buNone/>
            </a:pPr>
            <a:r>
              <a:rPr lang="en-US" sz="920" b="1" dirty="0">
                <a:solidFill>
                  <a:srgbClr val="D92D20"/>
                </a:solidFill>
              </a:rPr>
              <a:t>Negative Test Cases</a:t>
            </a:r>
            <a:endParaRPr lang="en-US" sz="920" dirty="0"/>
          </a:p>
        </p:txBody>
      </p:sp>
      <p:sp>
        <p:nvSpPr>
          <p:cNvPr id="68" name="Text 66"/>
          <p:cNvSpPr/>
          <p:nvPr/>
        </p:nvSpPr>
        <p:spPr>
          <a:xfrm>
            <a:off x="9153144" y="3456432"/>
            <a:ext cx="2258568" cy="685800"/>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1. Invalid route validation</a:t>
            </a:r>
            <a:endParaRPr lang="en-US" sz="770" dirty="0"/>
          </a:p>
          <a:p>
            <a:pPr marL="0" indent="0">
              <a:buNone/>
            </a:pPr>
            <a:r>
              <a:rPr lang="en-US" sz="770" dirty="0">
                <a:solidFill>
                  <a:srgbClr val="1F2937"/>
                </a:solidFill>
              </a:rPr>
              <a:t>2. Empty field validation</a:t>
            </a:r>
            <a:endParaRPr lang="en-US" sz="770" dirty="0"/>
          </a:p>
        </p:txBody>
      </p:sp>
      <p:sp>
        <p:nvSpPr>
          <p:cNvPr id="69" name="Shape 67"/>
          <p:cNvSpPr/>
          <p:nvPr/>
        </p:nvSpPr>
        <p:spPr>
          <a:xfrm>
            <a:off x="6400800" y="4389120"/>
            <a:ext cx="2487168" cy="685800"/>
          </a:xfrm>
          <a:prstGeom prst="roundRect">
            <a:avLst>
              <a:gd name="adj" fmla="val 10667"/>
            </a:avLst>
          </a:prstGeom>
          <a:solidFill>
            <a:srgbClr val="FFFFFF"/>
          </a:solidFill>
          <a:ln w="12700">
            <a:solidFill>
              <a:srgbClr val="D6E4F2"/>
            </a:solidFill>
            <a:prstDash val="solid"/>
          </a:ln>
        </p:spPr>
      </p:sp>
      <p:sp>
        <p:nvSpPr>
          <p:cNvPr id="70" name="Shape 68"/>
          <p:cNvSpPr/>
          <p:nvPr/>
        </p:nvSpPr>
        <p:spPr>
          <a:xfrm>
            <a:off x="6400800" y="4389120"/>
            <a:ext cx="73152" cy="685800"/>
          </a:xfrm>
          <a:prstGeom prst="rect">
            <a:avLst/>
          </a:prstGeom>
          <a:solidFill>
            <a:srgbClr val="1677C8"/>
          </a:solidFill>
          <a:ln w="12700">
            <a:solidFill>
              <a:srgbClr val="1677C8"/>
            </a:solidFill>
            <a:prstDash val="solid"/>
          </a:ln>
        </p:spPr>
      </p:sp>
      <p:sp>
        <p:nvSpPr>
          <p:cNvPr id="71" name="Text 69"/>
          <p:cNvSpPr/>
          <p:nvPr/>
        </p:nvSpPr>
        <p:spPr>
          <a:xfrm>
            <a:off x="6547104" y="4498848"/>
            <a:ext cx="2258568" cy="164592"/>
          </a:xfrm>
          <a:prstGeom prst="rect">
            <a:avLst/>
          </a:prstGeom>
          <a:noFill/>
          <a:ln/>
        </p:spPr>
        <p:txBody>
          <a:bodyPr wrap="square" lIns="0" tIns="0" rIns="0" bIns="0" rtlCol="0" anchor="ctr"/>
          <a:lstStyle/>
          <a:p>
            <a:pPr marL="0" indent="0">
              <a:buNone/>
            </a:pPr>
            <a:r>
              <a:rPr lang="en-US" sz="920" b="1" dirty="0">
                <a:solidFill>
                  <a:srgbClr val="1677C8"/>
                </a:solidFill>
              </a:rPr>
              <a:t>Tools Used</a:t>
            </a:r>
            <a:endParaRPr lang="en-US" sz="920" dirty="0"/>
          </a:p>
        </p:txBody>
      </p:sp>
      <p:sp>
        <p:nvSpPr>
          <p:cNvPr id="72" name="Text 70"/>
          <p:cNvSpPr/>
          <p:nvPr/>
        </p:nvSpPr>
        <p:spPr>
          <a:xfrm>
            <a:off x="6547104" y="4736592"/>
            <a:ext cx="2258568" cy="274320"/>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Selenium WebDriver</a:t>
            </a:r>
            <a:endParaRPr lang="en-US" sz="770" dirty="0"/>
          </a:p>
          <a:p>
            <a:pPr marL="0" indent="0">
              <a:buNone/>
            </a:pPr>
            <a:r>
              <a:rPr lang="en-US" sz="770" dirty="0">
                <a:solidFill>
                  <a:srgbClr val="1F2937"/>
                </a:solidFill>
              </a:rPr>
              <a:t>Python, Pytest, Behave BDD</a:t>
            </a:r>
            <a:endParaRPr lang="en-US" sz="770" dirty="0"/>
          </a:p>
          <a:p>
            <a:pPr marL="0" indent="0">
              <a:buNone/>
            </a:pPr>
            <a:r>
              <a:rPr lang="en-US" sz="770" dirty="0">
                <a:solidFill>
                  <a:srgbClr val="1F2937"/>
                </a:solidFill>
              </a:rPr>
              <a:t>Allure Reports, Chrome</a:t>
            </a:r>
            <a:endParaRPr lang="en-US" sz="770" dirty="0"/>
          </a:p>
        </p:txBody>
      </p:sp>
      <p:sp>
        <p:nvSpPr>
          <p:cNvPr id="73" name="Shape 71"/>
          <p:cNvSpPr/>
          <p:nvPr/>
        </p:nvSpPr>
        <p:spPr>
          <a:xfrm>
            <a:off x="9006840" y="4389120"/>
            <a:ext cx="2487168" cy="685800"/>
          </a:xfrm>
          <a:prstGeom prst="roundRect">
            <a:avLst>
              <a:gd name="adj" fmla="val 10667"/>
            </a:avLst>
          </a:prstGeom>
          <a:solidFill>
            <a:srgbClr val="FFFFFF"/>
          </a:solidFill>
          <a:ln w="12700">
            <a:solidFill>
              <a:srgbClr val="D6E4F2"/>
            </a:solidFill>
            <a:prstDash val="solid"/>
          </a:ln>
        </p:spPr>
      </p:sp>
      <p:sp>
        <p:nvSpPr>
          <p:cNvPr id="74" name="Shape 72"/>
          <p:cNvSpPr/>
          <p:nvPr/>
        </p:nvSpPr>
        <p:spPr>
          <a:xfrm>
            <a:off x="9006840" y="4389120"/>
            <a:ext cx="73152" cy="685800"/>
          </a:xfrm>
          <a:prstGeom prst="rect">
            <a:avLst/>
          </a:prstGeom>
          <a:solidFill>
            <a:srgbClr val="00A3E0"/>
          </a:solidFill>
          <a:ln w="12700">
            <a:solidFill>
              <a:srgbClr val="00A3E0"/>
            </a:solidFill>
            <a:prstDash val="solid"/>
          </a:ln>
        </p:spPr>
      </p:sp>
      <p:sp>
        <p:nvSpPr>
          <p:cNvPr id="75" name="Text 73"/>
          <p:cNvSpPr/>
          <p:nvPr/>
        </p:nvSpPr>
        <p:spPr>
          <a:xfrm>
            <a:off x="9153144" y="4498848"/>
            <a:ext cx="2258568" cy="164592"/>
          </a:xfrm>
          <a:prstGeom prst="rect">
            <a:avLst/>
          </a:prstGeom>
          <a:noFill/>
          <a:ln/>
        </p:spPr>
        <p:txBody>
          <a:bodyPr wrap="square" lIns="0" tIns="0" rIns="0" bIns="0" rtlCol="0" anchor="ctr"/>
          <a:lstStyle/>
          <a:p>
            <a:pPr marL="0" indent="0">
              <a:buNone/>
            </a:pPr>
            <a:r>
              <a:rPr lang="en-US" sz="920" b="1" dirty="0">
                <a:solidFill>
                  <a:srgbClr val="00A3E0"/>
                </a:solidFill>
              </a:rPr>
              <a:t>Validated Areas</a:t>
            </a:r>
            <a:endParaRPr lang="en-US" sz="920" dirty="0"/>
          </a:p>
        </p:txBody>
      </p:sp>
      <p:sp>
        <p:nvSpPr>
          <p:cNvPr id="76" name="Text 74"/>
          <p:cNvSpPr/>
          <p:nvPr/>
        </p:nvSpPr>
        <p:spPr>
          <a:xfrm>
            <a:off x="9153144" y="4736592"/>
            <a:ext cx="2258568" cy="274320"/>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Workflow navigation</a:t>
            </a:r>
            <a:endParaRPr lang="en-US" sz="770" dirty="0"/>
          </a:p>
          <a:p>
            <a:pPr marL="0" indent="0">
              <a:buNone/>
            </a:pPr>
            <a:r>
              <a:rPr lang="en-US" sz="770" dirty="0">
                <a:solidFill>
                  <a:srgbClr val="1F2937"/>
                </a:solidFill>
              </a:rPr>
              <a:t>Form validations</a:t>
            </a:r>
            <a:endParaRPr lang="en-US" sz="770" dirty="0"/>
          </a:p>
          <a:p>
            <a:pPr marL="0" indent="0">
              <a:buNone/>
            </a:pPr>
            <a:r>
              <a:rPr lang="en-US" sz="770" dirty="0">
                <a:solidFill>
                  <a:srgbClr val="1F2937"/>
                </a:solidFill>
              </a:rPr>
              <a:t>Booking steps</a:t>
            </a:r>
            <a:endParaRPr lang="en-US" sz="770" dirty="0"/>
          </a:p>
          <a:p>
            <a:pPr marL="0" indent="0">
              <a:buNone/>
            </a:pPr>
            <a:r>
              <a:rPr lang="en-US" sz="770" dirty="0">
                <a:solidFill>
                  <a:srgbClr val="1F2937"/>
                </a:solidFill>
              </a:rPr>
              <a:t>Payment page boundary</a:t>
            </a:r>
            <a:endParaRPr lang="en-US" sz="770" dirty="0"/>
          </a:p>
        </p:txBody>
      </p:sp>
      <p:sp>
        <p:nvSpPr>
          <p:cNvPr id="77" name="Shape 75"/>
          <p:cNvSpPr/>
          <p:nvPr/>
        </p:nvSpPr>
        <p:spPr>
          <a:xfrm>
            <a:off x="6400800" y="5303520"/>
            <a:ext cx="1572768" cy="804672"/>
          </a:xfrm>
          <a:prstGeom prst="roundRect">
            <a:avLst>
              <a:gd name="adj" fmla="val 9091"/>
            </a:avLst>
          </a:prstGeom>
          <a:solidFill>
            <a:srgbClr val="F8FAFC"/>
          </a:solidFill>
          <a:ln w="15240">
            <a:solidFill>
              <a:srgbClr val="BFD7ED"/>
            </a:solidFill>
            <a:prstDash val="solid"/>
          </a:ln>
        </p:spPr>
      </p:sp>
      <p:sp>
        <p:nvSpPr>
          <p:cNvPr id="78" name="Shape 76"/>
          <p:cNvSpPr/>
          <p:nvPr/>
        </p:nvSpPr>
        <p:spPr>
          <a:xfrm>
            <a:off x="6510528" y="5413248"/>
            <a:ext cx="1353312" cy="36576"/>
          </a:xfrm>
          <a:prstGeom prst="rect">
            <a:avLst/>
          </a:prstGeom>
          <a:solidFill>
            <a:srgbClr val="1677C8">
              <a:alpha val="75000"/>
            </a:srgbClr>
          </a:solidFill>
          <a:ln w="12700">
            <a:solidFill>
              <a:srgbClr val="333333">
                <a:alpha val="0"/>
              </a:srgbClr>
            </a:solidFill>
            <a:prstDash val="solid"/>
          </a:ln>
        </p:spPr>
      </p:sp>
      <p:sp>
        <p:nvSpPr>
          <p:cNvPr id="79" name="Text 77"/>
          <p:cNvSpPr/>
          <p:nvPr/>
        </p:nvSpPr>
        <p:spPr>
          <a:xfrm>
            <a:off x="6547104" y="5632704"/>
            <a:ext cx="1280160" cy="164592"/>
          </a:xfrm>
          <a:prstGeom prst="rect">
            <a:avLst/>
          </a:prstGeom>
          <a:noFill/>
          <a:ln/>
        </p:spPr>
        <p:txBody>
          <a:bodyPr wrap="square" lIns="0" tIns="0" rIns="0" bIns="0" rtlCol="0" anchor="ctr"/>
          <a:lstStyle/>
          <a:p>
            <a:pPr marL="0" indent="0" algn="ctr">
              <a:buNone/>
            </a:pPr>
            <a:r>
              <a:rPr lang="en-US" sz="750" b="1" dirty="0">
                <a:solidFill>
                  <a:srgbClr val="667085"/>
                </a:solidFill>
              </a:rPr>
              <a:t>Positive Screenshot</a:t>
            </a:r>
            <a:endParaRPr lang="en-US" sz="750" dirty="0"/>
          </a:p>
        </p:txBody>
      </p:sp>
      <p:sp>
        <p:nvSpPr>
          <p:cNvPr id="80" name="Shape 78"/>
          <p:cNvSpPr/>
          <p:nvPr/>
        </p:nvSpPr>
        <p:spPr>
          <a:xfrm>
            <a:off x="8165592" y="5303520"/>
            <a:ext cx="1572768" cy="804672"/>
          </a:xfrm>
          <a:prstGeom prst="roundRect">
            <a:avLst>
              <a:gd name="adj" fmla="val 9091"/>
            </a:avLst>
          </a:prstGeom>
          <a:solidFill>
            <a:srgbClr val="F8FAFC"/>
          </a:solidFill>
          <a:ln w="15240">
            <a:solidFill>
              <a:srgbClr val="BFD7ED"/>
            </a:solidFill>
            <a:prstDash val="solid"/>
          </a:ln>
        </p:spPr>
      </p:sp>
      <p:sp>
        <p:nvSpPr>
          <p:cNvPr id="81" name="Shape 79"/>
          <p:cNvSpPr/>
          <p:nvPr/>
        </p:nvSpPr>
        <p:spPr>
          <a:xfrm>
            <a:off x="8275320" y="5413248"/>
            <a:ext cx="1353312" cy="36576"/>
          </a:xfrm>
          <a:prstGeom prst="rect">
            <a:avLst/>
          </a:prstGeom>
          <a:solidFill>
            <a:srgbClr val="1677C8">
              <a:alpha val="75000"/>
            </a:srgbClr>
          </a:solidFill>
          <a:ln w="12700">
            <a:solidFill>
              <a:srgbClr val="333333">
                <a:alpha val="0"/>
              </a:srgbClr>
            </a:solidFill>
            <a:prstDash val="solid"/>
          </a:ln>
        </p:spPr>
      </p:sp>
      <p:sp>
        <p:nvSpPr>
          <p:cNvPr id="82" name="Text 80"/>
          <p:cNvSpPr/>
          <p:nvPr/>
        </p:nvSpPr>
        <p:spPr>
          <a:xfrm>
            <a:off x="8311896" y="5632704"/>
            <a:ext cx="1280160" cy="164592"/>
          </a:xfrm>
          <a:prstGeom prst="rect">
            <a:avLst/>
          </a:prstGeom>
          <a:noFill/>
          <a:ln/>
        </p:spPr>
        <p:txBody>
          <a:bodyPr wrap="square" lIns="0" tIns="0" rIns="0" bIns="0" rtlCol="0" anchor="ctr"/>
          <a:lstStyle/>
          <a:p>
            <a:pPr marL="0" indent="0" algn="ctr">
              <a:buNone/>
            </a:pPr>
            <a:r>
              <a:rPr lang="en-US" sz="750" b="1" dirty="0">
                <a:solidFill>
                  <a:srgbClr val="667085"/>
                </a:solidFill>
              </a:rPr>
              <a:t>Negative Screenshot</a:t>
            </a:r>
            <a:endParaRPr lang="en-US" sz="750" dirty="0"/>
          </a:p>
        </p:txBody>
      </p:sp>
      <p:sp>
        <p:nvSpPr>
          <p:cNvPr id="83" name="Shape 81"/>
          <p:cNvSpPr/>
          <p:nvPr/>
        </p:nvSpPr>
        <p:spPr>
          <a:xfrm>
            <a:off x="9921240" y="5303520"/>
            <a:ext cx="1572768" cy="804672"/>
          </a:xfrm>
          <a:prstGeom prst="roundRect">
            <a:avLst>
              <a:gd name="adj" fmla="val 9091"/>
            </a:avLst>
          </a:prstGeom>
          <a:solidFill>
            <a:srgbClr val="F8FAFC"/>
          </a:solidFill>
          <a:ln w="15240">
            <a:solidFill>
              <a:srgbClr val="BFD7ED"/>
            </a:solidFill>
            <a:prstDash val="solid"/>
          </a:ln>
        </p:spPr>
      </p:sp>
      <p:sp>
        <p:nvSpPr>
          <p:cNvPr id="84" name="Shape 82"/>
          <p:cNvSpPr/>
          <p:nvPr/>
        </p:nvSpPr>
        <p:spPr>
          <a:xfrm>
            <a:off x="10030968" y="5413248"/>
            <a:ext cx="1353312" cy="36576"/>
          </a:xfrm>
          <a:prstGeom prst="rect">
            <a:avLst/>
          </a:prstGeom>
          <a:solidFill>
            <a:srgbClr val="1677C8">
              <a:alpha val="75000"/>
            </a:srgbClr>
          </a:solidFill>
          <a:ln w="12700">
            <a:solidFill>
              <a:srgbClr val="333333">
                <a:alpha val="0"/>
              </a:srgbClr>
            </a:solidFill>
            <a:prstDash val="solid"/>
          </a:ln>
        </p:spPr>
      </p:sp>
      <p:sp>
        <p:nvSpPr>
          <p:cNvPr id="85" name="Text 83"/>
          <p:cNvSpPr/>
          <p:nvPr/>
        </p:nvSpPr>
        <p:spPr>
          <a:xfrm>
            <a:off x="10067544" y="5632704"/>
            <a:ext cx="1280160" cy="164592"/>
          </a:xfrm>
          <a:prstGeom prst="rect">
            <a:avLst/>
          </a:prstGeom>
          <a:noFill/>
          <a:ln/>
        </p:spPr>
        <p:txBody>
          <a:bodyPr wrap="square" lIns="0" tIns="0" rIns="0" bIns="0" rtlCol="0" anchor="ctr"/>
          <a:lstStyle/>
          <a:p>
            <a:pPr marL="0" indent="0" algn="ctr">
              <a:buNone/>
            </a:pPr>
            <a:r>
              <a:rPr lang="en-US" sz="750" b="1" dirty="0">
                <a:solidFill>
                  <a:srgbClr val="667085"/>
                </a:solidFill>
              </a:rPr>
              <a:t>Allure Report</a:t>
            </a:r>
            <a:endParaRPr lang="en-US" sz="750" dirty="0"/>
          </a:p>
        </p:txBody>
      </p:sp>
      <p:sp>
        <p:nvSpPr>
          <p:cNvPr id="86" name="Shape 84"/>
          <p:cNvSpPr/>
          <p:nvPr/>
        </p:nvSpPr>
        <p:spPr>
          <a:xfrm>
            <a:off x="384048" y="6473952"/>
            <a:ext cx="11384280" cy="0"/>
          </a:xfrm>
          <a:prstGeom prst="line">
            <a:avLst/>
          </a:prstGeom>
          <a:noFill/>
          <a:ln w="12700">
            <a:solidFill>
              <a:srgbClr val="D6E4F2"/>
            </a:solidFill>
            <a:prstDash val="solid"/>
          </a:ln>
        </p:spPr>
      </p:sp>
      <p:sp>
        <p:nvSpPr>
          <p:cNvPr id="87" name="Text 85"/>
          <p:cNvSpPr/>
          <p:nvPr/>
        </p:nvSpPr>
        <p:spPr>
          <a:xfrm>
            <a:off x="384048" y="6547104"/>
            <a:ext cx="5303520" cy="164592"/>
          </a:xfrm>
          <a:prstGeom prst="rect">
            <a:avLst/>
          </a:prstGeom>
          <a:noFill/>
          <a:ln/>
        </p:spPr>
        <p:txBody>
          <a:bodyPr wrap="square" lIns="0" tIns="0" rIns="0" bIns="0" rtlCol="0" anchor="ctr"/>
          <a:lstStyle/>
          <a:p>
            <a:pPr marL="0" indent="0">
              <a:buNone/>
            </a:pPr>
            <a:r>
              <a:rPr lang="en-US" sz="750" dirty="0">
                <a:solidFill>
                  <a:srgbClr val="667085"/>
                </a:solidFill>
              </a:rPr>
              <a:t>Goibibo End-to-End Automation Testing Framework</a:t>
            </a:r>
            <a:endParaRPr lang="en-US" sz="750" dirty="0"/>
          </a:p>
        </p:txBody>
      </p:sp>
      <p:sp>
        <p:nvSpPr>
          <p:cNvPr id="88" name="Text 86"/>
          <p:cNvSpPr/>
          <p:nvPr/>
        </p:nvSpPr>
        <p:spPr>
          <a:xfrm>
            <a:off x="11384280" y="6528816"/>
            <a:ext cx="347472" cy="201168"/>
          </a:xfrm>
          <a:prstGeom prst="rect">
            <a:avLst/>
          </a:prstGeom>
          <a:noFill/>
          <a:ln/>
        </p:spPr>
        <p:txBody>
          <a:bodyPr wrap="square" lIns="0" tIns="0" rIns="0" bIns="0" rtlCol="0" anchor="ctr"/>
          <a:lstStyle/>
          <a:p>
            <a:pPr marL="0" indent="0" algn="r">
              <a:buNone/>
            </a:pPr>
            <a:r>
              <a:rPr lang="en-US" sz="850" b="1" dirty="0">
                <a:solidFill>
                  <a:srgbClr val="1677C8"/>
                </a:solidFill>
              </a:rPr>
              <a:t>05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677C8"/>
          </a:solidFill>
          <a:ln w="12700">
            <a:solidFill>
              <a:srgbClr val="1677C8"/>
            </a:solidFill>
            <a:prstDash val="solid"/>
          </a:ln>
        </p:spPr>
      </p:sp>
      <p:sp>
        <p:nvSpPr>
          <p:cNvPr id="3" name="Shape 1"/>
          <p:cNvSpPr/>
          <p:nvPr/>
        </p:nvSpPr>
        <p:spPr>
          <a:xfrm>
            <a:off x="0" y="164592"/>
            <a:ext cx="12191695" cy="566928"/>
          </a:xfrm>
          <a:prstGeom prst="rect">
            <a:avLst/>
          </a:prstGeom>
          <a:solidFill>
            <a:srgbClr val="FFFFFF"/>
          </a:solidFill>
          <a:ln w="12700">
            <a:solidFill>
              <a:srgbClr val="FFFFFF"/>
            </a:solidFill>
            <a:prstDash val="solid"/>
          </a:ln>
        </p:spPr>
      </p:sp>
      <p:sp>
        <p:nvSpPr>
          <p:cNvPr id="4" name="Text 2"/>
          <p:cNvSpPr/>
          <p:nvPr/>
        </p:nvSpPr>
        <p:spPr>
          <a:xfrm>
            <a:off x="384048" y="237744"/>
            <a:ext cx="1143000" cy="292608"/>
          </a:xfrm>
          <a:prstGeom prst="rect">
            <a:avLst/>
          </a:prstGeom>
          <a:noFill/>
          <a:ln/>
        </p:spPr>
        <p:txBody>
          <a:bodyPr wrap="square" lIns="0" tIns="0" rIns="0" bIns="0" rtlCol="0" anchor="ctr"/>
          <a:lstStyle/>
          <a:p>
            <a:pPr marL="0" indent="0">
              <a:buNone/>
            </a:pPr>
            <a:r>
              <a:rPr lang="en-US" sz="1600" b="1" dirty="0">
                <a:solidFill>
                  <a:srgbClr val="F05A28"/>
                </a:solidFill>
                <a:latin typeface="Aptos Display" pitchFamily="34" charset="0"/>
                <a:ea typeface="Aptos Display" pitchFamily="34" charset="-122"/>
                <a:cs typeface="Aptos Display" pitchFamily="34" charset="-120"/>
              </a:rPr>
              <a:t>goibibo</a:t>
            </a:r>
            <a:endParaRPr lang="en-US" sz="1600" dirty="0"/>
          </a:p>
        </p:txBody>
      </p:sp>
      <p:sp>
        <p:nvSpPr>
          <p:cNvPr id="5" name="Text 3"/>
          <p:cNvSpPr/>
          <p:nvPr/>
        </p:nvSpPr>
        <p:spPr>
          <a:xfrm>
            <a:off x="1335024" y="265176"/>
            <a:ext cx="1170432" cy="228600"/>
          </a:xfrm>
          <a:prstGeom prst="rect">
            <a:avLst/>
          </a:prstGeom>
          <a:noFill/>
          <a:ln/>
        </p:spPr>
        <p:txBody>
          <a:bodyPr wrap="square" lIns="0" tIns="0" rIns="0" bIns="0" rtlCol="0" anchor="ctr"/>
          <a:lstStyle/>
          <a:p>
            <a:pPr marL="0" indent="0">
              <a:buNone/>
            </a:pPr>
            <a:r>
              <a:rPr lang="en-US" sz="950" dirty="0">
                <a:solidFill>
                  <a:srgbClr val="1677C8"/>
                </a:solidFill>
                <a:latin typeface="Aptos" pitchFamily="34" charset="0"/>
                <a:ea typeface="Aptos" pitchFamily="34" charset="-122"/>
                <a:cs typeface="Aptos" pitchFamily="34" charset="-120"/>
              </a:rPr>
              <a:t>automation</a:t>
            </a:r>
            <a:endParaRPr lang="en-US" sz="950" dirty="0"/>
          </a:p>
        </p:txBody>
      </p:sp>
      <p:sp>
        <p:nvSpPr>
          <p:cNvPr id="6" name="Text 4"/>
          <p:cNvSpPr/>
          <p:nvPr/>
        </p:nvSpPr>
        <p:spPr>
          <a:xfrm>
            <a:off x="384048" y="868680"/>
            <a:ext cx="8046720" cy="347472"/>
          </a:xfrm>
          <a:prstGeom prst="rect">
            <a:avLst/>
          </a:prstGeom>
          <a:noFill/>
          <a:ln/>
        </p:spPr>
        <p:txBody>
          <a:bodyPr wrap="square" lIns="0" tIns="0" rIns="0" bIns="0" rtlCol="0" anchor="ctr"/>
          <a:lstStyle/>
          <a:p>
            <a:pPr marL="0" indent="0">
              <a:buNone/>
            </a:pPr>
            <a:r>
              <a:rPr lang="en-US" sz="2400" b="1" dirty="0">
                <a:solidFill>
                  <a:srgbClr val="14375F"/>
                </a:solidFill>
                <a:latin typeface="Aptos Display" pitchFamily="34" charset="0"/>
                <a:ea typeface="Aptos Display" pitchFamily="34" charset="-122"/>
                <a:cs typeface="Aptos Display" pitchFamily="34" charset="-120"/>
              </a:rPr>
              <a:t>Goibibo Trains Automation — Priyanshu Prakash</a:t>
            </a:r>
            <a:endParaRPr lang="en-US" sz="2400" dirty="0"/>
          </a:p>
        </p:txBody>
      </p:sp>
      <p:sp>
        <p:nvSpPr>
          <p:cNvPr id="7" name="Text 5"/>
          <p:cNvSpPr/>
          <p:nvPr/>
        </p:nvSpPr>
        <p:spPr>
          <a:xfrm>
            <a:off x="393192" y="1234440"/>
            <a:ext cx="7772400" cy="228600"/>
          </a:xfrm>
          <a:prstGeom prst="rect">
            <a:avLst/>
          </a:prstGeom>
          <a:noFill/>
          <a:ln/>
        </p:spPr>
        <p:txBody>
          <a:bodyPr wrap="square" lIns="0" tIns="0" rIns="0" bIns="0" rtlCol="0" anchor="ctr"/>
          <a:lstStyle/>
          <a:p>
            <a:pPr marL="0" indent="0">
              <a:buNone/>
            </a:pPr>
            <a:r>
              <a:rPr lang="en-US" sz="1050" dirty="0">
                <a:solidFill>
                  <a:srgbClr val="667085"/>
                </a:solidFill>
              </a:rPr>
              <a:t>Goibibo Trains | Priyanshu Prakash | Superset ID: 4467004</a:t>
            </a:r>
            <a:endParaRPr lang="en-US" sz="1050" dirty="0"/>
          </a:p>
        </p:txBody>
      </p:sp>
      <p:sp>
        <p:nvSpPr>
          <p:cNvPr id="8" name="Shape 6"/>
          <p:cNvSpPr/>
          <p:nvPr/>
        </p:nvSpPr>
        <p:spPr>
          <a:xfrm>
            <a:off x="9829800" y="713232"/>
            <a:ext cx="2103120" cy="1554480"/>
          </a:xfrm>
          <a:prstGeom prst="arc">
            <a:avLst/>
          </a:prstGeom>
          <a:noFill/>
          <a:ln w="25400">
            <a:solidFill>
              <a:srgbClr val="00A3E0">
                <a:alpha val="70000"/>
              </a:srgbClr>
            </a:solidFill>
            <a:prstDash val="solid"/>
          </a:ln>
        </p:spPr>
      </p:sp>
      <p:sp>
        <p:nvSpPr>
          <p:cNvPr id="9" name="Shape 7"/>
          <p:cNvSpPr/>
          <p:nvPr/>
        </p:nvSpPr>
        <p:spPr>
          <a:xfrm>
            <a:off x="10972800" y="841248"/>
            <a:ext cx="585216" cy="201168"/>
          </a:xfrm>
          <a:prstGeom prst="line">
            <a:avLst/>
          </a:prstGeom>
          <a:noFill/>
          <a:ln w="25400">
            <a:solidFill>
              <a:srgbClr val="1677C8"/>
            </a:solidFill>
            <a:prstDash val="solid"/>
            <a:headEnd type="none"/>
            <a:tailEnd type="triangle"/>
          </a:ln>
        </p:spPr>
      </p:sp>
      <p:sp>
        <p:nvSpPr>
          <p:cNvPr id="10" name="Shape 8"/>
          <p:cNvSpPr/>
          <p:nvPr/>
        </p:nvSpPr>
        <p:spPr>
          <a:xfrm>
            <a:off x="438912" y="1572768"/>
            <a:ext cx="5413248" cy="4526280"/>
          </a:xfrm>
          <a:prstGeom prst="roundRect">
            <a:avLst>
              <a:gd name="adj" fmla="val 1616"/>
            </a:avLst>
          </a:prstGeom>
          <a:solidFill>
            <a:srgbClr val="FFFFFF"/>
          </a:solidFill>
          <a:ln w="12700">
            <a:solidFill>
              <a:srgbClr val="D6E4F2"/>
            </a:solidFill>
            <a:prstDash val="solid"/>
          </a:ln>
        </p:spPr>
      </p:sp>
      <p:sp>
        <p:nvSpPr>
          <p:cNvPr id="11" name="Shape 9"/>
          <p:cNvSpPr/>
          <p:nvPr/>
        </p:nvSpPr>
        <p:spPr>
          <a:xfrm>
            <a:off x="6263640" y="1572768"/>
            <a:ext cx="5413248" cy="4526280"/>
          </a:xfrm>
          <a:prstGeom prst="roundRect">
            <a:avLst>
              <a:gd name="adj" fmla="val 1616"/>
            </a:avLst>
          </a:prstGeom>
          <a:solidFill>
            <a:srgbClr val="FFFFFF"/>
          </a:solidFill>
          <a:ln w="12700">
            <a:solidFill>
              <a:srgbClr val="D6E4F2"/>
            </a:solidFill>
            <a:prstDash val="solid"/>
          </a:ln>
        </p:spPr>
      </p:sp>
      <p:sp>
        <p:nvSpPr>
          <p:cNvPr id="12" name="Shape 10"/>
          <p:cNvSpPr/>
          <p:nvPr/>
        </p:nvSpPr>
        <p:spPr>
          <a:xfrm>
            <a:off x="438912" y="1572768"/>
            <a:ext cx="5413248" cy="384048"/>
          </a:xfrm>
          <a:prstGeom prst="rect">
            <a:avLst/>
          </a:prstGeom>
          <a:solidFill>
            <a:srgbClr val="1677C8"/>
          </a:solidFill>
          <a:ln w="12700">
            <a:solidFill>
              <a:srgbClr val="1677C8"/>
            </a:solidFill>
            <a:prstDash val="solid"/>
          </a:ln>
        </p:spPr>
      </p:sp>
      <p:sp>
        <p:nvSpPr>
          <p:cNvPr id="13" name="Shape 11"/>
          <p:cNvSpPr/>
          <p:nvPr/>
        </p:nvSpPr>
        <p:spPr>
          <a:xfrm>
            <a:off x="6263640" y="1572768"/>
            <a:ext cx="5413248" cy="384048"/>
          </a:xfrm>
          <a:prstGeom prst="rect">
            <a:avLst/>
          </a:prstGeom>
          <a:solidFill>
            <a:srgbClr val="14375F"/>
          </a:solidFill>
          <a:ln w="12700">
            <a:solidFill>
              <a:srgbClr val="14375F"/>
            </a:solidFill>
            <a:prstDash val="solid"/>
          </a:ln>
        </p:spPr>
      </p:sp>
      <p:sp>
        <p:nvSpPr>
          <p:cNvPr id="14" name="Text 12"/>
          <p:cNvSpPr/>
          <p:nvPr/>
        </p:nvSpPr>
        <p:spPr>
          <a:xfrm>
            <a:off x="603504" y="1682496"/>
            <a:ext cx="2377440" cy="118872"/>
          </a:xfrm>
          <a:prstGeom prst="rect">
            <a:avLst/>
          </a:prstGeom>
          <a:noFill/>
          <a:ln/>
        </p:spPr>
        <p:txBody>
          <a:bodyPr wrap="square" lIns="0" tIns="0" rIns="0" bIns="0" rtlCol="0" anchor="ctr"/>
          <a:lstStyle/>
          <a:p>
            <a:pPr marL="0" indent="0">
              <a:buNone/>
            </a:pPr>
            <a:r>
              <a:rPr lang="en-US" sz="800" b="1" dirty="0">
                <a:solidFill>
                  <a:srgbClr val="FFFFFF"/>
                </a:solidFill>
              </a:rPr>
              <a:t>SELENIUM AUTOMATION</a:t>
            </a:r>
            <a:endParaRPr lang="en-US" sz="800" dirty="0"/>
          </a:p>
        </p:txBody>
      </p:sp>
      <p:sp>
        <p:nvSpPr>
          <p:cNvPr id="15" name="Text 13"/>
          <p:cNvSpPr/>
          <p:nvPr/>
        </p:nvSpPr>
        <p:spPr>
          <a:xfrm>
            <a:off x="6428232" y="1682496"/>
            <a:ext cx="2011680" cy="118872"/>
          </a:xfrm>
          <a:prstGeom prst="rect">
            <a:avLst/>
          </a:prstGeom>
          <a:noFill/>
          <a:ln/>
        </p:spPr>
        <p:txBody>
          <a:bodyPr wrap="square" lIns="0" tIns="0" rIns="0" bIns="0" rtlCol="0" anchor="ctr"/>
          <a:lstStyle/>
          <a:p>
            <a:pPr marL="0" indent="0">
              <a:buNone/>
            </a:pPr>
            <a:r>
              <a:rPr lang="en-US" sz="800" b="1" dirty="0">
                <a:solidFill>
                  <a:srgbClr val="FFFFFF"/>
                </a:solidFill>
              </a:rPr>
              <a:t>BDD AUTOMATION</a:t>
            </a:r>
            <a:endParaRPr lang="en-US" sz="800" dirty="0"/>
          </a:p>
        </p:txBody>
      </p:sp>
      <p:sp>
        <p:nvSpPr>
          <p:cNvPr id="16" name="Shape 14"/>
          <p:cNvSpPr/>
          <p:nvPr/>
        </p:nvSpPr>
        <p:spPr>
          <a:xfrm>
            <a:off x="576072" y="2139696"/>
            <a:ext cx="2560320" cy="868680"/>
          </a:xfrm>
          <a:prstGeom prst="roundRect">
            <a:avLst>
              <a:gd name="adj" fmla="val 8421"/>
            </a:avLst>
          </a:prstGeom>
          <a:solidFill>
            <a:srgbClr val="FFFFFF"/>
          </a:solidFill>
          <a:ln w="12700">
            <a:solidFill>
              <a:srgbClr val="D6E4F2"/>
            </a:solidFill>
            <a:prstDash val="solid"/>
          </a:ln>
        </p:spPr>
      </p:sp>
      <p:sp>
        <p:nvSpPr>
          <p:cNvPr id="17" name="Shape 15"/>
          <p:cNvSpPr/>
          <p:nvPr/>
        </p:nvSpPr>
        <p:spPr>
          <a:xfrm>
            <a:off x="576072" y="2139696"/>
            <a:ext cx="73152" cy="868680"/>
          </a:xfrm>
          <a:prstGeom prst="rect">
            <a:avLst/>
          </a:prstGeom>
          <a:solidFill>
            <a:srgbClr val="1677C8"/>
          </a:solidFill>
          <a:ln w="12700">
            <a:solidFill>
              <a:srgbClr val="1677C8"/>
            </a:solidFill>
            <a:prstDash val="solid"/>
          </a:ln>
        </p:spPr>
      </p:sp>
      <p:sp>
        <p:nvSpPr>
          <p:cNvPr id="18" name="Text 16"/>
          <p:cNvSpPr/>
          <p:nvPr/>
        </p:nvSpPr>
        <p:spPr>
          <a:xfrm>
            <a:off x="722376" y="2249424"/>
            <a:ext cx="2331720" cy="164592"/>
          </a:xfrm>
          <a:prstGeom prst="rect">
            <a:avLst/>
          </a:prstGeom>
          <a:noFill/>
          <a:ln/>
        </p:spPr>
        <p:txBody>
          <a:bodyPr wrap="square" lIns="0" tIns="0" rIns="0" bIns="0" rtlCol="0" anchor="ctr"/>
          <a:lstStyle/>
          <a:p>
            <a:pPr marL="0" indent="0">
              <a:buNone/>
            </a:pPr>
            <a:r>
              <a:rPr lang="en-US" sz="920" b="1" dirty="0">
                <a:solidFill>
                  <a:srgbClr val="1677C8"/>
                </a:solidFill>
              </a:rPr>
              <a:t>Project Profile</a:t>
            </a:r>
            <a:endParaRPr lang="en-US" sz="920" dirty="0"/>
          </a:p>
        </p:txBody>
      </p:sp>
      <p:sp>
        <p:nvSpPr>
          <p:cNvPr id="19" name="Text 17"/>
          <p:cNvSpPr/>
          <p:nvPr/>
        </p:nvSpPr>
        <p:spPr>
          <a:xfrm>
            <a:off x="722376" y="2487168"/>
            <a:ext cx="2331720" cy="457200"/>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Project: Goibibo Trains Automation</a:t>
            </a:r>
            <a:endParaRPr lang="en-US" sz="770" dirty="0"/>
          </a:p>
          <a:p>
            <a:pPr marL="0" indent="0">
              <a:buNone/>
            </a:pPr>
            <a:r>
              <a:rPr lang="en-US" sz="770" dirty="0">
                <a:solidFill>
                  <a:srgbClr val="1F2937"/>
                </a:solidFill>
              </a:rPr>
              <a:t>Domain: Railway Travel</a:t>
            </a:r>
            <a:endParaRPr lang="en-US" sz="770" dirty="0"/>
          </a:p>
          <a:p>
            <a:pPr marL="0" indent="0">
              <a:buNone/>
            </a:pPr>
            <a:r>
              <a:rPr lang="en-US" sz="770" dirty="0">
                <a:solidFill>
                  <a:srgbClr val="1F2937"/>
                </a:solidFill>
              </a:rPr>
              <a:t>Name: Priyanshu Prakash</a:t>
            </a:r>
            <a:endParaRPr lang="en-US" sz="770" dirty="0"/>
          </a:p>
          <a:p>
            <a:pPr marL="0" indent="0">
              <a:buNone/>
            </a:pPr>
            <a:r>
              <a:rPr lang="en-US" sz="770" dirty="0">
                <a:solidFill>
                  <a:srgbClr val="1F2937"/>
                </a:solidFill>
              </a:rPr>
              <a:t>Superset ID: 4467004</a:t>
            </a:r>
            <a:endParaRPr lang="en-US" sz="770" dirty="0"/>
          </a:p>
        </p:txBody>
      </p:sp>
      <p:sp>
        <p:nvSpPr>
          <p:cNvPr id="20" name="Shape 18"/>
          <p:cNvSpPr/>
          <p:nvPr/>
        </p:nvSpPr>
        <p:spPr>
          <a:xfrm>
            <a:off x="3273552" y="2139696"/>
            <a:ext cx="2395728" cy="868680"/>
          </a:xfrm>
          <a:prstGeom prst="roundRect">
            <a:avLst>
              <a:gd name="adj" fmla="val 8421"/>
            </a:avLst>
          </a:prstGeom>
          <a:solidFill>
            <a:srgbClr val="FFFFFF"/>
          </a:solidFill>
          <a:ln w="12700">
            <a:solidFill>
              <a:srgbClr val="D6E4F2"/>
            </a:solidFill>
            <a:prstDash val="solid"/>
          </a:ln>
        </p:spPr>
      </p:sp>
      <p:sp>
        <p:nvSpPr>
          <p:cNvPr id="21" name="Shape 19"/>
          <p:cNvSpPr/>
          <p:nvPr/>
        </p:nvSpPr>
        <p:spPr>
          <a:xfrm>
            <a:off x="3273552" y="2139696"/>
            <a:ext cx="73152" cy="868680"/>
          </a:xfrm>
          <a:prstGeom prst="rect">
            <a:avLst/>
          </a:prstGeom>
          <a:solidFill>
            <a:srgbClr val="00A3E0"/>
          </a:solidFill>
          <a:ln w="12700">
            <a:solidFill>
              <a:srgbClr val="00A3E0"/>
            </a:solidFill>
            <a:prstDash val="solid"/>
          </a:ln>
        </p:spPr>
      </p:sp>
      <p:sp>
        <p:nvSpPr>
          <p:cNvPr id="22" name="Text 20"/>
          <p:cNvSpPr/>
          <p:nvPr/>
        </p:nvSpPr>
        <p:spPr>
          <a:xfrm>
            <a:off x="3419856" y="2249424"/>
            <a:ext cx="2167128" cy="164592"/>
          </a:xfrm>
          <a:prstGeom prst="rect">
            <a:avLst/>
          </a:prstGeom>
          <a:noFill/>
          <a:ln/>
        </p:spPr>
        <p:txBody>
          <a:bodyPr wrap="square" lIns="0" tIns="0" rIns="0" bIns="0" rtlCol="0" anchor="ctr"/>
          <a:lstStyle/>
          <a:p>
            <a:pPr marL="0" indent="0">
              <a:buNone/>
            </a:pPr>
            <a:r>
              <a:rPr lang="en-US" sz="920" b="1" dirty="0">
                <a:solidFill>
                  <a:srgbClr val="00A3E0"/>
                </a:solidFill>
              </a:rPr>
              <a:t>Framework</a:t>
            </a:r>
            <a:endParaRPr lang="en-US" sz="920" dirty="0"/>
          </a:p>
        </p:txBody>
      </p:sp>
      <p:sp>
        <p:nvSpPr>
          <p:cNvPr id="23" name="Text 21"/>
          <p:cNvSpPr/>
          <p:nvPr/>
        </p:nvSpPr>
        <p:spPr>
          <a:xfrm>
            <a:off x="3419856" y="2487168"/>
            <a:ext cx="2167128" cy="457200"/>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Python + Selenium WebDriver</a:t>
            </a:r>
            <a:endParaRPr lang="en-US" sz="770" dirty="0"/>
          </a:p>
          <a:p>
            <a:pPr marL="0" indent="0">
              <a:buNone/>
            </a:pPr>
            <a:r>
              <a:rPr lang="en-US" sz="770" dirty="0">
                <a:solidFill>
                  <a:srgbClr val="1F2937"/>
                </a:solidFill>
              </a:rPr>
              <a:t>Pytest + POM Framework</a:t>
            </a:r>
            <a:endParaRPr lang="en-US" sz="770" dirty="0"/>
          </a:p>
          <a:p>
            <a:pPr marL="0" indent="0">
              <a:buNone/>
            </a:pPr>
            <a:r>
              <a:rPr lang="en-US" sz="770" dirty="0">
                <a:solidFill>
                  <a:srgbClr val="1F2937"/>
                </a:solidFill>
              </a:rPr>
              <a:t>Chrome Browser</a:t>
            </a:r>
            <a:endParaRPr lang="en-US" sz="770" dirty="0"/>
          </a:p>
          <a:p>
            <a:pPr marL="0" indent="0">
              <a:buNone/>
            </a:pPr>
            <a:r>
              <a:rPr lang="en-US" sz="770" dirty="0">
                <a:solidFill>
                  <a:srgbClr val="1F2937"/>
                </a:solidFill>
              </a:rPr>
              <a:t>Logs and screenshots enabled</a:t>
            </a:r>
            <a:endParaRPr lang="en-US" sz="770" dirty="0"/>
          </a:p>
        </p:txBody>
      </p:sp>
      <p:sp>
        <p:nvSpPr>
          <p:cNvPr id="24" name="Shape 22"/>
          <p:cNvSpPr/>
          <p:nvPr/>
        </p:nvSpPr>
        <p:spPr>
          <a:xfrm>
            <a:off x="576072" y="3172968"/>
            <a:ext cx="5093208" cy="841248"/>
          </a:xfrm>
          <a:prstGeom prst="roundRect">
            <a:avLst>
              <a:gd name="adj" fmla="val 8696"/>
            </a:avLst>
          </a:prstGeom>
          <a:solidFill>
            <a:srgbClr val="FFFFFF"/>
          </a:solidFill>
          <a:ln w="12700">
            <a:solidFill>
              <a:srgbClr val="D6E4F2"/>
            </a:solidFill>
            <a:prstDash val="solid"/>
          </a:ln>
        </p:spPr>
      </p:sp>
      <p:sp>
        <p:nvSpPr>
          <p:cNvPr id="25" name="Shape 23"/>
          <p:cNvSpPr/>
          <p:nvPr/>
        </p:nvSpPr>
        <p:spPr>
          <a:xfrm>
            <a:off x="576072" y="3172968"/>
            <a:ext cx="73152" cy="841248"/>
          </a:xfrm>
          <a:prstGeom prst="rect">
            <a:avLst/>
          </a:prstGeom>
          <a:solidFill>
            <a:srgbClr val="1677C8"/>
          </a:solidFill>
          <a:ln w="12700">
            <a:solidFill>
              <a:srgbClr val="1677C8"/>
            </a:solidFill>
            <a:prstDash val="solid"/>
          </a:ln>
        </p:spPr>
      </p:sp>
      <p:sp>
        <p:nvSpPr>
          <p:cNvPr id="26" name="Text 24"/>
          <p:cNvSpPr/>
          <p:nvPr/>
        </p:nvSpPr>
        <p:spPr>
          <a:xfrm>
            <a:off x="722376" y="3282696"/>
            <a:ext cx="4864608" cy="164592"/>
          </a:xfrm>
          <a:prstGeom prst="rect">
            <a:avLst/>
          </a:prstGeom>
          <a:noFill/>
          <a:ln/>
        </p:spPr>
        <p:txBody>
          <a:bodyPr wrap="square" lIns="0" tIns="0" rIns="0" bIns="0" rtlCol="0" anchor="ctr"/>
          <a:lstStyle/>
          <a:p>
            <a:pPr marL="0" indent="0">
              <a:buNone/>
            </a:pPr>
            <a:r>
              <a:rPr lang="en-US" sz="920" b="1" dirty="0">
                <a:solidFill>
                  <a:srgbClr val="1677C8"/>
                </a:solidFill>
              </a:rPr>
              <a:t>Simple Project Description</a:t>
            </a:r>
            <a:endParaRPr lang="en-US" sz="920" dirty="0"/>
          </a:p>
        </p:txBody>
      </p:sp>
      <p:sp>
        <p:nvSpPr>
          <p:cNvPr id="27" name="Text 25"/>
          <p:cNvSpPr/>
          <p:nvPr/>
        </p:nvSpPr>
        <p:spPr>
          <a:xfrm>
            <a:off x="722376" y="3520440"/>
            <a:ext cx="4864608" cy="429768"/>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This module automates the complete train booking workflow on Goibibo using Selenium WebDriver with Python. The framework validates search, selection, booking navigation, form validations, and payment page navigation using reusable Page Object Model architecture.</a:t>
            </a:r>
            <a:endParaRPr lang="en-US" sz="770" dirty="0"/>
          </a:p>
        </p:txBody>
      </p:sp>
      <p:sp>
        <p:nvSpPr>
          <p:cNvPr id="28" name="Text 26"/>
          <p:cNvSpPr/>
          <p:nvPr/>
        </p:nvSpPr>
        <p:spPr>
          <a:xfrm>
            <a:off x="576072" y="4197096"/>
            <a:ext cx="1280160" cy="146304"/>
          </a:xfrm>
          <a:prstGeom prst="rect">
            <a:avLst/>
          </a:prstGeom>
          <a:noFill/>
          <a:ln/>
        </p:spPr>
        <p:txBody>
          <a:bodyPr wrap="square" lIns="0" tIns="0" rIns="0" bIns="0" rtlCol="0" anchor="ctr"/>
          <a:lstStyle/>
          <a:p>
            <a:pPr marL="0" indent="0">
              <a:buNone/>
            </a:pPr>
            <a:r>
              <a:rPr lang="en-US" sz="850" b="1" dirty="0">
                <a:solidFill>
                  <a:srgbClr val="14375F"/>
                </a:solidFill>
              </a:rPr>
              <a:t>Module Flow</a:t>
            </a:r>
            <a:endParaRPr lang="en-US" sz="850" dirty="0"/>
          </a:p>
        </p:txBody>
      </p:sp>
      <p:sp>
        <p:nvSpPr>
          <p:cNvPr id="29" name="Shape 27"/>
          <p:cNvSpPr/>
          <p:nvPr/>
        </p:nvSpPr>
        <p:spPr>
          <a:xfrm>
            <a:off x="576072" y="4425696"/>
            <a:ext cx="662287" cy="393192"/>
          </a:xfrm>
          <a:prstGeom prst="roundRect">
            <a:avLst>
              <a:gd name="adj" fmla="val 13953"/>
            </a:avLst>
          </a:prstGeom>
          <a:solidFill>
            <a:srgbClr val="FFFFFF"/>
          </a:solidFill>
          <a:ln w="12700">
            <a:solidFill>
              <a:srgbClr val="D6E4F2"/>
            </a:solidFill>
            <a:prstDash val="solid"/>
          </a:ln>
        </p:spPr>
      </p:sp>
      <p:sp>
        <p:nvSpPr>
          <p:cNvPr id="30" name="Text 28"/>
          <p:cNvSpPr/>
          <p:nvPr/>
        </p:nvSpPr>
        <p:spPr>
          <a:xfrm>
            <a:off x="603504" y="4517136"/>
            <a:ext cx="607423" cy="146304"/>
          </a:xfrm>
          <a:prstGeom prst="rect">
            <a:avLst/>
          </a:prstGeom>
          <a:noFill/>
          <a:ln/>
        </p:spPr>
        <p:txBody>
          <a:bodyPr wrap="square" lIns="0" tIns="0" rIns="0" bIns="0" rtlCol="0" anchor="ctr">
            <a:normAutofit/>
          </a:bodyPr>
          <a:lstStyle/>
          <a:p>
            <a:pPr marL="0" indent="0" algn="ctr">
              <a:buNone/>
            </a:pPr>
            <a:r>
              <a:rPr lang="en-US" sz="640" b="1" dirty="0">
                <a:solidFill>
                  <a:srgbClr val="1F2937"/>
                </a:solidFill>
              </a:rPr>
              <a:t>Open</a:t>
            </a:r>
            <a:endParaRPr lang="en-US" sz="640" dirty="0"/>
          </a:p>
        </p:txBody>
      </p:sp>
      <p:sp>
        <p:nvSpPr>
          <p:cNvPr id="31" name="Shape 29"/>
          <p:cNvSpPr/>
          <p:nvPr/>
        </p:nvSpPr>
        <p:spPr>
          <a:xfrm>
            <a:off x="1238359" y="4622292"/>
            <a:ext cx="73152" cy="0"/>
          </a:xfrm>
          <a:prstGeom prst="line">
            <a:avLst/>
          </a:prstGeom>
          <a:noFill/>
          <a:ln w="15240">
            <a:solidFill>
              <a:srgbClr val="1677C8"/>
            </a:solidFill>
            <a:prstDash val="solid"/>
            <a:tailEnd type="triangle"/>
          </a:ln>
        </p:spPr>
      </p:sp>
      <p:sp>
        <p:nvSpPr>
          <p:cNvPr id="32" name="Shape 30"/>
          <p:cNvSpPr/>
          <p:nvPr/>
        </p:nvSpPr>
        <p:spPr>
          <a:xfrm>
            <a:off x="1311511" y="4425696"/>
            <a:ext cx="662287" cy="393192"/>
          </a:xfrm>
          <a:prstGeom prst="roundRect">
            <a:avLst>
              <a:gd name="adj" fmla="val 13953"/>
            </a:avLst>
          </a:prstGeom>
          <a:solidFill>
            <a:srgbClr val="F3F8FE"/>
          </a:solidFill>
          <a:ln w="12700">
            <a:solidFill>
              <a:srgbClr val="D6E4F2"/>
            </a:solidFill>
            <a:prstDash val="solid"/>
          </a:ln>
        </p:spPr>
      </p:sp>
      <p:sp>
        <p:nvSpPr>
          <p:cNvPr id="33" name="Text 31"/>
          <p:cNvSpPr/>
          <p:nvPr/>
        </p:nvSpPr>
        <p:spPr>
          <a:xfrm>
            <a:off x="1338943" y="4517136"/>
            <a:ext cx="607423" cy="146304"/>
          </a:xfrm>
          <a:prstGeom prst="rect">
            <a:avLst/>
          </a:prstGeom>
          <a:noFill/>
          <a:ln/>
        </p:spPr>
        <p:txBody>
          <a:bodyPr wrap="square" lIns="0" tIns="0" rIns="0" bIns="0" rtlCol="0" anchor="ctr">
            <a:normAutofit/>
          </a:bodyPr>
          <a:lstStyle/>
          <a:p>
            <a:pPr marL="0" indent="0" algn="ctr">
              <a:buNone/>
            </a:pPr>
            <a:r>
              <a:rPr lang="en-US" sz="640" b="1" dirty="0">
                <a:solidFill>
                  <a:srgbClr val="1F2937"/>
                </a:solidFill>
              </a:rPr>
              <a:t>Trains</a:t>
            </a:r>
            <a:endParaRPr lang="en-US" sz="640" dirty="0"/>
          </a:p>
        </p:txBody>
      </p:sp>
      <p:sp>
        <p:nvSpPr>
          <p:cNvPr id="34" name="Shape 32"/>
          <p:cNvSpPr/>
          <p:nvPr/>
        </p:nvSpPr>
        <p:spPr>
          <a:xfrm>
            <a:off x="1973798" y="4622292"/>
            <a:ext cx="73152" cy="0"/>
          </a:xfrm>
          <a:prstGeom prst="line">
            <a:avLst/>
          </a:prstGeom>
          <a:noFill/>
          <a:ln w="15240">
            <a:solidFill>
              <a:srgbClr val="1677C8"/>
            </a:solidFill>
            <a:prstDash val="solid"/>
            <a:tailEnd type="triangle"/>
          </a:ln>
        </p:spPr>
      </p:sp>
      <p:sp>
        <p:nvSpPr>
          <p:cNvPr id="35" name="Shape 33"/>
          <p:cNvSpPr/>
          <p:nvPr/>
        </p:nvSpPr>
        <p:spPr>
          <a:xfrm>
            <a:off x="2046950" y="4425696"/>
            <a:ext cx="662287" cy="393192"/>
          </a:xfrm>
          <a:prstGeom prst="roundRect">
            <a:avLst>
              <a:gd name="adj" fmla="val 13953"/>
            </a:avLst>
          </a:prstGeom>
          <a:solidFill>
            <a:srgbClr val="FFFFFF"/>
          </a:solidFill>
          <a:ln w="12700">
            <a:solidFill>
              <a:srgbClr val="D6E4F2"/>
            </a:solidFill>
            <a:prstDash val="solid"/>
          </a:ln>
        </p:spPr>
      </p:sp>
      <p:sp>
        <p:nvSpPr>
          <p:cNvPr id="36" name="Text 34"/>
          <p:cNvSpPr/>
          <p:nvPr/>
        </p:nvSpPr>
        <p:spPr>
          <a:xfrm>
            <a:off x="2074382" y="4517136"/>
            <a:ext cx="607423" cy="146304"/>
          </a:xfrm>
          <a:prstGeom prst="rect">
            <a:avLst/>
          </a:prstGeom>
          <a:noFill/>
          <a:ln/>
        </p:spPr>
        <p:txBody>
          <a:bodyPr wrap="square" lIns="0" tIns="0" rIns="0" bIns="0" rtlCol="0" anchor="ctr">
            <a:normAutofit/>
          </a:bodyPr>
          <a:lstStyle/>
          <a:p>
            <a:pPr marL="0" indent="0" algn="ctr">
              <a:buNone/>
            </a:pPr>
            <a:r>
              <a:rPr lang="en-US" sz="640" b="1" dirty="0">
                <a:solidFill>
                  <a:srgbClr val="1F2937"/>
                </a:solidFill>
              </a:rPr>
              <a:t>Source/Dest</a:t>
            </a:r>
            <a:endParaRPr lang="en-US" sz="640" dirty="0"/>
          </a:p>
        </p:txBody>
      </p:sp>
      <p:sp>
        <p:nvSpPr>
          <p:cNvPr id="37" name="Shape 35"/>
          <p:cNvSpPr/>
          <p:nvPr/>
        </p:nvSpPr>
        <p:spPr>
          <a:xfrm>
            <a:off x="2709237" y="4622292"/>
            <a:ext cx="73152" cy="0"/>
          </a:xfrm>
          <a:prstGeom prst="line">
            <a:avLst/>
          </a:prstGeom>
          <a:noFill/>
          <a:ln w="15240">
            <a:solidFill>
              <a:srgbClr val="1677C8"/>
            </a:solidFill>
            <a:prstDash val="solid"/>
            <a:tailEnd type="triangle"/>
          </a:ln>
        </p:spPr>
      </p:sp>
      <p:sp>
        <p:nvSpPr>
          <p:cNvPr id="38" name="Shape 36"/>
          <p:cNvSpPr/>
          <p:nvPr/>
        </p:nvSpPr>
        <p:spPr>
          <a:xfrm>
            <a:off x="2782389" y="4425696"/>
            <a:ext cx="662287" cy="393192"/>
          </a:xfrm>
          <a:prstGeom prst="roundRect">
            <a:avLst>
              <a:gd name="adj" fmla="val 13953"/>
            </a:avLst>
          </a:prstGeom>
          <a:solidFill>
            <a:srgbClr val="F3F8FE"/>
          </a:solidFill>
          <a:ln w="12700">
            <a:solidFill>
              <a:srgbClr val="D6E4F2"/>
            </a:solidFill>
            <a:prstDash val="solid"/>
          </a:ln>
        </p:spPr>
      </p:sp>
      <p:sp>
        <p:nvSpPr>
          <p:cNvPr id="39" name="Text 37"/>
          <p:cNvSpPr/>
          <p:nvPr/>
        </p:nvSpPr>
        <p:spPr>
          <a:xfrm>
            <a:off x="2809821" y="4517136"/>
            <a:ext cx="607423" cy="146304"/>
          </a:xfrm>
          <a:prstGeom prst="rect">
            <a:avLst/>
          </a:prstGeom>
          <a:noFill/>
          <a:ln/>
        </p:spPr>
        <p:txBody>
          <a:bodyPr wrap="square" lIns="0" tIns="0" rIns="0" bIns="0" rtlCol="0" anchor="ctr">
            <a:normAutofit/>
          </a:bodyPr>
          <a:lstStyle/>
          <a:p>
            <a:pPr marL="0" indent="0" algn="ctr">
              <a:buNone/>
            </a:pPr>
            <a:r>
              <a:rPr lang="en-US" sz="640" b="1" dirty="0">
                <a:solidFill>
                  <a:srgbClr val="1F2937"/>
                </a:solidFill>
              </a:rPr>
              <a:t>Search</a:t>
            </a:r>
            <a:endParaRPr lang="en-US" sz="640" dirty="0"/>
          </a:p>
        </p:txBody>
      </p:sp>
      <p:sp>
        <p:nvSpPr>
          <p:cNvPr id="40" name="Shape 38"/>
          <p:cNvSpPr/>
          <p:nvPr/>
        </p:nvSpPr>
        <p:spPr>
          <a:xfrm>
            <a:off x="3444675" y="4622292"/>
            <a:ext cx="73152" cy="0"/>
          </a:xfrm>
          <a:prstGeom prst="line">
            <a:avLst/>
          </a:prstGeom>
          <a:noFill/>
          <a:ln w="15240">
            <a:solidFill>
              <a:srgbClr val="1677C8"/>
            </a:solidFill>
            <a:prstDash val="solid"/>
            <a:tailEnd type="triangle"/>
          </a:ln>
        </p:spPr>
      </p:sp>
      <p:sp>
        <p:nvSpPr>
          <p:cNvPr id="41" name="Shape 39"/>
          <p:cNvSpPr/>
          <p:nvPr/>
        </p:nvSpPr>
        <p:spPr>
          <a:xfrm>
            <a:off x="3517827" y="4425696"/>
            <a:ext cx="662287" cy="393192"/>
          </a:xfrm>
          <a:prstGeom prst="roundRect">
            <a:avLst>
              <a:gd name="adj" fmla="val 13953"/>
            </a:avLst>
          </a:prstGeom>
          <a:solidFill>
            <a:srgbClr val="FFFFFF"/>
          </a:solidFill>
          <a:ln w="12700">
            <a:solidFill>
              <a:srgbClr val="D6E4F2"/>
            </a:solidFill>
            <a:prstDash val="solid"/>
          </a:ln>
        </p:spPr>
      </p:sp>
      <p:sp>
        <p:nvSpPr>
          <p:cNvPr id="42" name="Text 40"/>
          <p:cNvSpPr/>
          <p:nvPr/>
        </p:nvSpPr>
        <p:spPr>
          <a:xfrm>
            <a:off x="3545259" y="4517136"/>
            <a:ext cx="607423" cy="146304"/>
          </a:xfrm>
          <a:prstGeom prst="rect">
            <a:avLst/>
          </a:prstGeom>
          <a:noFill/>
          <a:ln/>
        </p:spPr>
        <p:txBody>
          <a:bodyPr wrap="square" lIns="0" tIns="0" rIns="0" bIns="0" rtlCol="0" anchor="ctr">
            <a:normAutofit/>
          </a:bodyPr>
          <a:lstStyle/>
          <a:p>
            <a:pPr marL="0" indent="0" algn="ctr">
              <a:buNone/>
            </a:pPr>
            <a:r>
              <a:rPr lang="en-US" sz="640" b="1" dirty="0">
                <a:solidFill>
                  <a:srgbClr val="1F2937"/>
                </a:solidFill>
              </a:rPr>
              <a:t>Select</a:t>
            </a:r>
            <a:endParaRPr lang="en-US" sz="640" dirty="0"/>
          </a:p>
        </p:txBody>
      </p:sp>
      <p:sp>
        <p:nvSpPr>
          <p:cNvPr id="43" name="Shape 41"/>
          <p:cNvSpPr/>
          <p:nvPr/>
        </p:nvSpPr>
        <p:spPr>
          <a:xfrm>
            <a:off x="4180114" y="4622292"/>
            <a:ext cx="73152" cy="0"/>
          </a:xfrm>
          <a:prstGeom prst="line">
            <a:avLst/>
          </a:prstGeom>
          <a:noFill/>
          <a:ln w="15240">
            <a:solidFill>
              <a:srgbClr val="1677C8"/>
            </a:solidFill>
            <a:prstDash val="solid"/>
            <a:tailEnd type="triangle"/>
          </a:ln>
        </p:spPr>
      </p:sp>
      <p:sp>
        <p:nvSpPr>
          <p:cNvPr id="44" name="Shape 42"/>
          <p:cNvSpPr/>
          <p:nvPr/>
        </p:nvSpPr>
        <p:spPr>
          <a:xfrm>
            <a:off x="4253266" y="4425696"/>
            <a:ext cx="662287" cy="393192"/>
          </a:xfrm>
          <a:prstGeom prst="roundRect">
            <a:avLst>
              <a:gd name="adj" fmla="val 13953"/>
            </a:avLst>
          </a:prstGeom>
          <a:solidFill>
            <a:srgbClr val="F3F8FE"/>
          </a:solidFill>
          <a:ln w="12700">
            <a:solidFill>
              <a:srgbClr val="D6E4F2"/>
            </a:solidFill>
            <a:prstDash val="solid"/>
          </a:ln>
        </p:spPr>
      </p:sp>
      <p:sp>
        <p:nvSpPr>
          <p:cNvPr id="45" name="Text 43"/>
          <p:cNvSpPr/>
          <p:nvPr/>
        </p:nvSpPr>
        <p:spPr>
          <a:xfrm>
            <a:off x="4280698" y="4517136"/>
            <a:ext cx="607423" cy="146304"/>
          </a:xfrm>
          <a:prstGeom prst="rect">
            <a:avLst/>
          </a:prstGeom>
          <a:noFill/>
          <a:ln/>
        </p:spPr>
        <p:txBody>
          <a:bodyPr wrap="square" lIns="0" tIns="0" rIns="0" bIns="0" rtlCol="0" anchor="ctr">
            <a:normAutofit/>
          </a:bodyPr>
          <a:lstStyle/>
          <a:p>
            <a:pPr marL="0" indent="0" algn="ctr">
              <a:buNone/>
            </a:pPr>
            <a:r>
              <a:rPr lang="en-US" sz="640" b="1" dirty="0">
                <a:solidFill>
                  <a:srgbClr val="1F2937"/>
                </a:solidFill>
              </a:rPr>
              <a:t>Booking</a:t>
            </a:r>
            <a:endParaRPr lang="en-US" sz="640" dirty="0"/>
          </a:p>
        </p:txBody>
      </p:sp>
      <p:sp>
        <p:nvSpPr>
          <p:cNvPr id="46" name="Shape 44"/>
          <p:cNvSpPr/>
          <p:nvPr/>
        </p:nvSpPr>
        <p:spPr>
          <a:xfrm>
            <a:off x="4915553" y="4622292"/>
            <a:ext cx="73152" cy="0"/>
          </a:xfrm>
          <a:prstGeom prst="line">
            <a:avLst/>
          </a:prstGeom>
          <a:noFill/>
          <a:ln w="15240">
            <a:solidFill>
              <a:srgbClr val="1677C8"/>
            </a:solidFill>
            <a:prstDash val="solid"/>
            <a:tailEnd type="triangle"/>
          </a:ln>
        </p:spPr>
      </p:sp>
      <p:sp>
        <p:nvSpPr>
          <p:cNvPr id="47" name="Shape 45"/>
          <p:cNvSpPr/>
          <p:nvPr/>
        </p:nvSpPr>
        <p:spPr>
          <a:xfrm>
            <a:off x="4988705" y="4425696"/>
            <a:ext cx="662287" cy="393192"/>
          </a:xfrm>
          <a:prstGeom prst="roundRect">
            <a:avLst>
              <a:gd name="adj" fmla="val 13953"/>
            </a:avLst>
          </a:prstGeom>
          <a:solidFill>
            <a:srgbClr val="FFFFFF"/>
          </a:solidFill>
          <a:ln w="12700">
            <a:solidFill>
              <a:srgbClr val="D6E4F2"/>
            </a:solidFill>
            <a:prstDash val="solid"/>
          </a:ln>
        </p:spPr>
      </p:sp>
      <p:sp>
        <p:nvSpPr>
          <p:cNvPr id="48" name="Text 46"/>
          <p:cNvSpPr/>
          <p:nvPr/>
        </p:nvSpPr>
        <p:spPr>
          <a:xfrm>
            <a:off x="5016137" y="4517136"/>
            <a:ext cx="607423" cy="146304"/>
          </a:xfrm>
          <a:prstGeom prst="rect">
            <a:avLst/>
          </a:prstGeom>
          <a:noFill/>
          <a:ln/>
        </p:spPr>
        <p:txBody>
          <a:bodyPr wrap="square" lIns="0" tIns="0" rIns="0" bIns="0" rtlCol="0" anchor="ctr">
            <a:normAutofit/>
          </a:bodyPr>
          <a:lstStyle/>
          <a:p>
            <a:pPr marL="0" indent="0" algn="ctr">
              <a:buNone/>
            </a:pPr>
            <a:r>
              <a:rPr lang="en-US" sz="640" b="1" dirty="0">
                <a:solidFill>
                  <a:srgbClr val="1F2937"/>
                </a:solidFill>
              </a:rPr>
              <a:t>Payment</a:t>
            </a:r>
            <a:endParaRPr lang="en-US" sz="640" dirty="0"/>
          </a:p>
        </p:txBody>
      </p:sp>
      <p:sp>
        <p:nvSpPr>
          <p:cNvPr id="49" name="Shape 47"/>
          <p:cNvSpPr/>
          <p:nvPr/>
        </p:nvSpPr>
        <p:spPr>
          <a:xfrm>
            <a:off x="576072" y="5029200"/>
            <a:ext cx="2487168" cy="768096"/>
          </a:xfrm>
          <a:prstGeom prst="roundRect">
            <a:avLst>
              <a:gd name="adj" fmla="val 9524"/>
            </a:avLst>
          </a:prstGeom>
          <a:solidFill>
            <a:srgbClr val="FFFFFF"/>
          </a:solidFill>
          <a:ln w="12700">
            <a:solidFill>
              <a:srgbClr val="D6E4F2"/>
            </a:solidFill>
            <a:prstDash val="solid"/>
          </a:ln>
        </p:spPr>
      </p:sp>
      <p:sp>
        <p:nvSpPr>
          <p:cNvPr id="50" name="Shape 48"/>
          <p:cNvSpPr/>
          <p:nvPr/>
        </p:nvSpPr>
        <p:spPr>
          <a:xfrm>
            <a:off x="576072" y="5029200"/>
            <a:ext cx="73152" cy="768096"/>
          </a:xfrm>
          <a:prstGeom prst="rect">
            <a:avLst/>
          </a:prstGeom>
          <a:solidFill>
            <a:srgbClr val="1677C8"/>
          </a:solidFill>
          <a:ln w="12700">
            <a:solidFill>
              <a:srgbClr val="1677C8"/>
            </a:solidFill>
            <a:prstDash val="solid"/>
          </a:ln>
        </p:spPr>
      </p:sp>
      <p:sp>
        <p:nvSpPr>
          <p:cNvPr id="51" name="Text 49"/>
          <p:cNvSpPr/>
          <p:nvPr/>
        </p:nvSpPr>
        <p:spPr>
          <a:xfrm>
            <a:off x="722376" y="5138928"/>
            <a:ext cx="2258568" cy="164592"/>
          </a:xfrm>
          <a:prstGeom prst="rect">
            <a:avLst/>
          </a:prstGeom>
          <a:noFill/>
          <a:ln/>
        </p:spPr>
        <p:txBody>
          <a:bodyPr wrap="square" lIns="0" tIns="0" rIns="0" bIns="0" rtlCol="0" anchor="ctr"/>
          <a:lstStyle/>
          <a:p>
            <a:pPr marL="0" indent="0">
              <a:buNone/>
            </a:pPr>
            <a:r>
              <a:rPr lang="en-US" sz="920" b="1" dirty="0">
                <a:solidFill>
                  <a:srgbClr val="1677C8"/>
                </a:solidFill>
              </a:rPr>
              <a:t>Test Environment</a:t>
            </a:r>
            <a:endParaRPr lang="en-US" sz="920" dirty="0"/>
          </a:p>
        </p:txBody>
      </p:sp>
      <p:sp>
        <p:nvSpPr>
          <p:cNvPr id="52" name="Text 50"/>
          <p:cNvSpPr/>
          <p:nvPr/>
        </p:nvSpPr>
        <p:spPr>
          <a:xfrm>
            <a:off x="722376" y="5376672"/>
            <a:ext cx="2258568" cy="356616"/>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OS: Windows 11</a:t>
            </a:r>
            <a:endParaRPr lang="en-US" sz="770" dirty="0"/>
          </a:p>
          <a:p>
            <a:pPr marL="0" indent="0">
              <a:buNone/>
            </a:pPr>
            <a:r>
              <a:rPr lang="en-US" sz="770" dirty="0">
                <a:solidFill>
                  <a:srgbClr val="1F2937"/>
                </a:solidFill>
              </a:rPr>
              <a:t>Framework: POM</a:t>
            </a:r>
            <a:endParaRPr lang="en-US" sz="770" dirty="0"/>
          </a:p>
          <a:p>
            <a:pPr marL="0" indent="0">
              <a:buNone/>
            </a:pPr>
            <a:r>
              <a:rPr lang="en-US" sz="770" dirty="0">
                <a:solidFill>
                  <a:srgbClr val="1F2937"/>
                </a:solidFill>
              </a:rPr>
              <a:t>Logs: Enabled</a:t>
            </a:r>
            <a:endParaRPr lang="en-US" sz="770" dirty="0"/>
          </a:p>
          <a:p>
            <a:pPr marL="0" indent="0">
              <a:buNone/>
            </a:pPr>
            <a:r>
              <a:rPr lang="en-US" sz="770" dirty="0">
                <a:solidFill>
                  <a:srgbClr val="1F2937"/>
                </a:solidFill>
              </a:rPr>
              <a:t>Screenshots: Enabled</a:t>
            </a:r>
            <a:endParaRPr lang="en-US" sz="770" dirty="0"/>
          </a:p>
        </p:txBody>
      </p:sp>
      <p:sp>
        <p:nvSpPr>
          <p:cNvPr id="53" name="Shape 51"/>
          <p:cNvSpPr/>
          <p:nvPr/>
        </p:nvSpPr>
        <p:spPr>
          <a:xfrm>
            <a:off x="3182112" y="5029200"/>
            <a:ext cx="2487168" cy="768096"/>
          </a:xfrm>
          <a:prstGeom prst="roundRect">
            <a:avLst>
              <a:gd name="adj" fmla="val 9524"/>
            </a:avLst>
          </a:prstGeom>
          <a:solidFill>
            <a:srgbClr val="FFFFFF"/>
          </a:solidFill>
          <a:ln w="12700">
            <a:solidFill>
              <a:srgbClr val="D6E4F2"/>
            </a:solidFill>
            <a:prstDash val="solid"/>
          </a:ln>
        </p:spPr>
      </p:sp>
      <p:sp>
        <p:nvSpPr>
          <p:cNvPr id="54" name="Shape 52"/>
          <p:cNvSpPr/>
          <p:nvPr/>
        </p:nvSpPr>
        <p:spPr>
          <a:xfrm>
            <a:off x="3182112" y="5029200"/>
            <a:ext cx="73152" cy="768096"/>
          </a:xfrm>
          <a:prstGeom prst="rect">
            <a:avLst/>
          </a:prstGeom>
          <a:solidFill>
            <a:srgbClr val="12B76A"/>
          </a:solidFill>
          <a:ln w="12700">
            <a:solidFill>
              <a:srgbClr val="12B76A"/>
            </a:solidFill>
            <a:prstDash val="solid"/>
          </a:ln>
        </p:spPr>
      </p:sp>
      <p:sp>
        <p:nvSpPr>
          <p:cNvPr id="55" name="Text 53"/>
          <p:cNvSpPr/>
          <p:nvPr/>
        </p:nvSpPr>
        <p:spPr>
          <a:xfrm>
            <a:off x="3328416" y="5138928"/>
            <a:ext cx="2258568" cy="164592"/>
          </a:xfrm>
          <a:prstGeom prst="rect">
            <a:avLst/>
          </a:prstGeom>
          <a:noFill/>
          <a:ln/>
        </p:spPr>
        <p:txBody>
          <a:bodyPr wrap="square" lIns="0" tIns="0" rIns="0" bIns="0" rtlCol="0" anchor="ctr"/>
          <a:lstStyle/>
          <a:p>
            <a:pPr marL="0" indent="0">
              <a:buNone/>
            </a:pPr>
            <a:r>
              <a:rPr lang="en-US" sz="920" b="1" dirty="0">
                <a:solidFill>
                  <a:srgbClr val="12B76A"/>
                </a:solidFill>
              </a:rPr>
              <a:t>Execution Result</a:t>
            </a:r>
            <a:endParaRPr lang="en-US" sz="920" dirty="0"/>
          </a:p>
        </p:txBody>
      </p:sp>
      <p:sp>
        <p:nvSpPr>
          <p:cNvPr id="56" name="Text 54"/>
          <p:cNvSpPr/>
          <p:nvPr/>
        </p:nvSpPr>
        <p:spPr>
          <a:xfrm>
            <a:off x="3328416" y="5376672"/>
            <a:ext cx="2258568" cy="356616"/>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Total Tests: 6</a:t>
            </a:r>
            <a:endParaRPr lang="en-US" sz="770" dirty="0"/>
          </a:p>
          <a:p>
            <a:pPr marL="0" indent="0">
              <a:buNone/>
            </a:pPr>
            <a:r>
              <a:rPr lang="en-US" sz="770" dirty="0">
                <a:solidFill>
                  <a:srgbClr val="1F2937"/>
                </a:solidFill>
              </a:rPr>
              <a:t>Passed: 6</a:t>
            </a:r>
            <a:endParaRPr lang="en-US" sz="770" dirty="0"/>
          </a:p>
          <a:p>
            <a:pPr marL="0" indent="0">
              <a:buNone/>
            </a:pPr>
            <a:r>
              <a:rPr lang="en-US" sz="770" dirty="0">
                <a:solidFill>
                  <a:srgbClr val="1F2937"/>
                </a:solidFill>
              </a:rPr>
              <a:t>Failed: 0</a:t>
            </a:r>
            <a:endParaRPr lang="en-US" sz="770" dirty="0"/>
          </a:p>
          <a:p>
            <a:pPr marL="0" indent="0">
              <a:buNone/>
            </a:pPr>
            <a:r>
              <a:rPr lang="en-US" sz="770" dirty="0">
                <a:solidFill>
                  <a:srgbClr val="1F2937"/>
                </a:solidFill>
              </a:rPr>
              <a:t>Accuracy: 100%</a:t>
            </a:r>
            <a:endParaRPr lang="en-US" sz="770" dirty="0"/>
          </a:p>
        </p:txBody>
      </p:sp>
      <p:sp>
        <p:nvSpPr>
          <p:cNvPr id="57" name="Shape 55"/>
          <p:cNvSpPr/>
          <p:nvPr/>
        </p:nvSpPr>
        <p:spPr>
          <a:xfrm>
            <a:off x="6400800" y="2139696"/>
            <a:ext cx="5093208" cy="804672"/>
          </a:xfrm>
          <a:prstGeom prst="roundRect">
            <a:avLst>
              <a:gd name="adj" fmla="val 9091"/>
            </a:avLst>
          </a:prstGeom>
          <a:solidFill>
            <a:srgbClr val="FFFFFF"/>
          </a:solidFill>
          <a:ln w="12700">
            <a:solidFill>
              <a:srgbClr val="D6E4F2"/>
            </a:solidFill>
            <a:prstDash val="solid"/>
          </a:ln>
        </p:spPr>
      </p:sp>
      <p:sp>
        <p:nvSpPr>
          <p:cNvPr id="58" name="Shape 56"/>
          <p:cNvSpPr/>
          <p:nvPr/>
        </p:nvSpPr>
        <p:spPr>
          <a:xfrm>
            <a:off x="6400800" y="2139696"/>
            <a:ext cx="73152" cy="804672"/>
          </a:xfrm>
          <a:prstGeom prst="rect">
            <a:avLst/>
          </a:prstGeom>
          <a:solidFill>
            <a:srgbClr val="14375F"/>
          </a:solidFill>
          <a:ln w="12700">
            <a:solidFill>
              <a:srgbClr val="14375F"/>
            </a:solidFill>
            <a:prstDash val="solid"/>
          </a:ln>
        </p:spPr>
      </p:sp>
      <p:sp>
        <p:nvSpPr>
          <p:cNvPr id="59" name="Text 57"/>
          <p:cNvSpPr/>
          <p:nvPr/>
        </p:nvSpPr>
        <p:spPr>
          <a:xfrm>
            <a:off x="6547104" y="2249424"/>
            <a:ext cx="4864608" cy="164592"/>
          </a:xfrm>
          <a:prstGeom prst="rect">
            <a:avLst/>
          </a:prstGeom>
          <a:noFill/>
          <a:ln/>
        </p:spPr>
        <p:txBody>
          <a:bodyPr wrap="square" lIns="0" tIns="0" rIns="0" bIns="0" rtlCol="0" anchor="ctr"/>
          <a:lstStyle/>
          <a:p>
            <a:pPr marL="0" indent="0">
              <a:buNone/>
            </a:pPr>
            <a:r>
              <a:rPr lang="en-US" sz="920" b="1" dirty="0">
                <a:solidFill>
                  <a:srgbClr val="14375F"/>
                </a:solidFill>
              </a:rPr>
              <a:t>BDD Test Strategy</a:t>
            </a:r>
            <a:endParaRPr lang="en-US" sz="920" dirty="0"/>
          </a:p>
        </p:txBody>
      </p:sp>
      <p:sp>
        <p:nvSpPr>
          <p:cNvPr id="60" name="Text 58"/>
          <p:cNvSpPr/>
          <p:nvPr/>
        </p:nvSpPr>
        <p:spPr>
          <a:xfrm>
            <a:off x="6547104" y="2487168"/>
            <a:ext cx="4864608" cy="393192"/>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Behave BDD uses Gherkin feature files with Given, When, Then syntax. Scenarios are readable for technical and non-technical reviewers and map to Selenium step definitions.</a:t>
            </a:r>
            <a:endParaRPr lang="en-US" sz="770" dirty="0"/>
          </a:p>
        </p:txBody>
      </p:sp>
      <p:sp>
        <p:nvSpPr>
          <p:cNvPr id="61" name="Shape 59"/>
          <p:cNvSpPr/>
          <p:nvPr/>
        </p:nvSpPr>
        <p:spPr>
          <a:xfrm>
            <a:off x="6400800" y="3108960"/>
            <a:ext cx="2487168" cy="1097280"/>
          </a:xfrm>
          <a:prstGeom prst="roundRect">
            <a:avLst>
              <a:gd name="adj" fmla="val 6667"/>
            </a:avLst>
          </a:prstGeom>
          <a:solidFill>
            <a:srgbClr val="FFFFFF"/>
          </a:solidFill>
          <a:ln w="12700">
            <a:solidFill>
              <a:srgbClr val="D6E4F2"/>
            </a:solidFill>
            <a:prstDash val="solid"/>
          </a:ln>
        </p:spPr>
      </p:sp>
      <p:sp>
        <p:nvSpPr>
          <p:cNvPr id="62" name="Shape 60"/>
          <p:cNvSpPr/>
          <p:nvPr/>
        </p:nvSpPr>
        <p:spPr>
          <a:xfrm>
            <a:off x="6400800" y="3108960"/>
            <a:ext cx="73152" cy="1097280"/>
          </a:xfrm>
          <a:prstGeom prst="rect">
            <a:avLst/>
          </a:prstGeom>
          <a:solidFill>
            <a:srgbClr val="12B76A"/>
          </a:solidFill>
          <a:ln w="12700">
            <a:solidFill>
              <a:srgbClr val="12B76A"/>
            </a:solidFill>
            <a:prstDash val="solid"/>
          </a:ln>
        </p:spPr>
      </p:sp>
      <p:sp>
        <p:nvSpPr>
          <p:cNvPr id="63" name="Text 61"/>
          <p:cNvSpPr/>
          <p:nvPr/>
        </p:nvSpPr>
        <p:spPr>
          <a:xfrm>
            <a:off x="6547104" y="3218688"/>
            <a:ext cx="2258568" cy="164592"/>
          </a:xfrm>
          <a:prstGeom prst="rect">
            <a:avLst/>
          </a:prstGeom>
          <a:noFill/>
          <a:ln/>
        </p:spPr>
        <p:txBody>
          <a:bodyPr wrap="square" lIns="0" tIns="0" rIns="0" bIns="0" rtlCol="0" anchor="ctr"/>
          <a:lstStyle/>
          <a:p>
            <a:pPr marL="0" indent="0">
              <a:buNone/>
            </a:pPr>
            <a:r>
              <a:rPr lang="en-US" sz="920" b="1" dirty="0">
                <a:solidFill>
                  <a:srgbClr val="12B76A"/>
                </a:solidFill>
              </a:rPr>
              <a:t>Positive Test Cases</a:t>
            </a:r>
            <a:endParaRPr lang="en-US" sz="920" dirty="0"/>
          </a:p>
        </p:txBody>
      </p:sp>
      <p:sp>
        <p:nvSpPr>
          <p:cNvPr id="64" name="Text 62"/>
          <p:cNvSpPr/>
          <p:nvPr/>
        </p:nvSpPr>
        <p:spPr>
          <a:xfrm>
            <a:off x="6547104" y="3456432"/>
            <a:ext cx="2258568" cy="685800"/>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1. Successful train search</a:t>
            </a:r>
            <a:endParaRPr lang="en-US" sz="770" dirty="0"/>
          </a:p>
          <a:p>
            <a:pPr marL="0" indent="0">
              <a:buNone/>
            </a:pPr>
            <a:r>
              <a:rPr lang="en-US" sz="770" dirty="0">
                <a:solidFill>
                  <a:srgbClr val="1F2937"/>
                </a:solidFill>
              </a:rPr>
              <a:t>2. Booking validation</a:t>
            </a:r>
            <a:endParaRPr lang="en-US" sz="770" dirty="0"/>
          </a:p>
          <a:p>
            <a:pPr marL="0" indent="0">
              <a:buNone/>
            </a:pPr>
            <a:r>
              <a:rPr lang="en-US" sz="770" dirty="0">
                <a:solidFill>
                  <a:srgbClr val="1F2937"/>
                </a:solidFill>
              </a:rPr>
              <a:t>3. Navigation validation</a:t>
            </a:r>
            <a:endParaRPr lang="en-US" sz="770" dirty="0"/>
          </a:p>
          <a:p>
            <a:pPr marL="0" indent="0">
              <a:buNone/>
            </a:pPr>
            <a:r>
              <a:rPr lang="en-US" sz="770" dirty="0">
                <a:solidFill>
                  <a:srgbClr val="1F2937"/>
                </a:solidFill>
              </a:rPr>
              <a:t>4. Payment validation</a:t>
            </a:r>
            <a:endParaRPr lang="en-US" sz="770" dirty="0"/>
          </a:p>
        </p:txBody>
      </p:sp>
      <p:sp>
        <p:nvSpPr>
          <p:cNvPr id="65" name="Shape 63"/>
          <p:cNvSpPr/>
          <p:nvPr/>
        </p:nvSpPr>
        <p:spPr>
          <a:xfrm>
            <a:off x="9006840" y="3108960"/>
            <a:ext cx="2487168" cy="1097280"/>
          </a:xfrm>
          <a:prstGeom prst="roundRect">
            <a:avLst>
              <a:gd name="adj" fmla="val 6667"/>
            </a:avLst>
          </a:prstGeom>
          <a:solidFill>
            <a:srgbClr val="FFFFFF"/>
          </a:solidFill>
          <a:ln w="12700">
            <a:solidFill>
              <a:srgbClr val="D6E4F2"/>
            </a:solidFill>
            <a:prstDash val="solid"/>
          </a:ln>
        </p:spPr>
      </p:sp>
      <p:sp>
        <p:nvSpPr>
          <p:cNvPr id="66" name="Shape 64"/>
          <p:cNvSpPr/>
          <p:nvPr/>
        </p:nvSpPr>
        <p:spPr>
          <a:xfrm>
            <a:off x="9006840" y="3108960"/>
            <a:ext cx="73152" cy="1097280"/>
          </a:xfrm>
          <a:prstGeom prst="rect">
            <a:avLst/>
          </a:prstGeom>
          <a:solidFill>
            <a:srgbClr val="D92D20"/>
          </a:solidFill>
          <a:ln w="12700">
            <a:solidFill>
              <a:srgbClr val="D92D20"/>
            </a:solidFill>
            <a:prstDash val="solid"/>
          </a:ln>
        </p:spPr>
      </p:sp>
      <p:sp>
        <p:nvSpPr>
          <p:cNvPr id="67" name="Text 65"/>
          <p:cNvSpPr/>
          <p:nvPr/>
        </p:nvSpPr>
        <p:spPr>
          <a:xfrm>
            <a:off x="9153144" y="3218688"/>
            <a:ext cx="2258568" cy="164592"/>
          </a:xfrm>
          <a:prstGeom prst="rect">
            <a:avLst/>
          </a:prstGeom>
          <a:noFill/>
          <a:ln/>
        </p:spPr>
        <p:txBody>
          <a:bodyPr wrap="square" lIns="0" tIns="0" rIns="0" bIns="0" rtlCol="0" anchor="ctr"/>
          <a:lstStyle/>
          <a:p>
            <a:pPr marL="0" indent="0">
              <a:buNone/>
            </a:pPr>
            <a:r>
              <a:rPr lang="en-US" sz="920" b="1" dirty="0">
                <a:solidFill>
                  <a:srgbClr val="D92D20"/>
                </a:solidFill>
              </a:rPr>
              <a:t>Negative Test Cases</a:t>
            </a:r>
            <a:endParaRPr lang="en-US" sz="920" dirty="0"/>
          </a:p>
        </p:txBody>
      </p:sp>
      <p:sp>
        <p:nvSpPr>
          <p:cNvPr id="68" name="Text 66"/>
          <p:cNvSpPr/>
          <p:nvPr/>
        </p:nvSpPr>
        <p:spPr>
          <a:xfrm>
            <a:off x="9153144" y="3456432"/>
            <a:ext cx="2258568" cy="685800"/>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1. Empty station validation</a:t>
            </a:r>
            <a:endParaRPr lang="en-US" sz="770" dirty="0"/>
          </a:p>
          <a:p>
            <a:pPr marL="0" indent="0">
              <a:buNone/>
            </a:pPr>
            <a:r>
              <a:rPr lang="en-US" sz="770" dirty="0">
                <a:solidFill>
                  <a:srgbClr val="1F2937"/>
                </a:solidFill>
              </a:rPr>
              <a:t>2. Invalid date validation</a:t>
            </a:r>
            <a:endParaRPr lang="en-US" sz="770" dirty="0"/>
          </a:p>
        </p:txBody>
      </p:sp>
      <p:sp>
        <p:nvSpPr>
          <p:cNvPr id="69" name="Shape 67"/>
          <p:cNvSpPr/>
          <p:nvPr/>
        </p:nvSpPr>
        <p:spPr>
          <a:xfrm>
            <a:off x="6400800" y="4389120"/>
            <a:ext cx="2487168" cy="685800"/>
          </a:xfrm>
          <a:prstGeom prst="roundRect">
            <a:avLst>
              <a:gd name="adj" fmla="val 10667"/>
            </a:avLst>
          </a:prstGeom>
          <a:solidFill>
            <a:srgbClr val="FFFFFF"/>
          </a:solidFill>
          <a:ln w="12700">
            <a:solidFill>
              <a:srgbClr val="D6E4F2"/>
            </a:solidFill>
            <a:prstDash val="solid"/>
          </a:ln>
        </p:spPr>
      </p:sp>
      <p:sp>
        <p:nvSpPr>
          <p:cNvPr id="70" name="Shape 68"/>
          <p:cNvSpPr/>
          <p:nvPr/>
        </p:nvSpPr>
        <p:spPr>
          <a:xfrm>
            <a:off x="6400800" y="4389120"/>
            <a:ext cx="73152" cy="685800"/>
          </a:xfrm>
          <a:prstGeom prst="rect">
            <a:avLst/>
          </a:prstGeom>
          <a:solidFill>
            <a:srgbClr val="1677C8"/>
          </a:solidFill>
          <a:ln w="12700">
            <a:solidFill>
              <a:srgbClr val="1677C8"/>
            </a:solidFill>
            <a:prstDash val="solid"/>
          </a:ln>
        </p:spPr>
      </p:sp>
      <p:sp>
        <p:nvSpPr>
          <p:cNvPr id="71" name="Text 69"/>
          <p:cNvSpPr/>
          <p:nvPr/>
        </p:nvSpPr>
        <p:spPr>
          <a:xfrm>
            <a:off x="6547104" y="4498848"/>
            <a:ext cx="2258568" cy="164592"/>
          </a:xfrm>
          <a:prstGeom prst="rect">
            <a:avLst/>
          </a:prstGeom>
          <a:noFill/>
          <a:ln/>
        </p:spPr>
        <p:txBody>
          <a:bodyPr wrap="square" lIns="0" tIns="0" rIns="0" bIns="0" rtlCol="0" anchor="ctr"/>
          <a:lstStyle/>
          <a:p>
            <a:pPr marL="0" indent="0">
              <a:buNone/>
            </a:pPr>
            <a:r>
              <a:rPr lang="en-US" sz="920" b="1" dirty="0">
                <a:solidFill>
                  <a:srgbClr val="1677C8"/>
                </a:solidFill>
              </a:rPr>
              <a:t>Tools Used</a:t>
            </a:r>
            <a:endParaRPr lang="en-US" sz="920" dirty="0"/>
          </a:p>
        </p:txBody>
      </p:sp>
      <p:sp>
        <p:nvSpPr>
          <p:cNvPr id="72" name="Text 70"/>
          <p:cNvSpPr/>
          <p:nvPr/>
        </p:nvSpPr>
        <p:spPr>
          <a:xfrm>
            <a:off x="6547104" y="4736592"/>
            <a:ext cx="2258568" cy="274320"/>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Selenium WebDriver</a:t>
            </a:r>
            <a:endParaRPr lang="en-US" sz="770" dirty="0"/>
          </a:p>
          <a:p>
            <a:pPr marL="0" indent="0">
              <a:buNone/>
            </a:pPr>
            <a:r>
              <a:rPr lang="en-US" sz="770" dirty="0">
                <a:solidFill>
                  <a:srgbClr val="1F2937"/>
                </a:solidFill>
              </a:rPr>
              <a:t>Python, Pytest, Behave BDD</a:t>
            </a:r>
            <a:endParaRPr lang="en-US" sz="770" dirty="0"/>
          </a:p>
          <a:p>
            <a:pPr marL="0" indent="0">
              <a:buNone/>
            </a:pPr>
            <a:r>
              <a:rPr lang="en-US" sz="770" dirty="0">
                <a:solidFill>
                  <a:srgbClr val="1F2937"/>
                </a:solidFill>
              </a:rPr>
              <a:t>Allure Reports, Chrome</a:t>
            </a:r>
            <a:endParaRPr lang="en-US" sz="770" dirty="0"/>
          </a:p>
        </p:txBody>
      </p:sp>
      <p:sp>
        <p:nvSpPr>
          <p:cNvPr id="73" name="Shape 71"/>
          <p:cNvSpPr/>
          <p:nvPr/>
        </p:nvSpPr>
        <p:spPr>
          <a:xfrm>
            <a:off x="9006840" y="4389120"/>
            <a:ext cx="2487168" cy="685800"/>
          </a:xfrm>
          <a:prstGeom prst="roundRect">
            <a:avLst>
              <a:gd name="adj" fmla="val 10667"/>
            </a:avLst>
          </a:prstGeom>
          <a:solidFill>
            <a:srgbClr val="FFFFFF"/>
          </a:solidFill>
          <a:ln w="12700">
            <a:solidFill>
              <a:srgbClr val="D6E4F2"/>
            </a:solidFill>
            <a:prstDash val="solid"/>
          </a:ln>
        </p:spPr>
      </p:sp>
      <p:sp>
        <p:nvSpPr>
          <p:cNvPr id="74" name="Shape 72"/>
          <p:cNvSpPr/>
          <p:nvPr/>
        </p:nvSpPr>
        <p:spPr>
          <a:xfrm>
            <a:off x="9006840" y="4389120"/>
            <a:ext cx="73152" cy="685800"/>
          </a:xfrm>
          <a:prstGeom prst="rect">
            <a:avLst/>
          </a:prstGeom>
          <a:solidFill>
            <a:srgbClr val="00A3E0"/>
          </a:solidFill>
          <a:ln w="12700">
            <a:solidFill>
              <a:srgbClr val="00A3E0"/>
            </a:solidFill>
            <a:prstDash val="solid"/>
          </a:ln>
        </p:spPr>
      </p:sp>
      <p:sp>
        <p:nvSpPr>
          <p:cNvPr id="75" name="Text 73"/>
          <p:cNvSpPr/>
          <p:nvPr/>
        </p:nvSpPr>
        <p:spPr>
          <a:xfrm>
            <a:off x="9153144" y="4498848"/>
            <a:ext cx="2258568" cy="164592"/>
          </a:xfrm>
          <a:prstGeom prst="rect">
            <a:avLst/>
          </a:prstGeom>
          <a:noFill/>
          <a:ln/>
        </p:spPr>
        <p:txBody>
          <a:bodyPr wrap="square" lIns="0" tIns="0" rIns="0" bIns="0" rtlCol="0" anchor="ctr"/>
          <a:lstStyle/>
          <a:p>
            <a:pPr marL="0" indent="0">
              <a:buNone/>
            </a:pPr>
            <a:r>
              <a:rPr lang="en-US" sz="920" b="1" dirty="0">
                <a:solidFill>
                  <a:srgbClr val="00A3E0"/>
                </a:solidFill>
              </a:rPr>
              <a:t>Validated Areas</a:t>
            </a:r>
            <a:endParaRPr lang="en-US" sz="920" dirty="0"/>
          </a:p>
        </p:txBody>
      </p:sp>
      <p:sp>
        <p:nvSpPr>
          <p:cNvPr id="76" name="Text 74"/>
          <p:cNvSpPr/>
          <p:nvPr/>
        </p:nvSpPr>
        <p:spPr>
          <a:xfrm>
            <a:off x="9153144" y="4736592"/>
            <a:ext cx="2258568" cy="274320"/>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Workflow navigation</a:t>
            </a:r>
            <a:endParaRPr lang="en-US" sz="770" dirty="0"/>
          </a:p>
          <a:p>
            <a:pPr marL="0" indent="0">
              <a:buNone/>
            </a:pPr>
            <a:r>
              <a:rPr lang="en-US" sz="770" dirty="0">
                <a:solidFill>
                  <a:srgbClr val="1F2937"/>
                </a:solidFill>
              </a:rPr>
              <a:t>Form validations</a:t>
            </a:r>
            <a:endParaRPr lang="en-US" sz="770" dirty="0"/>
          </a:p>
          <a:p>
            <a:pPr marL="0" indent="0">
              <a:buNone/>
            </a:pPr>
            <a:r>
              <a:rPr lang="en-US" sz="770" dirty="0">
                <a:solidFill>
                  <a:srgbClr val="1F2937"/>
                </a:solidFill>
              </a:rPr>
              <a:t>Booking steps</a:t>
            </a:r>
            <a:endParaRPr lang="en-US" sz="770" dirty="0"/>
          </a:p>
          <a:p>
            <a:pPr marL="0" indent="0">
              <a:buNone/>
            </a:pPr>
            <a:r>
              <a:rPr lang="en-US" sz="770" dirty="0">
                <a:solidFill>
                  <a:srgbClr val="1F2937"/>
                </a:solidFill>
              </a:rPr>
              <a:t>Payment page boundary</a:t>
            </a:r>
            <a:endParaRPr lang="en-US" sz="770" dirty="0"/>
          </a:p>
        </p:txBody>
      </p:sp>
      <p:sp>
        <p:nvSpPr>
          <p:cNvPr id="77" name="Shape 75"/>
          <p:cNvSpPr/>
          <p:nvPr/>
        </p:nvSpPr>
        <p:spPr>
          <a:xfrm>
            <a:off x="6400800" y="5303520"/>
            <a:ext cx="1572768" cy="804672"/>
          </a:xfrm>
          <a:prstGeom prst="roundRect">
            <a:avLst>
              <a:gd name="adj" fmla="val 9091"/>
            </a:avLst>
          </a:prstGeom>
          <a:solidFill>
            <a:srgbClr val="F8FAFC"/>
          </a:solidFill>
          <a:ln w="15240">
            <a:solidFill>
              <a:srgbClr val="BFD7ED"/>
            </a:solidFill>
            <a:prstDash val="solid"/>
          </a:ln>
        </p:spPr>
      </p:sp>
      <p:sp>
        <p:nvSpPr>
          <p:cNvPr id="78" name="Shape 76"/>
          <p:cNvSpPr/>
          <p:nvPr/>
        </p:nvSpPr>
        <p:spPr>
          <a:xfrm>
            <a:off x="6510528" y="5413248"/>
            <a:ext cx="1353312" cy="36576"/>
          </a:xfrm>
          <a:prstGeom prst="rect">
            <a:avLst/>
          </a:prstGeom>
          <a:solidFill>
            <a:srgbClr val="1677C8">
              <a:alpha val="75000"/>
            </a:srgbClr>
          </a:solidFill>
          <a:ln w="12700">
            <a:solidFill>
              <a:srgbClr val="333333">
                <a:alpha val="0"/>
              </a:srgbClr>
            </a:solidFill>
            <a:prstDash val="solid"/>
          </a:ln>
        </p:spPr>
      </p:sp>
      <p:sp>
        <p:nvSpPr>
          <p:cNvPr id="79" name="Text 77"/>
          <p:cNvSpPr/>
          <p:nvPr/>
        </p:nvSpPr>
        <p:spPr>
          <a:xfrm>
            <a:off x="6547104" y="5632704"/>
            <a:ext cx="1280160" cy="164592"/>
          </a:xfrm>
          <a:prstGeom prst="rect">
            <a:avLst/>
          </a:prstGeom>
          <a:noFill/>
          <a:ln/>
        </p:spPr>
        <p:txBody>
          <a:bodyPr wrap="square" lIns="0" tIns="0" rIns="0" bIns="0" rtlCol="0" anchor="ctr"/>
          <a:lstStyle/>
          <a:p>
            <a:pPr marL="0" indent="0" algn="ctr">
              <a:buNone/>
            </a:pPr>
            <a:r>
              <a:rPr lang="en-US" sz="750" b="1" dirty="0">
                <a:solidFill>
                  <a:srgbClr val="667085"/>
                </a:solidFill>
              </a:rPr>
              <a:t>Positive Screenshot</a:t>
            </a:r>
            <a:endParaRPr lang="en-US" sz="750" dirty="0"/>
          </a:p>
        </p:txBody>
      </p:sp>
      <p:sp>
        <p:nvSpPr>
          <p:cNvPr id="80" name="Shape 78"/>
          <p:cNvSpPr/>
          <p:nvPr/>
        </p:nvSpPr>
        <p:spPr>
          <a:xfrm>
            <a:off x="8165592" y="5303520"/>
            <a:ext cx="1572768" cy="804672"/>
          </a:xfrm>
          <a:prstGeom prst="roundRect">
            <a:avLst>
              <a:gd name="adj" fmla="val 9091"/>
            </a:avLst>
          </a:prstGeom>
          <a:solidFill>
            <a:srgbClr val="F8FAFC"/>
          </a:solidFill>
          <a:ln w="15240">
            <a:solidFill>
              <a:srgbClr val="BFD7ED"/>
            </a:solidFill>
            <a:prstDash val="solid"/>
          </a:ln>
        </p:spPr>
      </p:sp>
      <p:sp>
        <p:nvSpPr>
          <p:cNvPr id="81" name="Shape 79"/>
          <p:cNvSpPr/>
          <p:nvPr/>
        </p:nvSpPr>
        <p:spPr>
          <a:xfrm>
            <a:off x="8275320" y="5413248"/>
            <a:ext cx="1353312" cy="36576"/>
          </a:xfrm>
          <a:prstGeom prst="rect">
            <a:avLst/>
          </a:prstGeom>
          <a:solidFill>
            <a:srgbClr val="1677C8">
              <a:alpha val="75000"/>
            </a:srgbClr>
          </a:solidFill>
          <a:ln w="12700">
            <a:solidFill>
              <a:srgbClr val="333333">
                <a:alpha val="0"/>
              </a:srgbClr>
            </a:solidFill>
            <a:prstDash val="solid"/>
          </a:ln>
        </p:spPr>
      </p:sp>
      <p:sp>
        <p:nvSpPr>
          <p:cNvPr id="82" name="Text 80"/>
          <p:cNvSpPr/>
          <p:nvPr/>
        </p:nvSpPr>
        <p:spPr>
          <a:xfrm>
            <a:off x="8311896" y="5632704"/>
            <a:ext cx="1280160" cy="164592"/>
          </a:xfrm>
          <a:prstGeom prst="rect">
            <a:avLst/>
          </a:prstGeom>
          <a:noFill/>
          <a:ln/>
        </p:spPr>
        <p:txBody>
          <a:bodyPr wrap="square" lIns="0" tIns="0" rIns="0" bIns="0" rtlCol="0" anchor="ctr"/>
          <a:lstStyle/>
          <a:p>
            <a:pPr marL="0" indent="0" algn="ctr">
              <a:buNone/>
            </a:pPr>
            <a:r>
              <a:rPr lang="en-US" sz="750" b="1" dirty="0">
                <a:solidFill>
                  <a:srgbClr val="667085"/>
                </a:solidFill>
              </a:rPr>
              <a:t>Negative Screenshot</a:t>
            </a:r>
            <a:endParaRPr lang="en-US" sz="750" dirty="0"/>
          </a:p>
        </p:txBody>
      </p:sp>
      <p:sp>
        <p:nvSpPr>
          <p:cNvPr id="83" name="Shape 81"/>
          <p:cNvSpPr/>
          <p:nvPr/>
        </p:nvSpPr>
        <p:spPr>
          <a:xfrm>
            <a:off x="9921240" y="5303520"/>
            <a:ext cx="1572768" cy="804672"/>
          </a:xfrm>
          <a:prstGeom prst="roundRect">
            <a:avLst>
              <a:gd name="adj" fmla="val 9091"/>
            </a:avLst>
          </a:prstGeom>
          <a:solidFill>
            <a:srgbClr val="F8FAFC"/>
          </a:solidFill>
          <a:ln w="15240">
            <a:solidFill>
              <a:srgbClr val="BFD7ED"/>
            </a:solidFill>
            <a:prstDash val="solid"/>
          </a:ln>
        </p:spPr>
      </p:sp>
      <p:sp>
        <p:nvSpPr>
          <p:cNvPr id="84" name="Shape 82"/>
          <p:cNvSpPr/>
          <p:nvPr/>
        </p:nvSpPr>
        <p:spPr>
          <a:xfrm>
            <a:off x="10030968" y="5413248"/>
            <a:ext cx="1353312" cy="36576"/>
          </a:xfrm>
          <a:prstGeom prst="rect">
            <a:avLst/>
          </a:prstGeom>
          <a:solidFill>
            <a:srgbClr val="1677C8">
              <a:alpha val="75000"/>
            </a:srgbClr>
          </a:solidFill>
          <a:ln w="12700">
            <a:solidFill>
              <a:srgbClr val="333333">
                <a:alpha val="0"/>
              </a:srgbClr>
            </a:solidFill>
            <a:prstDash val="solid"/>
          </a:ln>
        </p:spPr>
      </p:sp>
      <p:sp>
        <p:nvSpPr>
          <p:cNvPr id="85" name="Text 83"/>
          <p:cNvSpPr/>
          <p:nvPr/>
        </p:nvSpPr>
        <p:spPr>
          <a:xfrm>
            <a:off x="10067544" y="5632704"/>
            <a:ext cx="1280160" cy="164592"/>
          </a:xfrm>
          <a:prstGeom prst="rect">
            <a:avLst/>
          </a:prstGeom>
          <a:noFill/>
          <a:ln/>
        </p:spPr>
        <p:txBody>
          <a:bodyPr wrap="square" lIns="0" tIns="0" rIns="0" bIns="0" rtlCol="0" anchor="ctr"/>
          <a:lstStyle/>
          <a:p>
            <a:pPr marL="0" indent="0" algn="ctr">
              <a:buNone/>
            </a:pPr>
            <a:r>
              <a:rPr lang="en-US" sz="750" b="1" dirty="0">
                <a:solidFill>
                  <a:srgbClr val="667085"/>
                </a:solidFill>
              </a:rPr>
              <a:t>Allure Report</a:t>
            </a:r>
            <a:endParaRPr lang="en-US" sz="750" dirty="0"/>
          </a:p>
        </p:txBody>
      </p:sp>
      <p:sp>
        <p:nvSpPr>
          <p:cNvPr id="86" name="Shape 84"/>
          <p:cNvSpPr/>
          <p:nvPr/>
        </p:nvSpPr>
        <p:spPr>
          <a:xfrm>
            <a:off x="384048" y="6473952"/>
            <a:ext cx="11384280" cy="0"/>
          </a:xfrm>
          <a:prstGeom prst="line">
            <a:avLst/>
          </a:prstGeom>
          <a:noFill/>
          <a:ln w="12700">
            <a:solidFill>
              <a:srgbClr val="D6E4F2"/>
            </a:solidFill>
            <a:prstDash val="solid"/>
          </a:ln>
        </p:spPr>
      </p:sp>
      <p:sp>
        <p:nvSpPr>
          <p:cNvPr id="87" name="Text 85"/>
          <p:cNvSpPr/>
          <p:nvPr/>
        </p:nvSpPr>
        <p:spPr>
          <a:xfrm>
            <a:off x="384048" y="6547104"/>
            <a:ext cx="5303520" cy="164592"/>
          </a:xfrm>
          <a:prstGeom prst="rect">
            <a:avLst/>
          </a:prstGeom>
          <a:noFill/>
          <a:ln/>
        </p:spPr>
        <p:txBody>
          <a:bodyPr wrap="square" lIns="0" tIns="0" rIns="0" bIns="0" rtlCol="0" anchor="ctr"/>
          <a:lstStyle/>
          <a:p>
            <a:pPr marL="0" indent="0">
              <a:buNone/>
            </a:pPr>
            <a:r>
              <a:rPr lang="en-US" sz="750" dirty="0">
                <a:solidFill>
                  <a:srgbClr val="667085"/>
                </a:solidFill>
              </a:rPr>
              <a:t>Goibibo End-to-End Automation Testing Framework</a:t>
            </a:r>
            <a:endParaRPr lang="en-US" sz="750" dirty="0"/>
          </a:p>
        </p:txBody>
      </p:sp>
      <p:sp>
        <p:nvSpPr>
          <p:cNvPr id="88" name="Text 86"/>
          <p:cNvSpPr/>
          <p:nvPr/>
        </p:nvSpPr>
        <p:spPr>
          <a:xfrm>
            <a:off x="11384280" y="6528816"/>
            <a:ext cx="347472" cy="201168"/>
          </a:xfrm>
          <a:prstGeom prst="rect">
            <a:avLst/>
          </a:prstGeom>
          <a:noFill/>
          <a:ln/>
        </p:spPr>
        <p:txBody>
          <a:bodyPr wrap="square" lIns="0" tIns="0" rIns="0" bIns="0" rtlCol="0" anchor="ctr"/>
          <a:lstStyle/>
          <a:p>
            <a:pPr marL="0" indent="0" algn="r">
              <a:buNone/>
            </a:pPr>
            <a:r>
              <a:rPr lang="en-US" sz="850" b="1" dirty="0">
                <a:solidFill>
                  <a:srgbClr val="1677C8"/>
                </a:solidFill>
              </a:rPr>
              <a:t>06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677C8"/>
          </a:solidFill>
          <a:ln w="12700">
            <a:solidFill>
              <a:srgbClr val="1677C8"/>
            </a:solidFill>
            <a:prstDash val="solid"/>
          </a:ln>
        </p:spPr>
      </p:sp>
      <p:sp>
        <p:nvSpPr>
          <p:cNvPr id="3" name="Shape 1"/>
          <p:cNvSpPr/>
          <p:nvPr/>
        </p:nvSpPr>
        <p:spPr>
          <a:xfrm>
            <a:off x="0" y="164592"/>
            <a:ext cx="12191695" cy="566928"/>
          </a:xfrm>
          <a:prstGeom prst="rect">
            <a:avLst/>
          </a:prstGeom>
          <a:solidFill>
            <a:srgbClr val="FFFFFF"/>
          </a:solidFill>
          <a:ln w="12700">
            <a:solidFill>
              <a:srgbClr val="FFFFFF"/>
            </a:solidFill>
            <a:prstDash val="solid"/>
          </a:ln>
        </p:spPr>
      </p:sp>
      <p:sp>
        <p:nvSpPr>
          <p:cNvPr id="4" name="Text 2"/>
          <p:cNvSpPr/>
          <p:nvPr/>
        </p:nvSpPr>
        <p:spPr>
          <a:xfrm>
            <a:off x="384048" y="237744"/>
            <a:ext cx="1143000" cy="292608"/>
          </a:xfrm>
          <a:prstGeom prst="rect">
            <a:avLst/>
          </a:prstGeom>
          <a:noFill/>
          <a:ln/>
        </p:spPr>
        <p:txBody>
          <a:bodyPr wrap="square" lIns="0" tIns="0" rIns="0" bIns="0" rtlCol="0" anchor="ctr"/>
          <a:lstStyle/>
          <a:p>
            <a:pPr marL="0" indent="0">
              <a:buNone/>
            </a:pPr>
            <a:r>
              <a:rPr lang="en-US" sz="1600" b="1" dirty="0">
                <a:solidFill>
                  <a:srgbClr val="F05A28"/>
                </a:solidFill>
                <a:latin typeface="Aptos Display" pitchFamily="34" charset="0"/>
                <a:ea typeface="Aptos Display" pitchFamily="34" charset="-122"/>
                <a:cs typeface="Aptos Display" pitchFamily="34" charset="-120"/>
              </a:rPr>
              <a:t>goibibo</a:t>
            </a:r>
            <a:endParaRPr lang="en-US" sz="1600" dirty="0"/>
          </a:p>
        </p:txBody>
      </p:sp>
      <p:sp>
        <p:nvSpPr>
          <p:cNvPr id="5" name="Text 3"/>
          <p:cNvSpPr/>
          <p:nvPr/>
        </p:nvSpPr>
        <p:spPr>
          <a:xfrm>
            <a:off x="1335024" y="265176"/>
            <a:ext cx="1170432" cy="228600"/>
          </a:xfrm>
          <a:prstGeom prst="rect">
            <a:avLst/>
          </a:prstGeom>
          <a:noFill/>
          <a:ln/>
        </p:spPr>
        <p:txBody>
          <a:bodyPr wrap="square" lIns="0" tIns="0" rIns="0" bIns="0" rtlCol="0" anchor="ctr"/>
          <a:lstStyle/>
          <a:p>
            <a:pPr marL="0" indent="0">
              <a:buNone/>
            </a:pPr>
            <a:r>
              <a:rPr lang="en-US" sz="950" dirty="0">
                <a:solidFill>
                  <a:srgbClr val="1677C8"/>
                </a:solidFill>
                <a:latin typeface="Aptos" pitchFamily="34" charset="0"/>
                <a:ea typeface="Aptos" pitchFamily="34" charset="-122"/>
                <a:cs typeface="Aptos" pitchFamily="34" charset="-120"/>
              </a:rPr>
              <a:t>automation</a:t>
            </a:r>
            <a:endParaRPr lang="en-US" sz="950" dirty="0"/>
          </a:p>
        </p:txBody>
      </p:sp>
      <p:sp>
        <p:nvSpPr>
          <p:cNvPr id="6" name="Text 4"/>
          <p:cNvSpPr/>
          <p:nvPr/>
        </p:nvSpPr>
        <p:spPr>
          <a:xfrm>
            <a:off x="384048" y="868680"/>
            <a:ext cx="8046720" cy="347472"/>
          </a:xfrm>
          <a:prstGeom prst="rect">
            <a:avLst/>
          </a:prstGeom>
          <a:noFill/>
          <a:ln/>
        </p:spPr>
        <p:txBody>
          <a:bodyPr wrap="square" lIns="0" tIns="0" rIns="0" bIns="0" rtlCol="0" anchor="ctr"/>
          <a:lstStyle/>
          <a:p>
            <a:pPr marL="0" indent="0">
              <a:buNone/>
            </a:pPr>
            <a:r>
              <a:rPr lang="en-US" sz="2400" b="1" dirty="0">
                <a:solidFill>
                  <a:srgbClr val="14375F"/>
                </a:solidFill>
                <a:latin typeface="Aptos Display" pitchFamily="34" charset="0"/>
                <a:ea typeface="Aptos Display" pitchFamily="34" charset="-122"/>
                <a:cs typeface="Aptos Display" pitchFamily="34" charset="-120"/>
              </a:rPr>
              <a:t>Goibibo Holidays Automation — Vanaparthi Deekshith</a:t>
            </a:r>
            <a:endParaRPr lang="en-US" sz="2400" dirty="0"/>
          </a:p>
        </p:txBody>
      </p:sp>
      <p:sp>
        <p:nvSpPr>
          <p:cNvPr id="7" name="Text 5"/>
          <p:cNvSpPr/>
          <p:nvPr/>
        </p:nvSpPr>
        <p:spPr>
          <a:xfrm>
            <a:off x="393192" y="1234440"/>
            <a:ext cx="7772400" cy="228600"/>
          </a:xfrm>
          <a:prstGeom prst="rect">
            <a:avLst/>
          </a:prstGeom>
          <a:noFill/>
          <a:ln/>
        </p:spPr>
        <p:txBody>
          <a:bodyPr wrap="square" lIns="0" tIns="0" rIns="0" bIns="0" rtlCol="0" anchor="ctr"/>
          <a:lstStyle/>
          <a:p>
            <a:pPr marL="0" indent="0">
              <a:buNone/>
            </a:pPr>
            <a:r>
              <a:rPr lang="en-US" sz="1050" dirty="0">
                <a:solidFill>
                  <a:srgbClr val="667085"/>
                </a:solidFill>
              </a:rPr>
              <a:t>Goibibo Holidays | Vanaparthi Deekshith | Superset ID: 5488041</a:t>
            </a:r>
            <a:endParaRPr lang="en-US" sz="1050" dirty="0"/>
          </a:p>
        </p:txBody>
      </p:sp>
      <p:sp>
        <p:nvSpPr>
          <p:cNvPr id="8" name="Shape 6"/>
          <p:cNvSpPr/>
          <p:nvPr/>
        </p:nvSpPr>
        <p:spPr>
          <a:xfrm>
            <a:off x="9829800" y="713232"/>
            <a:ext cx="2103120" cy="1554480"/>
          </a:xfrm>
          <a:prstGeom prst="arc">
            <a:avLst/>
          </a:prstGeom>
          <a:noFill/>
          <a:ln w="25400">
            <a:solidFill>
              <a:srgbClr val="00A3E0">
                <a:alpha val="70000"/>
              </a:srgbClr>
            </a:solidFill>
            <a:prstDash val="solid"/>
          </a:ln>
        </p:spPr>
      </p:sp>
      <p:sp>
        <p:nvSpPr>
          <p:cNvPr id="9" name="Shape 7"/>
          <p:cNvSpPr/>
          <p:nvPr/>
        </p:nvSpPr>
        <p:spPr>
          <a:xfrm>
            <a:off x="10972800" y="841248"/>
            <a:ext cx="585216" cy="201168"/>
          </a:xfrm>
          <a:prstGeom prst="line">
            <a:avLst/>
          </a:prstGeom>
          <a:noFill/>
          <a:ln w="25400">
            <a:solidFill>
              <a:srgbClr val="1677C8"/>
            </a:solidFill>
            <a:prstDash val="solid"/>
            <a:headEnd type="none"/>
            <a:tailEnd type="triangle"/>
          </a:ln>
        </p:spPr>
      </p:sp>
      <p:sp>
        <p:nvSpPr>
          <p:cNvPr id="10" name="Shape 8"/>
          <p:cNvSpPr/>
          <p:nvPr/>
        </p:nvSpPr>
        <p:spPr>
          <a:xfrm>
            <a:off x="438912" y="1572768"/>
            <a:ext cx="5413248" cy="4526280"/>
          </a:xfrm>
          <a:prstGeom prst="roundRect">
            <a:avLst>
              <a:gd name="adj" fmla="val 1616"/>
            </a:avLst>
          </a:prstGeom>
          <a:solidFill>
            <a:srgbClr val="FFFFFF"/>
          </a:solidFill>
          <a:ln w="12700">
            <a:solidFill>
              <a:srgbClr val="D6E4F2"/>
            </a:solidFill>
            <a:prstDash val="solid"/>
          </a:ln>
        </p:spPr>
      </p:sp>
      <p:sp>
        <p:nvSpPr>
          <p:cNvPr id="11" name="Shape 9"/>
          <p:cNvSpPr/>
          <p:nvPr/>
        </p:nvSpPr>
        <p:spPr>
          <a:xfrm>
            <a:off x="6263640" y="1572768"/>
            <a:ext cx="5413248" cy="4526280"/>
          </a:xfrm>
          <a:prstGeom prst="roundRect">
            <a:avLst>
              <a:gd name="adj" fmla="val 1616"/>
            </a:avLst>
          </a:prstGeom>
          <a:solidFill>
            <a:srgbClr val="FFFFFF"/>
          </a:solidFill>
          <a:ln w="12700">
            <a:solidFill>
              <a:srgbClr val="D6E4F2"/>
            </a:solidFill>
            <a:prstDash val="solid"/>
          </a:ln>
        </p:spPr>
      </p:sp>
      <p:sp>
        <p:nvSpPr>
          <p:cNvPr id="12" name="Shape 10"/>
          <p:cNvSpPr/>
          <p:nvPr/>
        </p:nvSpPr>
        <p:spPr>
          <a:xfrm>
            <a:off x="438912" y="1572768"/>
            <a:ext cx="5413248" cy="384048"/>
          </a:xfrm>
          <a:prstGeom prst="rect">
            <a:avLst/>
          </a:prstGeom>
          <a:solidFill>
            <a:srgbClr val="1677C8"/>
          </a:solidFill>
          <a:ln w="12700">
            <a:solidFill>
              <a:srgbClr val="1677C8"/>
            </a:solidFill>
            <a:prstDash val="solid"/>
          </a:ln>
        </p:spPr>
      </p:sp>
      <p:sp>
        <p:nvSpPr>
          <p:cNvPr id="13" name="Shape 11"/>
          <p:cNvSpPr/>
          <p:nvPr/>
        </p:nvSpPr>
        <p:spPr>
          <a:xfrm>
            <a:off x="6263640" y="1572768"/>
            <a:ext cx="5413248" cy="384048"/>
          </a:xfrm>
          <a:prstGeom prst="rect">
            <a:avLst/>
          </a:prstGeom>
          <a:solidFill>
            <a:srgbClr val="14375F"/>
          </a:solidFill>
          <a:ln w="12700">
            <a:solidFill>
              <a:srgbClr val="14375F"/>
            </a:solidFill>
            <a:prstDash val="solid"/>
          </a:ln>
        </p:spPr>
      </p:sp>
      <p:sp>
        <p:nvSpPr>
          <p:cNvPr id="14" name="Text 12"/>
          <p:cNvSpPr/>
          <p:nvPr/>
        </p:nvSpPr>
        <p:spPr>
          <a:xfrm>
            <a:off x="603504" y="1682496"/>
            <a:ext cx="2377440" cy="118872"/>
          </a:xfrm>
          <a:prstGeom prst="rect">
            <a:avLst/>
          </a:prstGeom>
          <a:noFill/>
          <a:ln/>
        </p:spPr>
        <p:txBody>
          <a:bodyPr wrap="square" lIns="0" tIns="0" rIns="0" bIns="0" rtlCol="0" anchor="ctr"/>
          <a:lstStyle/>
          <a:p>
            <a:pPr marL="0" indent="0">
              <a:buNone/>
            </a:pPr>
            <a:r>
              <a:rPr lang="en-US" sz="800" b="1" dirty="0">
                <a:solidFill>
                  <a:srgbClr val="FFFFFF"/>
                </a:solidFill>
              </a:rPr>
              <a:t>SELENIUM AUTOMATION</a:t>
            </a:r>
            <a:endParaRPr lang="en-US" sz="800" dirty="0"/>
          </a:p>
        </p:txBody>
      </p:sp>
      <p:sp>
        <p:nvSpPr>
          <p:cNvPr id="15" name="Text 13"/>
          <p:cNvSpPr/>
          <p:nvPr/>
        </p:nvSpPr>
        <p:spPr>
          <a:xfrm>
            <a:off x="6428232" y="1682496"/>
            <a:ext cx="2011680" cy="118872"/>
          </a:xfrm>
          <a:prstGeom prst="rect">
            <a:avLst/>
          </a:prstGeom>
          <a:noFill/>
          <a:ln/>
        </p:spPr>
        <p:txBody>
          <a:bodyPr wrap="square" lIns="0" tIns="0" rIns="0" bIns="0" rtlCol="0" anchor="ctr"/>
          <a:lstStyle/>
          <a:p>
            <a:pPr marL="0" indent="0">
              <a:buNone/>
            </a:pPr>
            <a:r>
              <a:rPr lang="en-US" sz="800" b="1" dirty="0">
                <a:solidFill>
                  <a:srgbClr val="FFFFFF"/>
                </a:solidFill>
              </a:rPr>
              <a:t>BDD AUTOMATION</a:t>
            </a:r>
            <a:endParaRPr lang="en-US" sz="800" dirty="0"/>
          </a:p>
        </p:txBody>
      </p:sp>
      <p:sp>
        <p:nvSpPr>
          <p:cNvPr id="16" name="Shape 14"/>
          <p:cNvSpPr/>
          <p:nvPr/>
        </p:nvSpPr>
        <p:spPr>
          <a:xfrm>
            <a:off x="576072" y="2139696"/>
            <a:ext cx="2560320" cy="868680"/>
          </a:xfrm>
          <a:prstGeom prst="roundRect">
            <a:avLst>
              <a:gd name="adj" fmla="val 8421"/>
            </a:avLst>
          </a:prstGeom>
          <a:solidFill>
            <a:srgbClr val="FFFFFF"/>
          </a:solidFill>
          <a:ln w="12700">
            <a:solidFill>
              <a:srgbClr val="D6E4F2"/>
            </a:solidFill>
            <a:prstDash val="solid"/>
          </a:ln>
        </p:spPr>
      </p:sp>
      <p:sp>
        <p:nvSpPr>
          <p:cNvPr id="17" name="Shape 15"/>
          <p:cNvSpPr/>
          <p:nvPr/>
        </p:nvSpPr>
        <p:spPr>
          <a:xfrm>
            <a:off x="576072" y="2139696"/>
            <a:ext cx="73152" cy="868680"/>
          </a:xfrm>
          <a:prstGeom prst="rect">
            <a:avLst/>
          </a:prstGeom>
          <a:solidFill>
            <a:srgbClr val="1677C8"/>
          </a:solidFill>
          <a:ln w="12700">
            <a:solidFill>
              <a:srgbClr val="1677C8"/>
            </a:solidFill>
            <a:prstDash val="solid"/>
          </a:ln>
        </p:spPr>
      </p:sp>
      <p:sp>
        <p:nvSpPr>
          <p:cNvPr id="18" name="Text 16"/>
          <p:cNvSpPr/>
          <p:nvPr/>
        </p:nvSpPr>
        <p:spPr>
          <a:xfrm>
            <a:off x="722376" y="2249424"/>
            <a:ext cx="2331720" cy="164592"/>
          </a:xfrm>
          <a:prstGeom prst="rect">
            <a:avLst/>
          </a:prstGeom>
          <a:noFill/>
          <a:ln/>
        </p:spPr>
        <p:txBody>
          <a:bodyPr wrap="square" lIns="0" tIns="0" rIns="0" bIns="0" rtlCol="0" anchor="ctr"/>
          <a:lstStyle/>
          <a:p>
            <a:pPr marL="0" indent="0">
              <a:buNone/>
            </a:pPr>
            <a:r>
              <a:rPr lang="en-US" sz="920" b="1" dirty="0">
                <a:solidFill>
                  <a:srgbClr val="1677C8"/>
                </a:solidFill>
              </a:rPr>
              <a:t>Project Profile</a:t>
            </a:r>
            <a:endParaRPr lang="en-US" sz="920" dirty="0"/>
          </a:p>
        </p:txBody>
      </p:sp>
      <p:sp>
        <p:nvSpPr>
          <p:cNvPr id="19" name="Text 17"/>
          <p:cNvSpPr/>
          <p:nvPr/>
        </p:nvSpPr>
        <p:spPr>
          <a:xfrm>
            <a:off x="722376" y="2487168"/>
            <a:ext cx="2331720" cy="457200"/>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Project: Goibibo Holidays Automation</a:t>
            </a:r>
            <a:endParaRPr lang="en-US" sz="770" dirty="0"/>
          </a:p>
          <a:p>
            <a:pPr marL="0" indent="0">
              <a:buNone/>
            </a:pPr>
            <a:r>
              <a:rPr lang="en-US" sz="770" dirty="0">
                <a:solidFill>
                  <a:srgbClr val="1F2937"/>
                </a:solidFill>
              </a:rPr>
              <a:t>Domain: Travel &amp; Holiday Packages</a:t>
            </a:r>
            <a:endParaRPr lang="en-US" sz="770" dirty="0"/>
          </a:p>
          <a:p>
            <a:pPr marL="0" indent="0">
              <a:buNone/>
            </a:pPr>
            <a:r>
              <a:rPr lang="en-US" sz="770" dirty="0">
                <a:solidFill>
                  <a:srgbClr val="1F2937"/>
                </a:solidFill>
              </a:rPr>
              <a:t>Name: Vanaparthi Deekshith</a:t>
            </a:r>
            <a:endParaRPr lang="en-US" sz="770" dirty="0"/>
          </a:p>
          <a:p>
            <a:pPr marL="0" indent="0">
              <a:buNone/>
            </a:pPr>
            <a:r>
              <a:rPr lang="en-US" sz="770" dirty="0">
                <a:solidFill>
                  <a:srgbClr val="1F2937"/>
                </a:solidFill>
              </a:rPr>
              <a:t>Superset ID: 5488041</a:t>
            </a:r>
            <a:endParaRPr lang="en-US" sz="770" dirty="0"/>
          </a:p>
        </p:txBody>
      </p:sp>
      <p:sp>
        <p:nvSpPr>
          <p:cNvPr id="20" name="Shape 18"/>
          <p:cNvSpPr/>
          <p:nvPr/>
        </p:nvSpPr>
        <p:spPr>
          <a:xfrm>
            <a:off x="3273552" y="2139696"/>
            <a:ext cx="2395728" cy="868680"/>
          </a:xfrm>
          <a:prstGeom prst="roundRect">
            <a:avLst>
              <a:gd name="adj" fmla="val 8421"/>
            </a:avLst>
          </a:prstGeom>
          <a:solidFill>
            <a:srgbClr val="FFFFFF"/>
          </a:solidFill>
          <a:ln w="12700">
            <a:solidFill>
              <a:srgbClr val="D6E4F2"/>
            </a:solidFill>
            <a:prstDash val="solid"/>
          </a:ln>
        </p:spPr>
      </p:sp>
      <p:sp>
        <p:nvSpPr>
          <p:cNvPr id="21" name="Shape 19"/>
          <p:cNvSpPr/>
          <p:nvPr/>
        </p:nvSpPr>
        <p:spPr>
          <a:xfrm>
            <a:off x="3273552" y="2139696"/>
            <a:ext cx="73152" cy="868680"/>
          </a:xfrm>
          <a:prstGeom prst="rect">
            <a:avLst/>
          </a:prstGeom>
          <a:solidFill>
            <a:srgbClr val="00A3E0"/>
          </a:solidFill>
          <a:ln w="12700">
            <a:solidFill>
              <a:srgbClr val="00A3E0"/>
            </a:solidFill>
            <a:prstDash val="solid"/>
          </a:ln>
        </p:spPr>
      </p:sp>
      <p:sp>
        <p:nvSpPr>
          <p:cNvPr id="22" name="Text 20"/>
          <p:cNvSpPr/>
          <p:nvPr/>
        </p:nvSpPr>
        <p:spPr>
          <a:xfrm>
            <a:off x="3419856" y="2249424"/>
            <a:ext cx="2167128" cy="164592"/>
          </a:xfrm>
          <a:prstGeom prst="rect">
            <a:avLst/>
          </a:prstGeom>
          <a:noFill/>
          <a:ln/>
        </p:spPr>
        <p:txBody>
          <a:bodyPr wrap="square" lIns="0" tIns="0" rIns="0" bIns="0" rtlCol="0" anchor="ctr"/>
          <a:lstStyle/>
          <a:p>
            <a:pPr marL="0" indent="0">
              <a:buNone/>
            </a:pPr>
            <a:r>
              <a:rPr lang="en-US" sz="920" b="1" dirty="0">
                <a:solidFill>
                  <a:srgbClr val="00A3E0"/>
                </a:solidFill>
              </a:rPr>
              <a:t>Framework</a:t>
            </a:r>
            <a:endParaRPr lang="en-US" sz="920" dirty="0"/>
          </a:p>
        </p:txBody>
      </p:sp>
      <p:sp>
        <p:nvSpPr>
          <p:cNvPr id="23" name="Text 21"/>
          <p:cNvSpPr/>
          <p:nvPr/>
        </p:nvSpPr>
        <p:spPr>
          <a:xfrm>
            <a:off x="3419856" y="2487168"/>
            <a:ext cx="2167128" cy="457200"/>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Python + Selenium WebDriver</a:t>
            </a:r>
            <a:endParaRPr lang="en-US" sz="770" dirty="0"/>
          </a:p>
          <a:p>
            <a:pPr marL="0" indent="0">
              <a:buNone/>
            </a:pPr>
            <a:r>
              <a:rPr lang="en-US" sz="770" dirty="0">
                <a:solidFill>
                  <a:srgbClr val="1F2937"/>
                </a:solidFill>
              </a:rPr>
              <a:t>Pytest + POM Framework</a:t>
            </a:r>
            <a:endParaRPr lang="en-US" sz="770" dirty="0"/>
          </a:p>
          <a:p>
            <a:pPr marL="0" indent="0">
              <a:buNone/>
            </a:pPr>
            <a:r>
              <a:rPr lang="en-US" sz="770" dirty="0">
                <a:solidFill>
                  <a:srgbClr val="1F2937"/>
                </a:solidFill>
              </a:rPr>
              <a:t>Chrome Browser</a:t>
            </a:r>
            <a:endParaRPr lang="en-US" sz="770" dirty="0"/>
          </a:p>
          <a:p>
            <a:pPr marL="0" indent="0">
              <a:buNone/>
            </a:pPr>
            <a:r>
              <a:rPr lang="en-US" sz="770" dirty="0">
                <a:solidFill>
                  <a:srgbClr val="1F2937"/>
                </a:solidFill>
              </a:rPr>
              <a:t>Logs and screenshots enabled</a:t>
            </a:r>
            <a:endParaRPr lang="en-US" sz="770" dirty="0"/>
          </a:p>
        </p:txBody>
      </p:sp>
      <p:sp>
        <p:nvSpPr>
          <p:cNvPr id="24" name="Shape 22"/>
          <p:cNvSpPr/>
          <p:nvPr/>
        </p:nvSpPr>
        <p:spPr>
          <a:xfrm>
            <a:off x="576072" y="3172968"/>
            <a:ext cx="5093208" cy="841248"/>
          </a:xfrm>
          <a:prstGeom prst="roundRect">
            <a:avLst>
              <a:gd name="adj" fmla="val 8696"/>
            </a:avLst>
          </a:prstGeom>
          <a:solidFill>
            <a:srgbClr val="FFFFFF"/>
          </a:solidFill>
          <a:ln w="12700">
            <a:solidFill>
              <a:srgbClr val="D6E4F2"/>
            </a:solidFill>
            <a:prstDash val="solid"/>
          </a:ln>
        </p:spPr>
      </p:sp>
      <p:sp>
        <p:nvSpPr>
          <p:cNvPr id="25" name="Shape 23"/>
          <p:cNvSpPr/>
          <p:nvPr/>
        </p:nvSpPr>
        <p:spPr>
          <a:xfrm>
            <a:off x="576072" y="3172968"/>
            <a:ext cx="73152" cy="841248"/>
          </a:xfrm>
          <a:prstGeom prst="rect">
            <a:avLst/>
          </a:prstGeom>
          <a:solidFill>
            <a:srgbClr val="1677C8"/>
          </a:solidFill>
          <a:ln w="12700">
            <a:solidFill>
              <a:srgbClr val="1677C8"/>
            </a:solidFill>
            <a:prstDash val="solid"/>
          </a:ln>
        </p:spPr>
      </p:sp>
      <p:sp>
        <p:nvSpPr>
          <p:cNvPr id="26" name="Text 24"/>
          <p:cNvSpPr/>
          <p:nvPr/>
        </p:nvSpPr>
        <p:spPr>
          <a:xfrm>
            <a:off x="722376" y="3282696"/>
            <a:ext cx="4864608" cy="164592"/>
          </a:xfrm>
          <a:prstGeom prst="rect">
            <a:avLst/>
          </a:prstGeom>
          <a:noFill/>
          <a:ln/>
        </p:spPr>
        <p:txBody>
          <a:bodyPr wrap="square" lIns="0" tIns="0" rIns="0" bIns="0" rtlCol="0" anchor="ctr"/>
          <a:lstStyle/>
          <a:p>
            <a:pPr marL="0" indent="0">
              <a:buNone/>
            </a:pPr>
            <a:r>
              <a:rPr lang="en-US" sz="920" b="1" dirty="0">
                <a:solidFill>
                  <a:srgbClr val="1677C8"/>
                </a:solidFill>
              </a:rPr>
              <a:t>Simple Project Description</a:t>
            </a:r>
            <a:endParaRPr lang="en-US" sz="920" dirty="0"/>
          </a:p>
        </p:txBody>
      </p:sp>
      <p:sp>
        <p:nvSpPr>
          <p:cNvPr id="27" name="Text 25"/>
          <p:cNvSpPr/>
          <p:nvPr/>
        </p:nvSpPr>
        <p:spPr>
          <a:xfrm>
            <a:off x="722376" y="3520440"/>
            <a:ext cx="4864608" cy="429768"/>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This module automates the complete holiday package booking workflow on Goibibo using Selenium WebDriver with Python. The framework validates search, selection, booking navigation, form validations, and payment page navigation using reusable Page Object Model architecture.</a:t>
            </a:r>
            <a:endParaRPr lang="en-US" sz="770" dirty="0"/>
          </a:p>
        </p:txBody>
      </p:sp>
      <p:sp>
        <p:nvSpPr>
          <p:cNvPr id="28" name="Text 26"/>
          <p:cNvSpPr/>
          <p:nvPr/>
        </p:nvSpPr>
        <p:spPr>
          <a:xfrm>
            <a:off x="576072" y="4197096"/>
            <a:ext cx="1280160" cy="146304"/>
          </a:xfrm>
          <a:prstGeom prst="rect">
            <a:avLst/>
          </a:prstGeom>
          <a:noFill/>
          <a:ln/>
        </p:spPr>
        <p:txBody>
          <a:bodyPr wrap="square" lIns="0" tIns="0" rIns="0" bIns="0" rtlCol="0" anchor="ctr"/>
          <a:lstStyle/>
          <a:p>
            <a:pPr marL="0" indent="0">
              <a:buNone/>
            </a:pPr>
            <a:r>
              <a:rPr lang="en-US" sz="850" b="1" dirty="0">
                <a:solidFill>
                  <a:srgbClr val="14375F"/>
                </a:solidFill>
              </a:rPr>
              <a:t>Module Flow</a:t>
            </a:r>
            <a:endParaRPr lang="en-US" sz="850" dirty="0"/>
          </a:p>
        </p:txBody>
      </p:sp>
      <p:sp>
        <p:nvSpPr>
          <p:cNvPr id="29" name="Shape 27"/>
          <p:cNvSpPr/>
          <p:nvPr/>
        </p:nvSpPr>
        <p:spPr>
          <a:xfrm>
            <a:off x="576072" y="4425696"/>
            <a:ext cx="662287" cy="393192"/>
          </a:xfrm>
          <a:prstGeom prst="roundRect">
            <a:avLst>
              <a:gd name="adj" fmla="val 13953"/>
            </a:avLst>
          </a:prstGeom>
          <a:solidFill>
            <a:srgbClr val="FFFFFF"/>
          </a:solidFill>
          <a:ln w="12700">
            <a:solidFill>
              <a:srgbClr val="D6E4F2"/>
            </a:solidFill>
            <a:prstDash val="solid"/>
          </a:ln>
        </p:spPr>
      </p:sp>
      <p:sp>
        <p:nvSpPr>
          <p:cNvPr id="30" name="Text 28"/>
          <p:cNvSpPr/>
          <p:nvPr/>
        </p:nvSpPr>
        <p:spPr>
          <a:xfrm>
            <a:off x="603504" y="4517136"/>
            <a:ext cx="607423" cy="146304"/>
          </a:xfrm>
          <a:prstGeom prst="rect">
            <a:avLst/>
          </a:prstGeom>
          <a:noFill/>
          <a:ln/>
        </p:spPr>
        <p:txBody>
          <a:bodyPr wrap="square" lIns="0" tIns="0" rIns="0" bIns="0" rtlCol="0" anchor="ctr">
            <a:normAutofit/>
          </a:bodyPr>
          <a:lstStyle/>
          <a:p>
            <a:pPr marL="0" indent="0" algn="ctr">
              <a:buNone/>
            </a:pPr>
            <a:r>
              <a:rPr lang="en-US" sz="640" b="1" dirty="0">
                <a:solidFill>
                  <a:srgbClr val="1F2937"/>
                </a:solidFill>
              </a:rPr>
              <a:t>Open</a:t>
            </a:r>
            <a:endParaRPr lang="en-US" sz="640" dirty="0"/>
          </a:p>
        </p:txBody>
      </p:sp>
      <p:sp>
        <p:nvSpPr>
          <p:cNvPr id="31" name="Shape 29"/>
          <p:cNvSpPr/>
          <p:nvPr/>
        </p:nvSpPr>
        <p:spPr>
          <a:xfrm>
            <a:off x="1238359" y="4622292"/>
            <a:ext cx="73152" cy="0"/>
          </a:xfrm>
          <a:prstGeom prst="line">
            <a:avLst/>
          </a:prstGeom>
          <a:noFill/>
          <a:ln w="15240">
            <a:solidFill>
              <a:srgbClr val="1677C8"/>
            </a:solidFill>
            <a:prstDash val="solid"/>
            <a:tailEnd type="triangle"/>
          </a:ln>
        </p:spPr>
      </p:sp>
      <p:sp>
        <p:nvSpPr>
          <p:cNvPr id="32" name="Shape 30"/>
          <p:cNvSpPr/>
          <p:nvPr/>
        </p:nvSpPr>
        <p:spPr>
          <a:xfrm>
            <a:off x="1311511" y="4425696"/>
            <a:ext cx="662287" cy="393192"/>
          </a:xfrm>
          <a:prstGeom prst="roundRect">
            <a:avLst>
              <a:gd name="adj" fmla="val 13953"/>
            </a:avLst>
          </a:prstGeom>
          <a:solidFill>
            <a:srgbClr val="F3F8FE"/>
          </a:solidFill>
          <a:ln w="12700">
            <a:solidFill>
              <a:srgbClr val="D6E4F2"/>
            </a:solidFill>
            <a:prstDash val="solid"/>
          </a:ln>
        </p:spPr>
      </p:sp>
      <p:sp>
        <p:nvSpPr>
          <p:cNvPr id="33" name="Text 31"/>
          <p:cNvSpPr/>
          <p:nvPr/>
        </p:nvSpPr>
        <p:spPr>
          <a:xfrm>
            <a:off x="1338943" y="4517136"/>
            <a:ext cx="607423" cy="146304"/>
          </a:xfrm>
          <a:prstGeom prst="rect">
            <a:avLst/>
          </a:prstGeom>
          <a:noFill/>
          <a:ln/>
        </p:spPr>
        <p:txBody>
          <a:bodyPr wrap="square" lIns="0" tIns="0" rIns="0" bIns="0" rtlCol="0" anchor="ctr">
            <a:normAutofit/>
          </a:bodyPr>
          <a:lstStyle/>
          <a:p>
            <a:pPr marL="0" indent="0" algn="ctr">
              <a:buNone/>
            </a:pPr>
            <a:r>
              <a:rPr lang="en-US" sz="640" b="1" dirty="0">
                <a:solidFill>
                  <a:srgbClr val="1F2937"/>
                </a:solidFill>
              </a:rPr>
              <a:t>Holidays</a:t>
            </a:r>
            <a:endParaRPr lang="en-US" sz="640" dirty="0"/>
          </a:p>
        </p:txBody>
      </p:sp>
      <p:sp>
        <p:nvSpPr>
          <p:cNvPr id="34" name="Shape 32"/>
          <p:cNvSpPr/>
          <p:nvPr/>
        </p:nvSpPr>
        <p:spPr>
          <a:xfrm>
            <a:off x="1973798" y="4622292"/>
            <a:ext cx="73152" cy="0"/>
          </a:xfrm>
          <a:prstGeom prst="line">
            <a:avLst/>
          </a:prstGeom>
          <a:noFill/>
          <a:ln w="15240">
            <a:solidFill>
              <a:srgbClr val="1677C8"/>
            </a:solidFill>
            <a:prstDash val="solid"/>
            <a:tailEnd type="triangle"/>
          </a:ln>
        </p:spPr>
      </p:sp>
      <p:sp>
        <p:nvSpPr>
          <p:cNvPr id="35" name="Shape 33"/>
          <p:cNvSpPr/>
          <p:nvPr/>
        </p:nvSpPr>
        <p:spPr>
          <a:xfrm>
            <a:off x="2046950" y="4425696"/>
            <a:ext cx="662287" cy="393192"/>
          </a:xfrm>
          <a:prstGeom prst="roundRect">
            <a:avLst>
              <a:gd name="adj" fmla="val 13953"/>
            </a:avLst>
          </a:prstGeom>
          <a:solidFill>
            <a:srgbClr val="FFFFFF"/>
          </a:solidFill>
          <a:ln w="12700">
            <a:solidFill>
              <a:srgbClr val="D6E4F2"/>
            </a:solidFill>
            <a:prstDash val="solid"/>
          </a:ln>
        </p:spPr>
      </p:sp>
      <p:sp>
        <p:nvSpPr>
          <p:cNvPr id="36" name="Text 34"/>
          <p:cNvSpPr/>
          <p:nvPr/>
        </p:nvSpPr>
        <p:spPr>
          <a:xfrm>
            <a:off x="2074382" y="4517136"/>
            <a:ext cx="607423" cy="146304"/>
          </a:xfrm>
          <a:prstGeom prst="rect">
            <a:avLst/>
          </a:prstGeom>
          <a:noFill/>
          <a:ln/>
        </p:spPr>
        <p:txBody>
          <a:bodyPr wrap="square" lIns="0" tIns="0" rIns="0" bIns="0" rtlCol="0" anchor="ctr">
            <a:normAutofit/>
          </a:bodyPr>
          <a:lstStyle/>
          <a:p>
            <a:pPr marL="0" indent="0" algn="ctr">
              <a:buNone/>
            </a:pPr>
            <a:r>
              <a:rPr lang="en-US" sz="640" b="1" dirty="0">
                <a:solidFill>
                  <a:srgbClr val="1F2937"/>
                </a:solidFill>
              </a:rPr>
              <a:t>Destination</a:t>
            </a:r>
            <a:endParaRPr lang="en-US" sz="640" dirty="0"/>
          </a:p>
        </p:txBody>
      </p:sp>
      <p:sp>
        <p:nvSpPr>
          <p:cNvPr id="37" name="Shape 35"/>
          <p:cNvSpPr/>
          <p:nvPr/>
        </p:nvSpPr>
        <p:spPr>
          <a:xfrm>
            <a:off x="2709237" y="4622292"/>
            <a:ext cx="73152" cy="0"/>
          </a:xfrm>
          <a:prstGeom prst="line">
            <a:avLst/>
          </a:prstGeom>
          <a:noFill/>
          <a:ln w="15240">
            <a:solidFill>
              <a:srgbClr val="1677C8"/>
            </a:solidFill>
            <a:prstDash val="solid"/>
            <a:tailEnd type="triangle"/>
          </a:ln>
        </p:spPr>
      </p:sp>
      <p:sp>
        <p:nvSpPr>
          <p:cNvPr id="38" name="Shape 36"/>
          <p:cNvSpPr/>
          <p:nvPr/>
        </p:nvSpPr>
        <p:spPr>
          <a:xfrm>
            <a:off x="2782389" y="4425696"/>
            <a:ext cx="662287" cy="393192"/>
          </a:xfrm>
          <a:prstGeom prst="roundRect">
            <a:avLst>
              <a:gd name="adj" fmla="val 13953"/>
            </a:avLst>
          </a:prstGeom>
          <a:solidFill>
            <a:srgbClr val="F3F8FE"/>
          </a:solidFill>
          <a:ln w="12700">
            <a:solidFill>
              <a:srgbClr val="D6E4F2"/>
            </a:solidFill>
            <a:prstDash val="solid"/>
          </a:ln>
        </p:spPr>
      </p:sp>
      <p:sp>
        <p:nvSpPr>
          <p:cNvPr id="39" name="Text 37"/>
          <p:cNvSpPr/>
          <p:nvPr/>
        </p:nvSpPr>
        <p:spPr>
          <a:xfrm>
            <a:off x="2809821" y="4517136"/>
            <a:ext cx="607423" cy="146304"/>
          </a:xfrm>
          <a:prstGeom prst="rect">
            <a:avLst/>
          </a:prstGeom>
          <a:noFill/>
          <a:ln/>
        </p:spPr>
        <p:txBody>
          <a:bodyPr wrap="square" lIns="0" tIns="0" rIns="0" bIns="0" rtlCol="0" anchor="ctr">
            <a:normAutofit/>
          </a:bodyPr>
          <a:lstStyle/>
          <a:p>
            <a:pPr marL="0" indent="0" algn="ctr">
              <a:buNone/>
            </a:pPr>
            <a:r>
              <a:rPr lang="en-US" sz="640" b="1" dirty="0">
                <a:solidFill>
                  <a:srgbClr val="1F2937"/>
                </a:solidFill>
              </a:rPr>
              <a:t>Packages</a:t>
            </a:r>
            <a:endParaRPr lang="en-US" sz="640" dirty="0"/>
          </a:p>
        </p:txBody>
      </p:sp>
      <p:sp>
        <p:nvSpPr>
          <p:cNvPr id="40" name="Shape 38"/>
          <p:cNvSpPr/>
          <p:nvPr/>
        </p:nvSpPr>
        <p:spPr>
          <a:xfrm>
            <a:off x="3444675" y="4622292"/>
            <a:ext cx="73152" cy="0"/>
          </a:xfrm>
          <a:prstGeom prst="line">
            <a:avLst/>
          </a:prstGeom>
          <a:noFill/>
          <a:ln w="15240">
            <a:solidFill>
              <a:srgbClr val="1677C8"/>
            </a:solidFill>
            <a:prstDash val="solid"/>
            <a:tailEnd type="triangle"/>
          </a:ln>
        </p:spPr>
      </p:sp>
      <p:sp>
        <p:nvSpPr>
          <p:cNvPr id="41" name="Shape 39"/>
          <p:cNvSpPr/>
          <p:nvPr/>
        </p:nvSpPr>
        <p:spPr>
          <a:xfrm>
            <a:off x="3517827" y="4425696"/>
            <a:ext cx="662287" cy="393192"/>
          </a:xfrm>
          <a:prstGeom prst="roundRect">
            <a:avLst>
              <a:gd name="adj" fmla="val 13953"/>
            </a:avLst>
          </a:prstGeom>
          <a:solidFill>
            <a:srgbClr val="FFFFFF"/>
          </a:solidFill>
          <a:ln w="12700">
            <a:solidFill>
              <a:srgbClr val="D6E4F2"/>
            </a:solidFill>
            <a:prstDash val="solid"/>
          </a:ln>
        </p:spPr>
      </p:sp>
      <p:sp>
        <p:nvSpPr>
          <p:cNvPr id="42" name="Text 40"/>
          <p:cNvSpPr/>
          <p:nvPr/>
        </p:nvSpPr>
        <p:spPr>
          <a:xfrm>
            <a:off x="3545259" y="4517136"/>
            <a:ext cx="607423" cy="146304"/>
          </a:xfrm>
          <a:prstGeom prst="rect">
            <a:avLst/>
          </a:prstGeom>
          <a:noFill/>
          <a:ln/>
        </p:spPr>
        <p:txBody>
          <a:bodyPr wrap="square" lIns="0" tIns="0" rIns="0" bIns="0" rtlCol="0" anchor="ctr">
            <a:normAutofit/>
          </a:bodyPr>
          <a:lstStyle/>
          <a:p>
            <a:pPr marL="0" indent="0" algn="ctr">
              <a:buNone/>
            </a:pPr>
            <a:r>
              <a:rPr lang="en-US" sz="640" b="1" dirty="0">
                <a:solidFill>
                  <a:srgbClr val="1F2937"/>
                </a:solidFill>
              </a:rPr>
              <a:t>Select</a:t>
            </a:r>
            <a:endParaRPr lang="en-US" sz="640" dirty="0"/>
          </a:p>
        </p:txBody>
      </p:sp>
      <p:sp>
        <p:nvSpPr>
          <p:cNvPr id="43" name="Shape 41"/>
          <p:cNvSpPr/>
          <p:nvPr/>
        </p:nvSpPr>
        <p:spPr>
          <a:xfrm>
            <a:off x="4180114" y="4622292"/>
            <a:ext cx="73152" cy="0"/>
          </a:xfrm>
          <a:prstGeom prst="line">
            <a:avLst/>
          </a:prstGeom>
          <a:noFill/>
          <a:ln w="15240">
            <a:solidFill>
              <a:srgbClr val="1677C8"/>
            </a:solidFill>
            <a:prstDash val="solid"/>
            <a:tailEnd type="triangle"/>
          </a:ln>
        </p:spPr>
      </p:sp>
      <p:sp>
        <p:nvSpPr>
          <p:cNvPr id="44" name="Shape 42"/>
          <p:cNvSpPr/>
          <p:nvPr/>
        </p:nvSpPr>
        <p:spPr>
          <a:xfrm>
            <a:off x="4253266" y="4425696"/>
            <a:ext cx="662287" cy="393192"/>
          </a:xfrm>
          <a:prstGeom prst="roundRect">
            <a:avLst>
              <a:gd name="adj" fmla="val 13953"/>
            </a:avLst>
          </a:prstGeom>
          <a:solidFill>
            <a:srgbClr val="F3F8FE"/>
          </a:solidFill>
          <a:ln w="12700">
            <a:solidFill>
              <a:srgbClr val="D6E4F2"/>
            </a:solidFill>
            <a:prstDash val="solid"/>
          </a:ln>
        </p:spPr>
      </p:sp>
      <p:sp>
        <p:nvSpPr>
          <p:cNvPr id="45" name="Text 43"/>
          <p:cNvSpPr/>
          <p:nvPr/>
        </p:nvSpPr>
        <p:spPr>
          <a:xfrm>
            <a:off x="4280698" y="4517136"/>
            <a:ext cx="607423" cy="146304"/>
          </a:xfrm>
          <a:prstGeom prst="rect">
            <a:avLst/>
          </a:prstGeom>
          <a:noFill/>
          <a:ln/>
        </p:spPr>
        <p:txBody>
          <a:bodyPr wrap="square" lIns="0" tIns="0" rIns="0" bIns="0" rtlCol="0" anchor="ctr">
            <a:normAutofit/>
          </a:bodyPr>
          <a:lstStyle/>
          <a:p>
            <a:pPr marL="0" indent="0" algn="ctr">
              <a:buNone/>
            </a:pPr>
            <a:r>
              <a:rPr lang="en-US" sz="640" b="1" dirty="0">
                <a:solidFill>
                  <a:srgbClr val="1F2937"/>
                </a:solidFill>
              </a:rPr>
              <a:t>Booking</a:t>
            </a:r>
            <a:endParaRPr lang="en-US" sz="640" dirty="0"/>
          </a:p>
        </p:txBody>
      </p:sp>
      <p:sp>
        <p:nvSpPr>
          <p:cNvPr id="46" name="Shape 44"/>
          <p:cNvSpPr/>
          <p:nvPr/>
        </p:nvSpPr>
        <p:spPr>
          <a:xfrm>
            <a:off x="4915553" y="4622292"/>
            <a:ext cx="73152" cy="0"/>
          </a:xfrm>
          <a:prstGeom prst="line">
            <a:avLst/>
          </a:prstGeom>
          <a:noFill/>
          <a:ln w="15240">
            <a:solidFill>
              <a:srgbClr val="1677C8"/>
            </a:solidFill>
            <a:prstDash val="solid"/>
            <a:tailEnd type="triangle"/>
          </a:ln>
        </p:spPr>
      </p:sp>
      <p:sp>
        <p:nvSpPr>
          <p:cNvPr id="47" name="Shape 45"/>
          <p:cNvSpPr/>
          <p:nvPr/>
        </p:nvSpPr>
        <p:spPr>
          <a:xfrm>
            <a:off x="4988705" y="4425696"/>
            <a:ext cx="662287" cy="393192"/>
          </a:xfrm>
          <a:prstGeom prst="roundRect">
            <a:avLst>
              <a:gd name="adj" fmla="val 13953"/>
            </a:avLst>
          </a:prstGeom>
          <a:solidFill>
            <a:srgbClr val="FFFFFF"/>
          </a:solidFill>
          <a:ln w="12700">
            <a:solidFill>
              <a:srgbClr val="D6E4F2"/>
            </a:solidFill>
            <a:prstDash val="solid"/>
          </a:ln>
        </p:spPr>
      </p:sp>
      <p:sp>
        <p:nvSpPr>
          <p:cNvPr id="48" name="Text 46"/>
          <p:cNvSpPr/>
          <p:nvPr/>
        </p:nvSpPr>
        <p:spPr>
          <a:xfrm>
            <a:off x="5016137" y="4517136"/>
            <a:ext cx="607423" cy="146304"/>
          </a:xfrm>
          <a:prstGeom prst="rect">
            <a:avLst/>
          </a:prstGeom>
          <a:noFill/>
          <a:ln/>
        </p:spPr>
        <p:txBody>
          <a:bodyPr wrap="square" lIns="0" tIns="0" rIns="0" bIns="0" rtlCol="0" anchor="ctr">
            <a:normAutofit/>
          </a:bodyPr>
          <a:lstStyle/>
          <a:p>
            <a:pPr marL="0" indent="0" algn="ctr">
              <a:buNone/>
            </a:pPr>
            <a:r>
              <a:rPr lang="en-US" sz="640" b="1" dirty="0">
                <a:solidFill>
                  <a:srgbClr val="1F2937"/>
                </a:solidFill>
              </a:rPr>
              <a:t>Payment</a:t>
            </a:r>
            <a:endParaRPr lang="en-US" sz="640" dirty="0"/>
          </a:p>
        </p:txBody>
      </p:sp>
      <p:sp>
        <p:nvSpPr>
          <p:cNvPr id="49" name="Shape 47"/>
          <p:cNvSpPr/>
          <p:nvPr/>
        </p:nvSpPr>
        <p:spPr>
          <a:xfrm>
            <a:off x="576072" y="5029200"/>
            <a:ext cx="2487168" cy="768096"/>
          </a:xfrm>
          <a:prstGeom prst="roundRect">
            <a:avLst>
              <a:gd name="adj" fmla="val 9524"/>
            </a:avLst>
          </a:prstGeom>
          <a:solidFill>
            <a:srgbClr val="FFFFFF"/>
          </a:solidFill>
          <a:ln w="12700">
            <a:solidFill>
              <a:srgbClr val="D6E4F2"/>
            </a:solidFill>
            <a:prstDash val="solid"/>
          </a:ln>
        </p:spPr>
      </p:sp>
      <p:sp>
        <p:nvSpPr>
          <p:cNvPr id="50" name="Shape 48"/>
          <p:cNvSpPr/>
          <p:nvPr/>
        </p:nvSpPr>
        <p:spPr>
          <a:xfrm>
            <a:off x="576072" y="5029200"/>
            <a:ext cx="73152" cy="768096"/>
          </a:xfrm>
          <a:prstGeom prst="rect">
            <a:avLst/>
          </a:prstGeom>
          <a:solidFill>
            <a:srgbClr val="1677C8"/>
          </a:solidFill>
          <a:ln w="12700">
            <a:solidFill>
              <a:srgbClr val="1677C8"/>
            </a:solidFill>
            <a:prstDash val="solid"/>
          </a:ln>
        </p:spPr>
      </p:sp>
      <p:sp>
        <p:nvSpPr>
          <p:cNvPr id="51" name="Text 49"/>
          <p:cNvSpPr/>
          <p:nvPr/>
        </p:nvSpPr>
        <p:spPr>
          <a:xfrm>
            <a:off x="722376" y="5138928"/>
            <a:ext cx="2258568" cy="164592"/>
          </a:xfrm>
          <a:prstGeom prst="rect">
            <a:avLst/>
          </a:prstGeom>
          <a:noFill/>
          <a:ln/>
        </p:spPr>
        <p:txBody>
          <a:bodyPr wrap="square" lIns="0" tIns="0" rIns="0" bIns="0" rtlCol="0" anchor="ctr"/>
          <a:lstStyle/>
          <a:p>
            <a:pPr marL="0" indent="0">
              <a:buNone/>
            </a:pPr>
            <a:r>
              <a:rPr lang="en-US" sz="920" b="1" dirty="0">
                <a:solidFill>
                  <a:srgbClr val="1677C8"/>
                </a:solidFill>
              </a:rPr>
              <a:t>Test Environment</a:t>
            </a:r>
            <a:endParaRPr lang="en-US" sz="920" dirty="0"/>
          </a:p>
        </p:txBody>
      </p:sp>
      <p:sp>
        <p:nvSpPr>
          <p:cNvPr id="52" name="Text 50"/>
          <p:cNvSpPr/>
          <p:nvPr/>
        </p:nvSpPr>
        <p:spPr>
          <a:xfrm>
            <a:off x="722376" y="5376672"/>
            <a:ext cx="2258568" cy="356616"/>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OS: Windows 11</a:t>
            </a:r>
            <a:endParaRPr lang="en-US" sz="770" dirty="0"/>
          </a:p>
          <a:p>
            <a:pPr marL="0" indent="0">
              <a:buNone/>
            </a:pPr>
            <a:r>
              <a:rPr lang="en-US" sz="770" dirty="0">
                <a:solidFill>
                  <a:srgbClr val="1F2937"/>
                </a:solidFill>
              </a:rPr>
              <a:t>Framework: POM</a:t>
            </a:r>
            <a:endParaRPr lang="en-US" sz="770" dirty="0"/>
          </a:p>
          <a:p>
            <a:pPr marL="0" indent="0">
              <a:buNone/>
            </a:pPr>
            <a:r>
              <a:rPr lang="en-US" sz="770" dirty="0">
                <a:solidFill>
                  <a:srgbClr val="1F2937"/>
                </a:solidFill>
              </a:rPr>
              <a:t>Logs: Enabled</a:t>
            </a:r>
            <a:endParaRPr lang="en-US" sz="770" dirty="0"/>
          </a:p>
          <a:p>
            <a:pPr marL="0" indent="0">
              <a:buNone/>
            </a:pPr>
            <a:r>
              <a:rPr lang="en-US" sz="770" dirty="0">
                <a:solidFill>
                  <a:srgbClr val="1F2937"/>
                </a:solidFill>
              </a:rPr>
              <a:t>Screenshots: Enabled</a:t>
            </a:r>
            <a:endParaRPr lang="en-US" sz="770" dirty="0"/>
          </a:p>
        </p:txBody>
      </p:sp>
      <p:sp>
        <p:nvSpPr>
          <p:cNvPr id="53" name="Shape 51"/>
          <p:cNvSpPr/>
          <p:nvPr/>
        </p:nvSpPr>
        <p:spPr>
          <a:xfrm>
            <a:off x="3182112" y="5029200"/>
            <a:ext cx="2487168" cy="768096"/>
          </a:xfrm>
          <a:prstGeom prst="roundRect">
            <a:avLst>
              <a:gd name="adj" fmla="val 9524"/>
            </a:avLst>
          </a:prstGeom>
          <a:solidFill>
            <a:srgbClr val="FFFFFF"/>
          </a:solidFill>
          <a:ln w="12700">
            <a:solidFill>
              <a:srgbClr val="D6E4F2"/>
            </a:solidFill>
            <a:prstDash val="solid"/>
          </a:ln>
        </p:spPr>
      </p:sp>
      <p:sp>
        <p:nvSpPr>
          <p:cNvPr id="54" name="Shape 52"/>
          <p:cNvSpPr/>
          <p:nvPr/>
        </p:nvSpPr>
        <p:spPr>
          <a:xfrm>
            <a:off x="3182112" y="5029200"/>
            <a:ext cx="73152" cy="768096"/>
          </a:xfrm>
          <a:prstGeom prst="rect">
            <a:avLst/>
          </a:prstGeom>
          <a:solidFill>
            <a:srgbClr val="12B76A"/>
          </a:solidFill>
          <a:ln w="12700">
            <a:solidFill>
              <a:srgbClr val="12B76A"/>
            </a:solidFill>
            <a:prstDash val="solid"/>
          </a:ln>
        </p:spPr>
      </p:sp>
      <p:sp>
        <p:nvSpPr>
          <p:cNvPr id="55" name="Text 53"/>
          <p:cNvSpPr/>
          <p:nvPr/>
        </p:nvSpPr>
        <p:spPr>
          <a:xfrm>
            <a:off x="3328416" y="5138928"/>
            <a:ext cx="2258568" cy="164592"/>
          </a:xfrm>
          <a:prstGeom prst="rect">
            <a:avLst/>
          </a:prstGeom>
          <a:noFill/>
          <a:ln/>
        </p:spPr>
        <p:txBody>
          <a:bodyPr wrap="square" lIns="0" tIns="0" rIns="0" bIns="0" rtlCol="0" anchor="ctr"/>
          <a:lstStyle/>
          <a:p>
            <a:pPr marL="0" indent="0">
              <a:buNone/>
            </a:pPr>
            <a:r>
              <a:rPr lang="en-US" sz="920" b="1" dirty="0">
                <a:solidFill>
                  <a:srgbClr val="12B76A"/>
                </a:solidFill>
              </a:rPr>
              <a:t>Execution Result</a:t>
            </a:r>
            <a:endParaRPr lang="en-US" sz="920" dirty="0"/>
          </a:p>
        </p:txBody>
      </p:sp>
      <p:sp>
        <p:nvSpPr>
          <p:cNvPr id="56" name="Text 54"/>
          <p:cNvSpPr/>
          <p:nvPr/>
        </p:nvSpPr>
        <p:spPr>
          <a:xfrm>
            <a:off x="3328416" y="5376672"/>
            <a:ext cx="2258568" cy="356616"/>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Total Tests: 6</a:t>
            </a:r>
            <a:endParaRPr lang="en-US" sz="770" dirty="0"/>
          </a:p>
          <a:p>
            <a:pPr marL="0" indent="0">
              <a:buNone/>
            </a:pPr>
            <a:r>
              <a:rPr lang="en-US" sz="770" dirty="0">
                <a:solidFill>
                  <a:srgbClr val="1F2937"/>
                </a:solidFill>
              </a:rPr>
              <a:t>Passed: 6</a:t>
            </a:r>
            <a:endParaRPr lang="en-US" sz="770" dirty="0"/>
          </a:p>
          <a:p>
            <a:pPr marL="0" indent="0">
              <a:buNone/>
            </a:pPr>
            <a:r>
              <a:rPr lang="en-US" sz="770" dirty="0">
                <a:solidFill>
                  <a:srgbClr val="1F2937"/>
                </a:solidFill>
              </a:rPr>
              <a:t>Failed: 0</a:t>
            </a:r>
            <a:endParaRPr lang="en-US" sz="770" dirty="0"/>
          </a:p>
          <a:p>
            <a:pPr marL="0" indent="0">
              <a:buNone/>
            </a:pPr>
            <a:r>
              <a:rPr lang="en-US" sz="770" dirty="0">
                <a:solidFill>
                  <a:srgbClr val="1F2937"/>
                </a:solidFill>
              </a:rPr>
              <a:t>Accuracy: 100%</a:t>
            </a:r>
            <a:endParaRPr lang="en-US" sz="770" dirty="0"/>
          </a:p>
        </p:txBody>
      </p:sp>
      <p:sp>
        <p:nvSpPr>
          <p:cNvPr id="57" name="Shape 55"/>
          <p:cNvSpPr/>
          <p:nvPr/>
        </p:nvSpPr>
        <p:spPr>
          <a:xfrm>
            <a:off x="6400800" y="2139696"/>
            <a:ext cx="5093208" cy="804672"/>
          </a:xfrm>
          <a:prstGeom prst="roundRect">
            <a:avLst>
              <a:gd name="adj" fmla="val 9091"/>
            </a:avLst>
          </a:prstGeom>
          <a:solidFill>
            <a:srgbClr val="FFFFFF"/>
          </a:solidFill>
          <a:ln w="12700">
            <a:solidFill>
              <a:srgbClr val="D6E4F2"/>
            </a:solidFill>
            <a:prstDash val="solid"/>
          </a:ln>
        </p:spPr>
      </p:sp>
      <p:sp>
        <p:nvSpPr>
          <p:cNvPr id="58" name="Shape 56"/>
          <p:cNvSpPr/>
          <p:nvPr/>
        </p:nvSpPr>
        <p:spPr>
          <a:xfrm>
            <a:off x="6400800" y="2139696"/>
            <a:ext cx="73152" cy="804672"/>
          </a:xfrm>
          <a:prstGeom prst="rect">
            <a:avLst/>
          </a:prstGeom>
          <a:solidFill>
            <a:srgbClr val="14375F"/>
          </a:solidFill>
          <a:ln w="12700">
            <a:solidFill>
              <a:srgbClr val="14375F"/>
            </a:solidFill>
            <a:prstDash val="solid"/>
          </a:ln>
        </p:spPr>
      </p:sp>
      <p:sp>
        <p:nvSpPr>
          <p:cNvPr id="59" name="Text 57"/>
          <p:cNvSpPr/>
          <p:nvPr/>
        </p:nvSpPr>
        <p:spPr>
          <a:xfrm>
            <a:off x="6547104" y="2249424"/>
            <a:ext cx="4864608" cy="164592"/>
          </a:xfrm>
          <a:prstGeom prst="rect">
            <a:avLst/>
          </a:prstGeom>
          <a:noFill/>
          <a:ln/>
        </p:spPr>
        <p:txBody>
          <a:bodyPr wrap="square" lIns="0" tIns="0" rIns="0" bIns="0" rtlCol="0" anchor="ctr"/>
          <a:lstStyle/>
          <a:p>
            <a:pPr marL="0" indent="0">
              <a:buNone/>
            </a:pPr>
            <a:r>
              <a:rPr lang="en-US" sz="920" b="1" dirty="0">
                <a:solidFill>
                  <a:srgbClr val="14375F"/>
                </a:solidFill>
              </a:rPr>
              <a:t>BDD Test Strategy</a:t>
            </a:r>
            <a:endParaRPr lang="en-US" sz="920" dirty="0"/>
          </a:p>
        </p:txBody>
      </p:sp>
      <p:sp>
        <p:nvSpPr>
          <p:cNvPr id="60" name="Text 58"/>
          <p:cNvSpPr/>
          <p:nvPr/>
        </p:nvSpPr>
        <p:spPr>
          <a:xfrm>
            <a:off x="6547104" y="2487168"/>
            <a:ext cx="4864608" cy="393192"/>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Behave BDD uses Gherkin feature files with Given, When, Then syntax. Scenarios are readable for technical and non-technical reviewers and map to Selenium step definitions.</a:t>
            </a:r>
            <a:endParaRPr lang="en-US" sz="770" dirty="0"/>
          </a:p>
        </p:txBody>
      </p:sp>
      <p:sp>
        <p:nvSpPr>
          <p:cNvPr id="61" name="Shape 59"/>
          <p:cNvSpPr/>
          <p:nvPr/>
        </p:nvSpPr>
        <p:spPr>
          <a:xfrm>
            <a:off x="6400800" y="3108960"/>
            <a:ext cx="2487168" cy="1097280"/>
          </a:xfrm>
          <a:prstGeom prst="roundRect">
            <a:avLst>
              <a:gd name="adj" fmla="val 6667"/>
            </a:avLst>
          </a:prstGeom>
          <a:solidFill>
            <a:srgbClr val="FFFFFF"/>
          </a:solidFill>
          <a:ln w="12700">
            <a:solidFill>
              <a:srgbClr val="D6E4F2"/>
            </a:solidFill>
            <a:prstDash val="solid"/>
          </a:ln>
        </p:spPr>
      </p:sp>
      <p:sp>
        <p:nvSpPr>
          <p:cNvPr id="62" name="Shape 60"/>
          <p:cNvSpPr/>
          <p:nvPr/>
        </p:nvSpPr>
        <p:spPr>
          <a:xfrm>
            <a:off x="6400800" y="3108960"/>
            <a:ext cx="73152" cy="1097280"/>
          </a:xfrm>
          <a:prstGeom prst="rect">
            <a:avLst/>
          </a:prstGeom>
          <a:solidFill>
            <a:srgbClr val="12B76A"/>
          </a:solidFill>
          <a:ln w="12700">
            <a:solidFill>
              <a:srgbClr val="12B76A"/>
            </a:solidFill>
            <a:prstDash val="solid"/>
          </a:ln>
        </p:spPr>
      </p:sp>
      <p:sp>
        <p:nvSpPr>
          <p:cNvPr id="63" name="Text 61"/>
          <p:cNvSpPr/>
          <p:nvPr/>
        </p:nvSpPr>
        <p:spPr>
          <a:xfrm>
            <a:off x="6547104" y="3218688"/>
            <a:ext cx="2258568" cy="164592"/>
          </a:xfrm>
          <a:prstGeom prst="rect">
            <a:avLst/>
          </a:prstGeom>
          <a:noFill/>
          <a:ln/>
        </p:spPr>
        <p:txBody>
          <a:bodyPr wrap="square" lIns="0" tIns="0" rIns="0" bIns="0" rtlCol="0" anchor="ctr"/>
          <a:lstStyle/>
          <a:p>
            <a:pPr marL="0" indent="0">
              <a:buNone/>
            </a:pPr>
            <a:r>
              <a:rPr lang="en-US" sz="920" b="1" dirty="0">
                <a:solidFill>
                  <a:srgbClr val="12B76A"/>
                </a:solidFill>
              </a:rPr>
              <a:t>Positive Test Cases</a:t>
            </a:r>
            <a:endParaRPr lang="en-US" sz="920" dirty="0"/>
          </a:p>
        </p:txBody>
      </p:sp>
      <p:sp>
        <p:nvSpPr>
          <p:cNvPr id="64" name="Text 62"/>
          <p:cNvSpPr/>
          <p:nvPr/>
        </p:nvSpPr>
        <p:spPr>
          <a:xfrm>
            <a:off x="6547104" y="3456432"/>
            <a:ext cx="2258568" cy="685800"/>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1. Successful package search</a:t>
            </a:r>
            <a:endParaRPr lang="en-US" sz="770" dirty="0"/>
          </a:p>
          <a:p>
            <a:pPr marL="0" indent="0">
              <a:buNone/>
            </a:pPr>
            <a:r>
              <a:rPr lang="en-US" sz="770" dirty="0">
                <a:solidFill>
                  <a:srgbClr val="1F2937"/>
                </a:solidFill>
              </a:rPr>
              <a:t>2. Package selection validation</a:t>
            </a:r>
            <a:endParaRPr lang="en-US" sz="770" dirty="0"/>
          </a:p>
          <a:p>
            <a:pPr marL="0" indent="0">
              <a:buNone/>
            </a:pPr>
            <a:r>
              <a:rPr lang="en-US" sz="770" dirty="0">
                <a:solidFill>
                  <a:srgbClr val="1F2937"/>
                </a:solidFill>
              </a:rPr>
              <a:t>3. Booking workflow validation</a:t>
            </a:r>
            <a:endParaRPr lang="en-US" sz="770" dirty="0"/>
          </a:p>
          <a:p>
            <a:pPr marL="0" indent="0">
              <a:buNone/>
            </a:pPr>
            <a:r>
              <a:rPr lang="en-US" sz="770" dirty="0">
                <a:solidFill>
                  <a:srgbClr val="1F2937"/>
                </a:solidFill>
              </a:rPr>
              <a:t>4. Payment validation</a:t>
            </a:r>
            <a:endParaRPr lang="en-US" sz="770" dirty="0"/>
          </a:p>
        </p:txBody>
      </p:sp>
      <p:sp>
        <p:nvSpPr>
          <p:cNvPr id="65" name="Shape 63"/>
          <p:cNvSpPr/>
          <p:nvPr/>
        </p:nvSpPr>
        <p:spPr>
          <a:xfrm>
            <a:off x="9006840" y="3108960"/>
            <a:ext cx="2487168" cy="1097280"/>
          </a:xfrm>
          <a:prstGeom prst="roundRect">
            <a:avLst>
              <a:gd name="adj" fmla="val 6667"/>
            </a:avLst>
          </a:prstGeom>
          <a:solidFill>
            <a:srgbClr val="FFFFFF"/>
          </a:solidFill>
          <a:ln w="12700">
            <a:solidFill>
              <a:srgbClr val="D6E4F2"/>
            </a:solidFill>
            <a:prstDash val="solid"/>
          </a:ln>
        </p:spPr>
      </p:sp>
      <p:sp>
        <p:nvSpPr>
          <p:cNvPr id="66" name="Shape 64"/>
          <p:cNvSpPr/>
          <p:nvPr/>
        </p:nvSpPr>
        <p:spPr>
          <a:xfrm>
            <a:off x="9006840" y="3108960"/>
            <a:ext cx="73152" cy="1097280"/>
          </a:xfrm>
          <a:prstGeom prst="rect">
            <a:avLst/>
          </a:prstGeom>
          <a:solidFill>
            <a:srgbClr val="D92D20"/>
          </a:solidFill>
          <a:ln w="12700">
            <a:solidFill>
              <a:srgbClr val="D92D20"/>
            </a:solidFill>
            <a:prstDash val="solid"/>
          </a:ln>
        </p:spPr>
      </p:sp>
      <p:sp>
        <p:nvSpPr>
          <p:cNvPr id="67" name="Text 65"/>
          <p:cNvSpPr/>
          <p:nvPr/>
        </p:nvSpPr>
        <p:spPr>
          <a:xfrm>
            <a:off x="9153144" y="3218688"/>
            <a:ext cx="2258568" cy="164592"/>
          </a:xfrm>
          <a:prstGeom prst="rect">
            <a:avLst/>
          </a:prstGeom>
          <a:noFill/>
          <a:ln/>
        </p:spPr>
        <p:txBody>
          <a:bodyPr wrap="square" lIns="0" tIns="0" rIns="0" bIns="0" rtlCol="0" anchor="ctr"/>
          <a:lstStyle/>
          <a:p>
            <a:pPr marL="0" indent="0">
              <a:buNone/>
            </a:pPr>
            <a:r>
              <a:rPr lang="en-US" sz="920" b="1" dirty="0">
                <a:solidFill>
                  <a:srgbClr val="D92D20"/>
                </a:solidFill>
              </a:rPr>
              <a:t>Negative Test Cases</a:t>
            </a:r>
            <a:endParaRPr lang="en-US" sz="920" dirty="0"/>
          </a:p>
        </p:txBody>
      </p:sp>
      <p:sp>
        <p:nvSpPr>
          <p:cNvPr id="68" name="Text 66"/>
          <p:cNvSpPr/>
          <p:nvPr/>
        </p:nvSpPr>
        <p:spPr>
          <a:xfrm>
            <a:off x="9153144" y="3456432"/>
            <a:ext cx="2258568" cy="685800"/>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1. Empty destination validation</a:t>
            </a:r>
            <a:endParaRPr lang="en-US" sz="770" dirty="0"/>
          </a:p>
          <a:p>
            <a:pPr marL="0" indent="0">
              <a:buNone/>
            </a:pPr>
            <a:r>
              <a:rPr lang="en-US" sz="770" dirty="0">
                <a:solidFill>
                  <a:srgbClr val="1F2937"/>
                </a:solidFill>
              </a:rPr>
              <a:t>2. Invalid package selection validation</a:t>
            </a:r>
            <a:endParaRPr lang="en-US" sz="770" dirty="0"/>
          </a:p>
        </p:txBody>
      </p:sp>
      <p:sp>
        <p:nvSpPr>
          <p:cNvPr id="69" name="Shape 67"/>
          <p:cNvSpPr/>
          <p:nvPr/>
        </p:nvSpPr>
        <p:spPr>
          <a:xfrm>
            <a:off x="6400800" y="4389120"/>
            <a:ext cx="2487168" cy="685800"/>
          </a:xfrm>
          <a:prstGeom prst="roundRect">
            <a:avLst>
              <a:gd name="adj" fmla="val 10667"/>
            </a:avLst>
          </a:prstGeom>
          <a:solidFill>
            <a:srgbClr val="FFFFFF"/>
          </a:solidFill>
          <a:ln w="12700">
            <a:solidFill>
              <a:srgbClr val="D6E4F2"/>
            </a:solidFill>
            <a:prstDash val="solid"/>
          </a:ln>
        </p:spPr>
      </p:sp>
      <p:sp>
        <p:nvSpPr>
          <p:cNvPr id="70" name="Shape 68"/>
          <p:cNvSpPr/>
          <p:nvPr/>
        </p:nvSpPr>
        <p:spPr>
          <a:xfrm>
            <a:off x="6400800" y="4389120"/>
            <a:ext cx="73152" cy="685800"/>
          </a:xfrm>
          <a:prstGeom prst="rect">
            <a:avLst/>
          </a:prstGeom>
          <a:solidFill>
            <a:srgbClr val="1677C8"/>
          </a:solidFill>
          <a:ln w="12700">
            <a:solidFill>
              <a:srgbClr val="1677C8"/>
            </a:solidFill>
            <a:prstDash val="solid"/>
          </a:ln>
        </p:spPr>
      </p:sp>
      <p:sp>
        <p:nvSpPr>
          <p:cNvPr id="71" name="Text 69"/>
          <p:cNvSpPr/>
          <p:nvPr/>
        </p:nvSpPr>
        <p:spPr>
          <a:xfrm>
            <a:off x="6547104" y="4498848"/>
            <a:ext cx="2258568" cy="164592"/>
          </a:xfrm>
          <a:prstGeom prst="rect">
            <a:avLst/>
          </a:prstGeom>
          <a:noFill/>
          <a:ln/>
        </p:spPr>
        <p:txBody>
          <a:bodyPr wrap="square" lIns="0" tIns="0" rIns="0" bIns="0" rtlCol="0" anchor="ctr"/>
          <a:lstStyle/>
          <a:p>
            <a:pPr marL="0" indent="0">
              <a:buNone/>
            </a:pPr>
            <a:r>
              <a:rPr lang="en-US" sz="920" b="1" dirty="0">
                <a:solidFill>
                  <a:srgbClr val="1677C8"/>
                </a:solidFill>
              </a:rPr>
              <a:t>Tools Used</a:t>
            </a:r>
            <a:endParaRPr lang="en-US" sz="920" dirty="0"/>
          </a:p>
        </p:txBody>
      </p:sp>
      <p:sp>
        <p:nvSpPr>
          <p:cNvPr id="72" name="Text 70"/>
          <p:cNvSpPr/>
          <p:nvPr/>
        </p:nvSpPr>
        <p:spPr>
          <a:xfrm>
            <a:off x="6547104" y="4736592"/>
            <a:ext cx="2258568" cy="274320"/>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Selenium WebDriver</a:t>
            </a:r>
            <a:endParaRPr lang="en-US" sz="770" dirty="0"/>
          </a:p>
          <a:p>
            <a:pPr marL="0" indent="0">
              <a:buNone/>
            </a:pPr>
            <a:r>
              <a:rPr lang="en-US" sz="770" dirty="0">
                <a:solidFill>
                  <a:srgbClr val="1F2937"/>
                </a:solidFill>
              </a:rPr>
              <a:t>Python, Pytest, Behave BDD</a:t>
            </a:r>
            <a:endParaRPr lang="en-US" sz="770" dirty="0"/>
          </a:p>
          <a:p>
            <a:pPr marL="0" indent="0">
              <a:buNone/>
            </a:pPr>
            <a:r>
              <a:rPr lang="en-US" sz="770" dirty="0">
                <a:solidFill>
                  <a:srgbClr val="1F2937"/>
                </a:solidFill>
              </a:rPr>
              <a:t>Allure Reports, Chrome</a:t>
            </a:r>
            <a:endParaRPr lang="en-US" sz="770" dirty="0"/>
          </a:p>
        </p:txBody>
      </p:sp>
      <p:sp>
        <p:nvSpPr>
          <p:cNvPr id="73" name="Shape 71"/>
          <p:cNvSpPr/>
          <p:nvPr/>
        </p:nvSpPr>
        <p:spPr>
          <a:xfrm>
            <a:off x="9006840" y="4389120"/>
            <a:ext cx="2487168" cy="685800"/>
          </a:xfrm>
          <a:prstGeom prst="roundRect">
            <a:avLst>
              <a:gd name="adj" fmla="val 10667"/>
            </a:avLst>
          </a:prstGeom>
          <a:solidFill>
            <a:srgbClr val="FFFFFF"/>
          </a:solidFill>
          <a:ln w="12700">
            <a:solidFill>
              <a:srgbClr val="D6E4F2"/>
            </a:solidFill>
            <a:prstDash val="solid"/>
          </a:ln>
        </p:spPr>
      </p:sp>
      <p:sp>
        <p:nvSpPr>
          <p:cNvPr id="74" name="Shape 72"/>
          <p:cNvSpPr/>
          <p:nvPr/>
        </p:nvSpPr>
        <p:spPr>
          <a:xfrm>
            <a:off x="9006840" y="4389120"/>
            <a:ext cx="73152" cy="685800"/>
          </a:xfrm>
          <a:prstGeom prst="rect">
            <a:avLst/>
          </a:prstGeom>
          <a:solidFill>
            <a:srgbClr val="00A3E0"/>
          </a:solidFill>
          <a:ln w="12700">
            <a:solidFill>
              <a:srgbClr val="00A3E0"/>
            </a:solidFill>
            <a:prstDash val="solid"/>
          </a:ln>
        </p:spPr>
      </p:sp>
      <p:sp>
        <p:nvSpPr>
          <p:cNvPr id="75" name="Text 73"/>
          <p:cNvSpPr/>
          <p:nvPr/>
        </p:nvSpPr>
        <p:spPr>
          <a:xfrm>
            <a:off x="9153144" y="4498848"/>
            <a:ext cx="2258568" cy="164592"/>
          </a:xfrm>
          <a:prstGeom prst="rect">
            <a:avLst/>
          </a:prstGeom>
          <a:noFill/>
          <a:ln/>
        </p:spPr>
        <p:txBody>
          <a:bodyPr wrap="square" lIns="0" tIns="0" rIns="0" bIns="0" rtlCol="0" anchor="ctr"/>
          <a:lstStyle/>
          <a:p>
            <a:pPr marL="0" indent="0">
              <a:buNone/>
            </a:pPr>
            <a:r>
              <a:rPr lang="en-US" sz="920" b="1" dirty="0">
                <a:solidFill>
                  <a:srgbClr val="00A3E0"/>
                </a:solidFill>
              </a:rPr>
              <a:t>Validated Areas</a:t>
            </a:r>
            <a:endParaRPr lang="en-US" sz="920" dirty="0"/>
          </a:p>
        </p:txBody>
      </p:sp>
      <p:sp>
        <p:nvSpPr>
          <p:cNvPr id="76" name="Text 74"/>
          <p:cNvSpPr/>
          <p:nvPr/>
        </p:nvSpPr>
        <p:spPr>
          <a:xfrm>
            <a:off x="9153144" y="4736592"/>
            <a:ext cx="2258568" cy="274320"/>
          </a:xfrm>
          <a:prstGeom prst="rect">
            <a:avLst/>
          </a:prstGeom>
          <a:noFill/>
          <a:ln/>
        </p:spPr>
        <p:txBody>
          <a:bodyPr wrap="square" lIns="381" tIns="381" rIns="381" bIns="381" rtlCol="0" anchor="t">
            <a:normAutofit/>
          </a:bodyPr>
          <a:lstStyle/>
          <a:p>
            <a:pPr marL="0" indent="0">
              <a:buNone/>
            </a:pPr>
            <a:r>
              <a:rPr lang="en-US" sz="770" dirty="0">
                <a:solidFill>
                  <a:srgbClr val="1F2937"/>
                </a:solidFill>
              </a:rPr>
              <a:t>Workflow navigation</a:t>
            </a:r>
            <a:endParaRPr lang="en-US" sz="770" dirty="0"/>
          </a:p>
          <a:p>
            <a:pPr marL="0" indent="0">
              <a:buNone/>
            </a:pPr>
            <a:r>
              <a:rPr lang="en-US" sz="770" dirty="0">
                <a:solidFill>
                  <a:srgbClr val="1F2937"/>
                </a:solidFill>
              </a:rPr>
              <a:t>Form validations</a:t>
            </a:r>
            <a:endParaRPr lang="en-US" sz="770" dirty="0"/>
          </a:p>
          <a:p>
            <a:pPr marL="0" indent="0">
              <a:buNone/>
            </a:pPr>
            <a:r>
              <a:rPr lang="en-US" sz="770" dirty="0">
                <a:solidFill>
                  <a:srgbClr val="1F2937"/>
                </a:solidFill>
              </a:rPr>
              <a:t>Booking steps</a:t>
            </a:r>
            <a:endParaRPr lang="en-US" sz="770" dirty="0"/>
          </a:p>
          <a:p>
            <a:pPr marL="0" indent="0">
              <a:buNone/>
            </a:pPr>
            <a:r>
              <a:rPr lang="en-US" sz="770" dirty="0">
                <a:solidFill>
                  <a:srgbClr val="1F2937"/>
                </a:solidFill>
              </a:rPr>
              <a:t>Payment page boundary</a:t>
            </a:r>
            <a:endParaRPr lang="en-US" sz="770" dirty="0"/>
          </a:p>
        </p:txBody>
      </p:sp>
      <p:sp>
        <p:nvSpPr>
          <p:cNvPr id="77" name="Shape 75"/>
          <p:cNvSpPr/>
          <p:nvPr/>
        </p:nvSpPr>
        <p:spPr>
          <a:xfrm>
            <a:off x="6400800" y="5303520"/>
            <a:ext cx="1572768" cy="804672"/>
          </a:xfrm>
          <a:prstGeom prst="roundRect">
            <a:avLst>
              <a:gd name="adj" fmla="val 9091"/>
            </a:avLst>
          </a:prstGeom>
          <a:solidFill>
            <a:srgbClr val="F8FAFC"/>
          </a:solidFill>
          <a:ln w="15240">
            <a:solidFill>
              <a:srgbClr val="BFD7ED"/>
            </a:solidFill>
            <a:prstDash val="solid"/>
          </a:ln>
        </p:spPr>
      </p:sp>
      <p:sp>
        <p:nvSpPr>
          <p:cNvPr id="78" name="Shape 76"/>
          <p:cNvSpPr/>
          <p:nvPr/>
        </p:nvSpPr>
        <p:spPr>
          <a:xfrm>
            <a:off x="6510528" y="5413248"/>
            <a:ext cx="1353312" cy="36576"/>
          </a:xfrm>
          <a:prstGeom prst="rect">
            <a:avLst/>
          </a:prstGeom>
          <a:solidFill>
            <a:srgbClr val="1677C8">
              <a:alpha val="75000"/>
            </a:srgbClr>
          </a:solidFill>
          <a:ln w="12700">
            <a:solidFill>
              <a:srgbClr val="333333">
                <a:alpha val="0"/>
              </a:srgbClr>
            </a:solidFill>
            <a:prstDash val="solid"/>
          </a:ln>
        </p:spPr>
      </p:sp>
      <p:sp>
        <p:nvSpPr>
          <p:cNvPr id="79" name="Text 77"/>
          <p:cNvSpPr/>
          <p:nvPr/>
        </p:nvSpPr>
        <p:spPr>
          <a:xfrm>
            <a:off x="6547104" y="5632704"/>
            <a:ext cx="1280160" cy="164592"/>
          </a:xfrm>
          <a:prstGeom prst="rect">
            <a:avLst/>
          </a:prstGeom>
          <a:noFill/>
          <a:ln/>
        </p:spPr>
        <p:txBody>
          <a:bodyPr wrap="square" lIns="0" tIns="0" rIns="0" bIns="0" rtlCol="0" anchor="ctr"/>
          <a:lstStyle/>
          <a:p>
            <a:pPr marL="0" indent="0" algn="ctr">
              <a:buNone/>
            </a:pPr>
            <a:r>
              <a:rPr lang="en-US" sz="750" b="1" dirty="0">
                <a:solidFill>
                  <a:srgbClr val="667085"/>
                </a:solidFill>
              </a:rPr>
              <a:t>Positive Screenshot</a:t>
            </a:r>
            <a:endParaRPr lang="en-US" sz="750" dirty="0"/>
          </a:p>
        </p:txBody>
      </p:sp>
      <p:sp>
        <p:nvSpPr>
          <p:cNvPr id="80" name="Shape 78"/>
          <p:cNvSpPr/>
          <p:nvPr/>
        </p:nvSpPr>
        <p:spPr>
          <a:xfrm>
            <a:off x="8165592" y="5303520"/>
            <a:ext cx="1572768" cy="804672"/>
          </a:xfrm>
          <a:prstGeom prst="roundRect">
            <a:avLst>
              <a:gd name="adj" fmla="val 9091"/>
            </a:avLst>
          </a:prstGeom>
          <a:solidFill>
            <a:srgbClr val="F8FAFC"/>
          </a:solidFill>
          <a:ln w="15240">
            <a:solidFill>
              <a:srgbClr val="BFD7ED"/>
            </a:solidFill>
            <a:prstDash val="solid"/>
          </a:ln>
        </p:spPr>
      </p:sp>
      <p:sp>
        <p:nvSpPr>
          <p:cNvPr id="81" name="Shape 79"/>
          <p:cNvSpPr/>
          <p:nvPr/>
        </p:nvSpPr>
        <p:spPr>
          <a:xfrm>
            <a:off x="8275320" y="5413248"/>
            <a:ext cx="1353312" cy="36576"/>
          </a:xfrm>
          <a:prstGeom prst="rect">
            <a:avLst/>
          </a:prstGeom>
          <a:solidFill>
            <a:srgbClr val="1677C8">
              <a:alpha val="75000"/>
            </a:srgbClr>
          </a:solidFill>
          <a:ln w="12700">
            <a:solidFill>
              <a:srgbClr val="333333">
                <a:alpha val="0"/>
              </a:srgbClr>
            </a:solidFill>
            <a:prstDash val="solid"/>
          </a:ln>
        </p:spPr>
      </p:sp>
      <p:sp>
        <p:nvSpPr>
          <p:cNvPr id="82" name="Text 80"/>
          <p:cNvSpPr/>
          <p:nvPr/>
        </p:nvSpPr>
        <p:spPr>
          <a:xfrm>
            <a:off x="8311896" y="5632704"/>
            <a:ext cx="1280160" cy="164592"/>
          </a:xfrm>
          <a:prstGeom prst="rect">
            <a:avLst/>
          </a:prstGeom>
          <a:noFill/>
          <a:ln/>
        </p:spPr>
        <p:txBody>
          <a:bodyPr wrap="square" lIns="0" tIns="0" rIns="0" bIns="0" rtlCol="0" anchor="ctr"/>
          <a:lstStyle/>
          <a:p>
            <a:pPr marL="0" indent="0" algn="ctr">
              <a:buNone/>
            </a:pPr>
            <a:r>
              <a:rPr lang="en-US" sz="750" b="1" dirty="0">
                <a:solidFill>
                  <a:srgbClr val="667085"/>
                </a:solidFill>
              </a:rPr>
              <a:t>Negative Screenshot</a:t>
            </a:r>
            <a:endParaRPr lang="en-US" sz="750" dirty="0"/>
          </a:p>
        </p:txBody>
      </p:sp>
      <p:sp>
        <p:nvSpPr>
          <p:cNvPr id="83" name="Shape 81"/>
          <p:cNvSpPr/>
          <p:nvPr/>
        </p:nvSpPr>
        <p:spPr>
          <a:xfrm>
            <a:off x="9921240" y="5303520"/>
            <a:ext cx="1572768" cy="804672"/>
          </a:xfrm>
          <a:prstGeom prst="roundRect">
            <a:avLst>
              <a:gd name="adj" fmla="val 9091"/>
            </a:avLst>
          </a:prstGeom>
          <a:solidFill>
            <a:srgbClr val="F8FAFC"/>
          </a:solidFill>
          <a:ln w="15240">
            <a:solidFill>
              <a:srgbClr val="BFD7ED"/>
            </a:solidFill>
            <a:prstDash val="solid"/>
          </a:ln>
        </p:spPr>
      </p:sp>
      <p:sp>
        <p:nvSpPr>
          <p:cNvPr id="84" name="Shape 82"/>
          <p:cNvSpPr/>
          <p:nvPr/>
        </p:nvSpPr>
        <p:spPr>
          <a:xfrm>
            <a:off x="10030968" y="5413248"/>
            <a:ext cx="1353312" cy="36576"/>
          </a:xfrm>
          <a:prstGeom prst="rect">
            <a:avLst/>
          </a:prstGeom>
          <a:solidFill>
            <a:srgbClr val="1677C8">
              <a:alpha val="75000"/>
            </a:srgbClr>
          </a:solidFill>
          <a:ln w="12700">
            <a:solidFill>
              <a:srgbClr val="333333">
                <a:alpha val="0"/>
              </a:srgbClr>
            </a:solidFill>
            <a:prstDash val="solid"/>
          </a:ln>
        </p:spPr>
      </p:sp>
      <p:sp>
        <p:nvSpPr>
          <p:cNvPr id="85" name="Text 83"/>
          <p:cNvSpPr/>
          <p:nvPr/>
        </p:nvSpPr>
        <p:spPr>
          <a:xfrm>
            <a:off x="10067544" y="5632704"/>
            <a:ext cx="1280160" cy="164592"/>
          </a:xfrm>
          <a:prstGeom prst="rect">
            <a:avLst/>
          </a:prstGeom>
          <a:noFill/>
          <a:ln/>
        </p:spPr>
        <p:txBody>
          <a:bodyPr wrap="square" lIns="0" tIns="0" rIns="0" bIns="0" rtlCol="0" anchor="ctr"/>
          <a:lstStyle/>
          <a:p>
            <a:pPr marL="0" indent="0" algn="ctr">
              <a:buNone/>
            </a:pPr>
            <a:r>
              <a:rPr lang="en-US" sz="750" b="1" dirty="0">
                <a:solidFill>
                  <a:srgbClr val="667085"/>
                </a:solidFill>
              </a:rPr>
              <a:t>Allure Report</a:t>
            </a:r>
            <a:endParaRPr lang="en-US" sz="750" dirty="0"/>
          </a:p>
        </p:txBody>
      </p:sp>
      <p:sp>
        <p:nvSpPr>
          <p:cNvPr id="86" name="Shape 84"/>
          <p:cNvSpPr/>
          <p:nvPr/>
        </p:nvSpPr>
        <p:spPr>
          <a:xfrm>
            <a:off x="384048" y="6473952"/>
            <a:ext cx="11384280" cy="0"/>
          </a:xfrm>
          <a:prstGeom prst="line">
            <a:avLst/>
          </a:prstGeom>
          <a:noFill/>
          <a:ln w="12700">
            <a:solidFill>
              <a:srgbClr val="D6E4F2"/>
            </a:solidFill>
            <a:prstDash val="solid"/>
          </a:ln>
        </p:spPr>
      </p:sp>
      <p:sp>
        <p:nvSpPr>
          <p:cNvPr id="87" name="Text 85"/>
          <p:cNvSpPr/>
          <p:nvPr/>
        </p:nvSpPr>
        <p:spPr>
          <a:xfrm>
            <a:off x="384048" y="6547104"/>
            <a:ext cx="5303520" cy="164592"/>
          </a:xfrm>
          <a:prstGeom prst="rect">
            <a:avLst/>
          </a:prstGeom>
          <a:noFill/>
          <a:ln/>
        </p:spPr>
        <p:txBody>
          <a:bodyPr wrap="square" lIns="0" tIns="0" rIns="0" bIns="0" rtlCol="0" anchor="ctr"/>
          <a:lstStyle/>
          <a:p>
            <a:pPr marL="0" indent="0">
              <a:buNone/>
            </a:pPr>
            <a:r>
              <a:rPr lang="en-US" sz="750" dirty="0">
                <a:solidFill>
                  <a:srgbClr val="667085"/>
                </a:solidFill>
              </a:rPr>
              <a:t>Goibibo End-to-End Automation Testing Framework</a:t>
            </a:r>
            <a:endParaRPr lang="en-US" sz="750" dirty="0"/>
          </a:p>
        </p:txBody>
      </p:sp>
      <p:sp>
        <p:nvSpPr>
          <p:cNvPr id="88" name="Text 86"/>
          <p:cNvSpPr/>
          <p:nvPr/>
        </p:nvSpPr>
        <p:spPr>
          <a:xfrm>
            <a:off x="11384280" y="6528816"/>
            <a:ext cx="347472" cy="201168"/>
          </a:xfrm>
          <a:prstGeom prst="rect">
            <a:avLst/>
          </a:prstGeom>
          <a:noFill/>
          <a:ln/>
        </p:spPr>
        <p:txBody>
          <a:bodyPr wrap="square" lIns="0" tIns="0" rIns="0" bIns="0" rtlCol="0" anchor="ctr"/>
          <a:lstStyle/>
          <a:p>
            <a:pPr marL="0" indent="0" algn="r">
              <a:buNone/>
            </a:pPr>
            <a:r>
              <a:rPr lang="en-US" sz="850" b="1" dirty="0">
                <a:solidFill>
                  <a:srgbClr val="1677C8"/>
                </a:solidFill>
              </a:rPr>
              <a:t>07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1677C8"/>
          </a:solidFill>
          <a:ln w="12700">
            <a:solidFill>
              <a:srgbClr val="1677C8"/>
            </a:solidFill>
            <a:prstDash val="solid"/>
          </a:ln>
        </p:spPr>
      </p:sp>
      <p:sp>
        <p:nvSpPr>
          <p:cNvPr id="3" name="Shape 1"/>
          <p:cNvSpPr/>
          <p:nvPr/>
        </p:nvSpPr>
        <p:spPr>
          <a:xfrm>
            <a:off x="0" y="164592"/>
            <a:ext cx="12191695" cy="566928"/>
          </a:xfrm>
          <a:prstGeom prst="rect">
            <a:avLst/>
          </a:prstGeom>
          <a:solidFill>
            <a:srgbClr val="FFFFFF"/>
          </a:solidFill>
          <a:ln w="12700">
            <a:solidFill>
              <a:srgbClr val="FFFFFF"/>
            </a:solidFill>
            <a:prstDash val="solid"/>
          </a:ln>
        </p:spPr>
      </p:sp>
      <p:sp>
        <p:nvSpPr>
          <p:cNvPr id="4" name="Text 2"/>
          <p:cNvSpPr/>
          <p:nvPr/>
        </p:nvSpPr>
        <p:spPr>
          <a:xfrm>
            <a:off x="384048" y="237744"/>
            <a:ext cx="1143000" cy="292608"/>
          </a:xfrm>
          <a:prstGeom prst="rect">
            <a:avLst/>
          </a:prstGeom>
          <a:noFill/>
          <a:ln/>
        </p:spPr>
        <p:txBody>
          <a:bodyPr wrap="square" lIns="0" tIns="0" rIns="0" bIns="0" rtlCol="0" anchor="ctr"/>
          <a:lstStyle/>
          <a:p>
            <a:pPr marL="0" indent="0">
              <a:buNone/>
            </a:pPr>
            <a:r>
              <a:rPr lang="en-US" sz="1600" b="1" dirty="0">
                <a:solidFill>
                  <a:srgbClr val="F05A28"/>
                </a:solidFill>
                <a:latin typeface="Aptos Display" pitchFamily="34" charset="0"/>
                <a:ea typeface="Aptos Display" pitchFamily="34" charset="-122"/>
                <a:cs typeface="Aptos Display" pitchFamily="34" charset="-120"/>
              </a:rPr>
              <a:t>goibibo</a:t>
            </a:r>
            <a:endParaRPr lang="en-US" sz="1600" dirty="0"/>
          </a:p>
        </p:txBody>
      </p:sp>
      <p:sp>
        <p:nvSpPr>
          <p:cNvPr id="5" name="Text 3"/>
          <p:cNvSpPr/>
          <p:nvPr/>
        </p:nvSpPr>
        <p:spPr>
          <a:xfrm>
            <a:off x="1335024" y="265176"/>
            <a:ext cx="1170432" cy="228600"/>
          </a:xfrm>
          <a:prstGeom prst="rect">
            <a:avLst/>
          </a:prstGeom>
          <a:noFill/>
          <a:ln/>
        </p:spPr>
        <p:txBody>
          <a:bodyPr wrap="square" lIns="0" tIns="0" rIns="0" bIns="0" rtlCol="0" anchor="ctr"/>
          <a:lstStyle/>
          <a:p>
            <a:pPr marL="0" indent="0">
              <a:buNone/>
            </a:pPr>
            <a:r>
              <a:rPr lang="en-US" sz="950" dirty="0">
                <a:solidFill>
                  <a:srgbClr val="1677C8"/>
                </a:solidFill>
                <a:latin typeface="Aptos" pitchFamily="34" charset="0"/>
                <a:ea typeface="Aptos" pitchFamily="34" charset="-122"/>
                <a:cs typeface="Aptos" pitchFamily="34" charset="-120"/>
              </a:rPr>
              <a:t>automation</a:t>
            </a:r>
            <a:endParaRPr lang="en-US" sz="950" dirty="0"/>
          </a:p>
        </p:txBody>
      </p:sp>
      <p:sp>
        <p:nvSpPr>
          <p:cNvPr id="6" name="Text 4"/>
          <p:cNvSpPr/>
          <p:nvPr/>
        </p:nvSpPr>
        <p:spPr>
          <a:xfrm>
            <a:off x="384048" y="868680"/>
            <a:ext cx="8046720" cy="347472"/>
          </a:xfrm>
          <a:prstGeom prst="rect">
            <a:avLst/>
          </a:prstGeom>
          <a:noFill/>
          <a:ln/>
        </p:spPr>
        <p:txBody>
          <a:bodyPr wrap="square" lIns="0" tIns="0" rIns="0" bIns="0" rtlCol="0" anchor="ctr"/>
          <a:lstStyle/>
          <a:p>
            <a:pPr marL="0" indent="0">
              <a:buNone/>
            </a:pPr>
            <a:r>
              <a:rPr lang="en-US" sz="2400" b="1" dirty="0">
                <a:solidFill>
                  <a:srgbClr val="14375F"/>
                </a:solidFill>
                <a:latin typeface="Aptos Display" pitchFamily="34" charset="0"/>
                <a:ea typeface="Aptos Display" pitchFamily="34" charset="-122"/>
                <a:cs typeface="Aptos Display" pitchFamily="34" charset="-120"/>
              </a:rPr>
              <a:t>Project Deliverables</a:t>
            </a:r>
            <a:endParaRPr lang="en-US" sz="2400" dirty="0"/>
          </a:p>
        </p:txBody>
      </p:sp>
      <p:sp>
        <p:nvSpPr>
          <p:cNvPr id="7" name="Text 5"/>
          <p:cNvSpPr/>
          <p:nvPr/>
        </p:nvSpPr>
        <p:spPr>
          <a:xfrm>
            <a:off x="393192" y="1234440"/>
            <a:ext cx="7772400" cy="228600"/>
          </a:xfrm>
          <a:prstGeom prst="rect">
            <a:avLst/>
          </a:prstGeom>
          <a:noFill/>
          <a:ln/>
        </p:spPr>
        <p:txBody>
          <a:bodyPr wrap="square" lIns="0" tIns="0" rIns="0" bIns="0" rtlCol="0" anchor="ctr"/>
          <a:lstStyle/>
          <a:p>
            <a:pPr marL="0" indent="0">
              <a:buNone/>
            </a:pPr>
            <a:r>
              <a:rPr lang="en-US" sz="1050" dirty="0">
                <a:solidFill>
                  <a:srgbClr val="667085"/>
                </a:solidFill>
              </a:rPr>
              <a:t>Final assets prepared for project review and demonstration</a:t>
            </a:r>
            <a:endParaRPr lang="en-US" sz="1050" dirty="0"/>
          </a:p>
        </p:txBody>
      </p:sp>
      <p:sp>
        <p:nvSpPr>
          <p:cNvPr id="8" name="Shape 6"/>
          <p:cNvSpPr/>
          <p:nvPr/>
        </p:nvSpPr>
        <p:spPr>
          <a:xfrm>
            <a:off x="9829800" y="713232"/>
            <a:ext cx="2103120" cy="1554480"/>
          </a:xfrm>
          <a:prstGeom prst="arc">
            <a:avLst/>
          </a:prstGeom>
          <a:noFill/>
          <a:ln w="25400">
            <a:solidFill>
              <a:srgbClr val="00A3E0">
                <a:alpha val="70000"/>
              </a:srgbClr>
            </a:solidFill>
            <a:prstDash val="solid"/>
          </a:ln>
        </p:spPr>
      </p:sp>
      <p:sp>
        <p:nvSpPr>
          <p:cNvPr id="9" name="Shape 7"/>
          <p:cNvSpPr/>
          <p:nvPr/>
        </p:nvSpPr>
        <p:spPr>
          <a:xfrm>
            <a:off x="10972800" y="841248"/>
            <a:ext cx="585216" cy="201168"/>
          </a:xfrm>
          <a:prstGeom prst="line">
            <a:avLst/>
          </a:prstGeom>
          <a:noFill/>
          <a:ln w="25400">
            <a:solidFill>
              <a:srgbClr val="1677C8"/>
            </a:solidFill>
            <a:prstDash val="solid"/>
            <a:headEnd type="none"/>
            <a:tailEnd type="triangle"/>
          </a:ln>
        </p:spPr>
      </p:sp>
      <p:sp>
        <p:nvSpPr>
          <p:cNvPr id="10" name="Shape 8"/>
          <p:cNvSpPr/>
          <p:nvPr/>
        </p:nvSpPr>
        <p:spPr>
          <a:xfrm>
            <a:off x="731520" y="1691640"/>
            <a:ext cx="4800600" cy="502920"/>
          </a:xfrm>
          <a:prstGeom prst="roundRect">
            <a:avLst>
              <a:gd name="adj" fmla="val 14545"/>
            </a:avLst>
          </a:prstGeom>
          <a:solidFill>
            <a:srgbClr val="FFFFFF"/>
          </a:solidFill>
          <a:ln w="12700">
            <a:solidFill>
              <a:srgbClr val="D6E4F2"/>
            </a:solidFill>
            <a:prstDash val="solid"/>
          </a:ln>
        </p:spPr>
      </p:sp>
      <p:sp>
        <p:nvSpPr>
          <p:cNvPr id="11" name="Shape 9"/>
          <p:cNvSpPr/>
          <p:nvPr/>
        </p:nvSpPr>
        <p:spPr>
          <a:xfrm>
            <a:off x="877824" y="1755648"/>
            <a:ext cx="384048" cy="384048"/>
          </a:xfrm>
          <a:prstGeom prst="ellipse">
            <a:avLst/>
          </a:prstGeom>
          <a:solidFill>
            <a:srgbClr val="1677C8"/>
          </a:solidFill>
          <a:ln w="12700">
            <a:solidFill>
              <a:srgbClr val="1677C8"/>
            </a:solidFill>
            <a:prstDash val="solid"/>
          </a:ln>
        </p:spPr>
      </p:sp>
      <p:sp>
        <p:nvSpPr>
          <p:cNvPr id="12" name="Text 10"/>
          <p:cNvSpPr/>
          <p:nvPr/>
        </p:nvSpPr>
        <p:spPr>
          <a:xfrm>
            <a:off x="877824" y="1837944"/>
            <a:ext cx="384048" cy="146304"/>
          </a:xfrm>
          <a:prstGeom prst="rect">
            <a:avLst/>
          </a:prstGeom>
          <a:noFill/>
          <a:ln/>
        </p:spPr>
        <p:txBody>
          <a:bodyPr wrap="square" lIns="0" tIns="0" rIns="0" bIns="0" rtlCol="0" anchor="ctr"/>
          <a:lstStyle/>
          <a:p>
            <a:pPr marL="0" indent="0" algn="ctr">
              <a:buNone/>
            </a:pPr>
            <a:r>
              <a:rPr lang="en-US" sz="900" b="1" dirty="0">
                <a:solidFill>
                  <a:srgbClr val="FFFFFF"/>
                </a:solidFill>
              </a:rPr>
              <a:t>S</a:t>
            </a:r>
            <a:endParaRPr lang="en-US" sz="900" dirty="0"/>
          </a:p>
        </p:txBody>
      </p:sp>
      <p:sp>
        <p:nvSpPr>
          <p:cNvPr id="13" name="Text 11"/>
          <p:cNvSpPr/>
          <p:nvPr/>
        </p:nvSpPr>
        <p:spPr>
          <a:xfrm>
            <a:off x="1389888" y="1874520"/>
            <a:ext cx="3886200" cy="109728"/>
          </a:xfrm>
          <a:prstGeom prst="rect">
            <a:avLst/>
          </a:prstGeom>
          <a:noFill/>
          <a:ln/>
        </p:spPr>
        <p:txBody>
          <a:bodyPr wrap="square" lIns="0" tIns="0" rIns="0" bIns="0" rtlCol="0" anchor="ctr"/>
          <a:lstStyle/>
          <a:p>
            <a:pPr marL="0" indent="0">
              <a:buNone/>
            </a:pPr>
            <a:r>
              <a:rPr lang="en-US" sz="1020" b="1" dirty="0">
                <a:solidFill>
                  <a:srgbClr val="1F2937"/>
                </a:solidFill>
              </a:rPr>
              <a:t>Selenium Automation Framework (Python)</a:t>
            </a:r>
            <a:endParaRPr lang="en-US" sz="1020" dirty="0"/>
          </a:p>
        </p:txBody>
      </p:sp>
      <p:sp>
        <p:nvSpPr>
          <p:cNvPr id="14" name="Shape 12"/>
          <p:cNvSpPr/>
          <p:nvPr/>
        </p:nvSpPr>
        <p:spPr>
          <a:xfrm>
            <a:off x="6080760" y="1691640"/>
            <a:ext cx="4800600" cy="502920"/>
          </a:xfrm>
          <a:prstGeom prst="roundRect">
            <a:avLst>
              <a:gd name="adj" fmla="val 14545"/>
            </a:avLst>
          </a:prstGeom>
          <a:solidFill>
            <a:srgbClr val="FFFFFF"/>
          </a:solidFill>
          <a:ln w="12700">
            <a:solidFill>
              <a:srgbClr val="D6E4F2"/>
            </a:solidFill>
            <a:prstDash val="solid"/>
          </a:ln>
        </p:spPr>
      </p:sp>
      <p:sp>
        <p:nvSpPr>
          <p:cNvPr id="15" name="Shape 13"/>
          <p:cNvSpPr/>
          <p:nvPr/>
        </p:nvSpPr>
        <p:spPr>
          <a:xfrm>
            <a:off x="6227064" y="1755648"/>
            <a:ext cx="384048" cy="384048"/>
          </a:xfrm>
          <a:prstGeom prst="ellipse">
            <a:avLst/>
          </a:prstGeom>
          <a:solidFill>
            <a:srgbClr val="14375F"/>
          </a:solidFill>
          <a:ln w="12700">
            <a:solidFill>
              <a:srgbClr val="14375F"/>
            </a:solidFill>
            <a:prstDash val="solid"/>
          </a:ln>
        </p:spPr>
      </p:sp>
      <p:sp>
        <p:nvSpPr>
          <p:cNvPr id="16" name="Text 14"/>
          <p:cNvSpPr/>
          <p:nvPr/>
        </p:nvSpPr>
        <p:spPr>
          <a:xfrm>
            <a:off x="6227064" y="1837944"/>
            <a:ext cx="384048" cy="146304"/>
          </a:xfrm>
          <a:prstGeom prst="rect">
            <a:avLst/>
          </a:prstGeom>
          <a:noFill/>
          <a:ln/>
        </p:spPr>
        <p:txBody>
          <a:bodyPr wrap="square" lIns="0" tIns="0" rIns="0" bIns="0" rtlCol="0" anchor="ctr"/>
          <a:lstStyle/>
          <a:p>
            <a:pPr marL="0" indent="0" algn="ctr">
              <a:buNone/>
            </a:pPr>
            <a:r>
              <a:rPr lang="en-US" sz="900" b="1" dirty="0">
                <a:solidFill>
                  <a:srgbClr val="FFFFFF"/>
                </a:solidFill>
              </a:rPr>
              <a:t>B</a:t>
            </a:r>
            <a:endParaRPr lang="en-US" sz="900" dirty="0"/>
          </a:p>
        </p:txBody>
      </p:sp>
      <p:sp>
        <p:nvSpPr>
          <p:cNvPr id="17" name="Text 15"/>
          <p:cNvSpPr/>
          <p:nvPr/>
        </p:nvSpPr>
        <p:spPr>
          <a:xfrm>
            <a:off x="6739128" y="1874520"/>
            <a:ext cx="3886200" cy="109728"/>
          </a:xfrm>
          <a:prstGeom prst="rect">
            <a:avLst/>
          </a:prstGeom>
          <a:noFill/>
          <a:ln/>
        </p:spPr>
        <p:txBody>
          <a:bodyPr wrap="square" lIns="0" tIns="0" rIns="0" bIns="0" rtlCol="0" anchor="ctr"/>
          <a:lstStyle/>
          <a:p>
            <a:pPr marL="0" indent="0">
              <a:buNone/>
            </a:pPr>
            <a:r>
              <a:rPr lang="en-US" sz="1020" b="1" dirty="0">
                <a:solidFill>
                  <a:srgbClr val="1F2937"/>
                </a:solidFill>
              </a:rPr>
              <a:t>Behave BDD Feature Files</a:t>
            </a:r>
            <a:endParaRPr lang="en-US" sz="1020" dirty="0"/>
          </a:p>
        </p:txBody>
      </p:sp>
      <p:sp>
        <p:nvSpPr>
          <p:cNvPr id="22" name="Shape 20"/>
          <p:cNvSpPr/>
          <p:nvPr/>
        </p:nvSpPr>
        <p:spPr>
          <a:xfrm>
            <a:off x="6080760" y="2404872"/>
            <a:ext cx="4800600" cy="502920"/>
          </a:xfrm>
          <a:prstGeom prst="roundRect">
            <a:avLst>
              <a:gd name="adj" fmla="val 14545"/>
            </a:avLst>
          </a:prstGeom>
          <a:solidFill>
            <a:srgbClr val="FFFFFF"/>
          </a:solidFill>
          <a:ln w="12700">
            <a:solidFill>
              <a:srgbClr val="D6E4F2"/>
            </a:solidFill>
            <a:prstDash val="solid"/>
          </a:ln>
        </p:spPr>
      </p:sp>
      <p:sp>
        <p:nvSpPr>
          <p:cNvPr id="23" name="Shape 21"/>
          <p:cNvSpPr/>
          <p:nvPr/>
        </p:nvSpPr>
        <p:spPr>
          <a:xfrm>
            <a:off x="6227064" y="2468880"/>
            <a:ext cx="384048" cy="384048"/>
          </a:xfrm>
          <a:prstGeom prst="ellipse">
            <a:avLst/>
          </a:prstGeom>
          <a:solidFill>
            <a:srgbClr val="00A3E0"/>
          </a:solidFill>
          <a:ln w="12700">
            <a:solidFill>
              <a:srgbClr val="00A3E0"/>
            </a:solidFill>
            <a:prstDash val="solid"/>
          </a:ln>
        </p:spPr>
      </p:sp>
      <p:sp>
        <p:nvSpPr>
          <p:cNvPr id="24" name="Text 22"/>
          <p:cNvSpPr/>
          <p:nvPr/>
        </p:nvSpPr>
        <p:spPr>
          <a:xfrm>
            <a:off x="6227064" y="2551176"/>
            <a:ext cx="384048" cy="146304"/>
          </a:xfrm>
          <a:prstGeom prst="rect">
            <a:avLst/>
          </a:prstGeom>
          <a:noFill/>
          <a:ln/>
        </p:spPr>
        <p:txBody>
          <a:bodyPr wrap="square" lIns="0" tIns="0" rIns="0" bIns="0" rtlCol="0" anchor="ctr"/>
          <a:lstStyle/>
          <a:p>
            <a:pPr marL="0" indent="0" algn="ctr">
              <a:buNone/>
            </a:pPr>
            <a:r>
              <a:rPr lang="en-US" sz="900" b="1" dirty="0">
                <a:solidFill>
                  <a:srgbClr val="FFFFFF"/>
                </a:solidFill>
              </a:rPr>
              <a:t>R</a:t>
            </a:r>
            <a:endParaRPr lang="en-US" sz="900" dirty="0"/>
          </a:p>
        </p:txBody>
      </p:sp>
      <p:sp>
        <p:nvSpPr>
          <p:cNvPr id="25" name="Text 23"/>
          <p:cNvSpPr/>
          <p:nvPr/>
        </p:nvSpPr>
        <p:spPr>
          <a:xfrm>
            <a:off x="6739128" y="2587752"/>
            <a:ext cx="3886200" cy="109728"/>
          </a:xfrm>
          <a:prstGeom prst="rect">
            <a:avLst/>
          </a:prstGeom>
          <a:noFill/>
          <a:ln/>
        </p:spPr>
        <p:txBody>
          <a:bodyPr wrap="square" lIns="0" tIns="0" rIns="0" bIns="0" rtlCol="0" anchor="ctr"/>
          <a:lstStyle/>
          <a:p>
            <a:pPr marL="0" indent="0">
              <a:buNone/>
            </a:pPr>
            <a:r>
              <a:rPr lang="en-US" sz="1020" b="1" dirty="0">
                <a:solidFill>
                  <a:srgbClr val="1F2937"/>
                </a:solidFill>
              </a:rPr>
              <a:t>Test Report (PDF)</a:t>
            </a:r>
            <a:endParaRPr lang="en-US" sz="1020" dirty="0"/>
          </a:p>
        </p:txBody>
      </p:sp>
      <p:sp>
        <p:nvSpPr>
          <p:cNvPr id="26" name="Shape 24"/>
          <p:cNvSpPr/>
          <p:nvPr/>
        </p:nvSpPr>
        <p:spPr>
          <a:xfrm>
            <a:off x="731520" y="3118104"/>
            <a:ext cx="4800600" cy="502920"/>
          </a:xfrm>
          <a:prstGeom prst="roundRect">
            <a:avLst>
              <a:gd name="adj" fmla="val 14545"/>
            </a:avLst>
          </a:prstGeom>
          <a:solidFill>
            <a:srgbClr val="FFFFFF"/>
          </a:solidFill>
          <a:ln w="12700">
            <a:solidFill>
              <a:srgbClr val="D6E4F2"/>
            </a:solidFill>
            <a:prstDash val="solid"/>
          </a:ln>
        </p:spPr>
      </p:sp>
      <p:sp>
        <p:nvSpPr>
          <p:cNvPr id="27" name="Shape 25"/>
          <p:cNvSpPr/>
          <p:nvPr/>
        </p:nvSpPr>
        <p:spPr>
          <a:xfrm>
            <a:off x="877824" y="3182112"/>
            <a:ext cx="384048" cy="384048"/>
          </a:xfrm>
          <a:prstGeom prst="ellipse">
            <a:avLst/>
          </a:prstGeom>
          <a:solidFill>
            <a:srgbClr val="344054"/>
          </a:solidFill>
          <a:ln w="12700">
            <a:solidFill>
              <a:srgbClr val="344054"/>
            </a:solidFill>
            <a:prstDash val="solid"/>
          </a:ln>
        </p:spPr>
      </p:sp>
      <p:sp>
        <p:nvSpPr>
          <p:cNvPr id="28" name="Text 26"/>
          <p:cNvSpPr/>
          <p:nvPr/>
        </p:nvSpPr>
        <p:spPr>
          <a:xfrm>
            <a:off x="877824" y="3264408"/>
            <a:ext cx="384048" cy="146304"/>
          </a:xfrm>
          <a:prstGeom prst="rect">
            <a:avLst/>
          </a:prstGeom>
          <a:noFill/>
          <a:ln/>
        </p:spPr>
        <p:txBody>
          <a:bodyPr wrap="square" lIns="0" tIns="0" rIns="0" bIns="0" rtlCol="0" anchor="ctr"/>
          <a:lstStyle/>
          <a:p>
            <a:pPr marL="0" indent="0" algn="ctr">
              <a:buNone/>
            </a:pPr>
            <a:r>
              <a:rPr lang="en-US" sz="900" b="1" dirty="0">
                <a:solidFill>
                  <a:srgbClr val="FFFFFF"/>
                </a:solidFill>
              </a:rPr>
              <a:t>G</a:t>
            </a:r>
            <a:endParaRPr lang="en-US" sz="900" dirty="0"/>
          </a:p>
        </p:txBody>
      </p:sp>
      <p:sp>
        <p:nvSpPr>
          <p:cNvPr id="29" name="Text 27"/>
          <p:cNvSpPr/>
          <p:nvPr/>
        </p:nvSpPr>
        <p:spPr>
          <a:xfrm>
            <a:off x="1389888" y="3300984"/>
            <a:ext cx="3886200" cy="109728"/>
          </a:xfrm>
          <a:prstGeom prst="rect">
            <a:avLst/>
          </a:prstGeom>
          <a:noFill/>
          <a:ln/>
        </p:spPr>
        <p:txBody>
          <a:bodyPr wrap="square" lIns="0" tIns="0" rIns="0" bIns="0" rtlCol="0" anchor="ctr"/>
          <a:lstStyle/>
          <a:p>
            <a:pPr marL="0" indent="0">
              <a:buNone/>
            </a:pPr>
            <a:r>
              <a:rPr lang="en-US" sz="1020" b="1" dirty="0">
                <a:solidFill>
                  <a:srgbClr val="1F2937"/>
                </a:solidFill>
              </a:rPr>
              <a:t>GitHub Repository</a:t>
            </a:r>
            <a:endParaRPr lang="en-US" sz="1020" dirty="0"/>
          </a:p>
        </p:txBody>
      </p:sp>
      <p:sp>
        <p:nvSpPr>
          <p:cNvPr id="30" name="Shape 28"/>
          <p:cNvSpPr/>
          <p:nvPr/>
        </p:nvSpPr>
        <p:spPr>
          <a:xfrm>
            <a:off x="6080760" y="3118104"/>
            <a:ext cx="4800600" cy="502920"/>
          </a:xfrm>
          <a:prstGeom prst="roundRect">
            <a:avLst>
              <a:gd name="adj" fmla="val 14545"/>
            </a:avLst>
          </a:prstGeom>
          <a:solidFill>
            <a:srgbClr val="FFFFFF"/>
          </a:solidFill>
          <a:ln w="12700">
            <a:solidFill>
              <a:srgbClr val="D6E4F2"/>
            </a:solidFill>
            <a:prstDash val="solid"/>
          </a:ln>
        </p:spPr>
      </p:sp>
      <p:sp>
        <p:nvSpPr>
          <p:cNvPr id="31" name="Shape 29"/>
          <p:cNvSpPr/>
          <p:nvPr/>
        </p:nvSpPr>
        <p:spPr>
          <a:xfrm>
            <a:off x="6227064" y="3182112"/>
            <a:ext cx="384048" cy="384048"/>
          </a:xfrm>
          <a:prstGeom prst="ellipse">
            <a:avLst/>
          </a:prstGeom>
          <a:solidFill>
            <a:srgbClr val="12B76A"/>
          </a:solidFill>
          <a:ln w="12700">
            <a:solidFill>
              <a:srgbClr val="12B76A"/>
            </a:solidFill>
            <a:prstDash val="solid"/>
          </a:ln>
        </p:spPr>
      </p:sp>
      <p:sp>
        <p:nvSpPr>
          <p:cNvPr id="32" name="Text 30"/>
          <p:cNvSpPr/>
          <p:nvPr/>
        </p:nvSpPr>
        <p:spPr>
          <a:xfrm>
            <a:off x="6227064" y="3264408"/>
            <a:ext cx="384048" cy="146304"/>
          </a:xfrm>
          <a:prstGeom prst="rect">
            <a:avLst/>
          </a:prstGeom>
          <a:noFill/>
          <a:ln/>
        </p:spPr>
        <p:txBody>
          <a:bodyPr wrap="square" lIns="0" tIns="0" rIns="0" bIns="0" rtlCol="0" anchor="ctr"/>
          <a:lstStyle/>
          <a:p>
            <a:pPr marL="0" indent="0" algn="ctr">
              <a:buNone/>
            </a:pPr>
            <a:r>
              <a:rPr lang="en-US" sz="900" b="1" dirty="0">
                <a:solidFill>
                  <a:srgbClr val="FFFFFF"/>
                </a:solidFill>
              </a:rPr>
              <a:t>D</a:t>
            </a:r>
            <a:endParaRPr lang="en-US" sz="900" dirty="0"/>
          </a:p>
        </p:txBody>
      </p:sp>
      <p:sp>
        <p:nvSpPr>
          <p:cNvPr id="33" name="Text 31"/>
          <p:cNvSpPr/>
          <p:nvPr/>
        </p:nvSpPr>
        <p:spPr>
          <a:xfrm>
            <a:off x="6739128" y="3300984"/>
            <a:ext cx="3886200" cy="109728"/>
          </a:xfrm>
          <a:prstGeom prst="rect">
            <a:avLst/>
          </a:prstGeom>
          <a:noFill/>
          <a:ln/>
        </p:spPr>
        <p:txBody>
          <a:bodyPr wrap="square" lIns="0" tIns="0" rIns="0" bIns="0" rtlCol="0" anchor="ctr"/>
          <a:lstStyle/>
          <a:p>
            <a:pPr marL="0" indent="0">
              <a:buNone/>
            </a:pPr>
            <a:r>
              <a:rPr lang="en-US" sz="1020" b="1" dirty="0">
                <a:solidFill>
                  <a:srgbClr val="1F2937"/>
                </a:solidFill>
              </a:rPr>
              <a:t>Demo Presentation</a:t>
            </a:r>
            <a:endParaRPr lang="en-US" sz="1020" dirty="0"/>
          </a:p>
        </p:txBody>
      </p:sp>
      <p:sp>
        <p:nvSpPr>
          <p:cNvPr id="34" name="Shape 32"/>
          <p:cNvSpPr/>
          <p:nvPr/>
        </p:nvSpPr>
        <p:spPr>
          <a:xfrm>
            <a:off x="731520" y="3831336"/>
            <a:ext cx="4800600" cy="502920"/>
          </a:xfrm>
          <a:prstGeom prst="roundRect">
            <a:avLst>
              <a:gd name="adj" fmla="val 14545"/>
            </a:avLst>
          </a:prstGeom>
          <a:solidFill>
            <a:srgbClr val="FFFFFF"/>
          </a:solidFill>
          <a:ln w="12700">
            <a:solidFill>
              <a:srgbClr val="D6E4F2"/>
            </a:solidFill>
            <a:prstDash val="solid"/>
          </a:ln>
        </p:spPr>
      </p:sp>
      <p:sp>
        <p:nvSpPr>
          <p:cNvPr id="35" name="Shape 33"/>
          <p:cNvSpPr/>
          <p:nvPr/>
        </p:nvSpPr>
        <p:spPr>
          <a:xfrm>
            <a:off x="877824" y="3895344"/>
            <a:ext cx="384048" cy="384048"/>
          </a:xfrm>
          <a:prstGeom prst="ellipse">
            <a:avLst/>
          </a:prstGeom>
          <a:solidFill>
            <a:srgbClr val="1677C8"/>
          </a:solidFill>
          <a:ln w="12700">
            <a:solidFill>
              <a:srgbClr val="1677C8"/>
            </a:solidFill>
            <a:prstDash val="solid"/>
          </a:ln>
        </p:spPr>
      </p:sp>
      <p:sp>
        <p:nvSpPr>
          <p:cNvPr id="36" name="Text 34"/>
          <p:cNvSpPr/>
          <p:nvPr/>
        </p:nvSpPr>
        <p:spPr>
          <a:xfrm>
            <a:off x="877824" y="3977640"/>
            <a:ext cx="384048" cy="146304"/>
          </a:xfrm>
          <a:prstGeom prst="rect">
            <a:avLst/>
          </a:prstGeom>
          <a:noFill/>
          <a:ln/>
        </p:spPr>
        <p:txBody>
          <a:bodyPr wrap="square" lIns="0" tIns="0" rIns="0" bIns="0" rtlCol="0" anchor="ctr"/>
          <a:lstStyle/>
          <a:p>
            <a:pPr marL="0" indent="0" algn="ctr">
              <a:buNone/>
            </a:pPr>
            <a:r>
              <a:rPr lang="en-US" sz="900" b="1" dirty="0">
                <a:solidFill>
                  <a:srgbClr val="FFFFFF"/>
                </a:solidFill>
              </a:rPr>
              <a:t>A</a:t>
            </a:r>
            <a:endParaRPr lang="en-US" sz="900" dirty="0"/>
          </a:p>
        </p:txBody>
      </p:sp>
      <p:sp>
        <p:nvSpPr>
          <p:cNvPr id="37" name="Text 35"/>
          <p:cNvSpPr/>
          <p:nvPr/>
        </p:nvSpPr>
        <p:spPr>
          <a:xfrm>
            <a:off x="1389888" y="4014216"/>
            <a:ext cx="3886200" cy="109728"/>
          </a:xfrm>
          <a:prstGeom prst="rect">
            <a:avLst/>
          </a:prstGeom>
          <a:noFill/>
          <a:ln/>
        </p:spPr>
        <p:txBody>
          <a:bodyPr wrap="square" lIns="0" tIns="0" rIns="0" bIns="0" rtlCol="0" anchor="ctr"/>
          <a:lstStyle/>
          <a:p>
            <a:pPr marL="0" indent="0">
              <a:buNone/>
            </a:pPr>
            <a:r>
              <a:rPr lang="en-US" sz="1020" b="1" dirty="0">
                <a:solidFill>
                  <a:srgbClr val="1F2937"/>
                </a:solidFill>
              </a:rPr>
              <a:t>Allure Reports</a:t>
            </a:r>
            <a:endParaRPr lang="en-US" sz="1020" dirty="0"/>
          </a:p>
        </p:txBody>
      </p:sp>
      <p:sp>
        <p:nvSpPr>
          <p:cNvPr id="38" name="Shape 36"/>
          <p:cNvSpPr/>
          <p:nvPr/>
        </p:nvSpPr>
        <p:spPr>
          <a:xfrm>
            <a:off x="6080760" y="3831336"/>
            <a:ext cx="4800600" cy="502920"/>
          </a:xfrm>
          <a:prstGeom prst="roundRect">
            <a:avLst>
              <a:gd name="adj" fmla="val 14545"/>
            </a:avLst>
          </a:prstGeom>
          <a:solidFill>
            <a:srgbClr val="FFFFFF"/>
          </a:solidFill>
          <a:ln w="12700">
            <a:solidFill>
              <a:srgbClr val="D6E4F2"/>
            </a:solidFill>
            <a:prstDash val="solid"/>
          </a:ln>
        </p:spPr>
      </p:sp>
      <p:sp>
        <p:nvSpPr>
          <p:cNvPr id="39" name="Shape 37"/>
          <p:cNvSpPr/>
          <p:nvPr/>
        </p:nvSpPr>
        <p:spPr>
          <a:xfrm>
            <a:off x="6227064" y="3895344"/>
            <a:ext cx="384048" cy="384048"/>
          </a:xfrm>
          <a:prstGeom prst="ellipse">
            <a:avLst/>
          </a:prstGeom>
          <a:solidFill>
            <a:srgbClr val="F05A28"/>
          </a:solidFill>
          <a:ln w="12700">
            <a:solidFill>
              <a:srgbClr val="F05A28"/>
            </a:solidFill>
            <a:prstDash val="solid"/>
          </a:ln>
        </p:spPr>
      </p:sp>
      <p:sp>
        <p:nvSpPr>
          <p:cNvPr id="40" name="Text 38"/>
          <p:cNvSpPr/>
          <p:nvPr/>
        </p:nvSpPr>
        <p:spPr>
          <a:xfrm>
            <a:off x="6227064" y="3977640"/>
            <a:ext cx="384048" cy="146304"/>
          </a:xfrm>
          <a:prstGeom prst="rect">
            <a:avLst/>
          </a:prstGeom>
          <a:noFill/>
          <a:ln/>
        </p:spPr>
        <p:txBody>
          <a:bodyPr wrap="square" lIns="0" tIns="0" rIns="0" bIns="0" rtlCol="0" anchor="ctr"/>
          <a:lstStyle/>
          <a:p>
            <a:pPr marL="0" indent="0" algn="ctr">
              <a:buNone/>
            </a:pPr>
            <a:r>
              <a:rPr lang="en-US" sz="900" b="1" dirty="0">
                <a:solidFill>
                  <a:srgbClr val="FFFFFF"/>
                </a:solidFill>
              </a:rPr>
              <a:t>L</a:t>
            </a:r>
            <a:endParaRPr lang="en-US" sz="900" dirty="0"/>
          </a:p>
        </p:txBody>
      </p:sp>
      <p:sp>
        <p:nvSpPr>
          <p:cNvPr id="41" name="Text 39"/>
          <p:cNvSpPr/>
          <p:nvPr/>
        </p:nvSpPr>
        <p:spPr>
          <a:xfrm>
            <a:off x="6739128" y="4014216"/>
            <a:ext cx="3886200" cy="109728"/>
          </a:xfrm>
          <a:prstGeom prst="rect">
            <a:avLst/>
          </a:prstGeom>
          <a:noFill/>
          <a:ln/>
        </p:spPr>
        <p:txBody>
          <a:bodyPr wrap="square" lIns="0" tIns="0" rIns="0" bIns="0" rtlCol="0" anchor="ctr"/>
          <a:lstStyle/>
          <a:p>
            <a:pPr marL="0" indent="0">
              <a:buNone/>
            </a:pPr>
            <a:r>
              <a:rPr lang="en-US" sz="1020" b="1" dirty="0">
                <a:solidFill>
                  <a:srgbClr val="1F2937"/>
                </a:solidFill>
              </a:rPr>
              <a:t>Execution Logs &amp; Screenshots</a:t>
            </a:r>
            <a:endParaRPr lang="en-US" sz="1020" dirty="0"/>
          </a:p>
        </p:txBody>
      </p:sp>
      <p:sp>
        <p:nvSpPr>
          <p:cNvPr id="42" name="Shape 40"/>
          <p:cNvSpPr/>
          <p:nvPr/>
        </p:nvSpPr>
        <p:spPr>
          <a:xfrm>
            <a:off x="914400" y="4892040"/>
            <a:ext cx="10332720" cy="777240"/>
          </a:xfrm>
          <a:prstGeom prst="roundRect">
            <a:avLst>
              <a:gd name="adj" fmla="val 11765"/>
            </a:avLst>
          </a:prstGeom>
          <a:solidFill>
            <a:srgbClr val="EEF6FF"/>
          </a:solidFill>
          <a:ln w="12700">
            <a:solidFill>
              <a:srgbClr val="D6E4F2"/>
            </a:solidFill>
            <a:prstDash val="solid"/>
          </a:ln>
        </p:spPr>
      </p:sp>
      <p:sp>
        <p:nvSpPr>
          <p:cNvPr id="43" name="Text 41"/>
          <p:cNvSpPr/>
          <p:nvPr/>
        </p:nvSpPr>
        <p:spPr>
          <a:xfrm>
            <a:off x="1234440" y="5084064"/>
            <a:ext cx="1828800" cy="182880"/>
          </a:xfrm>
          <a:prstGeom prst="rect">
            <a:avLst/>
          </a:prstGeom>
          <a:noFill/>
          <a:ln/>
        </p:spPr>
        <p:txBody>
          <a:bodyPr wrap="square" lIns="0" tIns="0" rIns="0" bIns="0" rtlCol="0" anchor="ctr"/>
          <a:lstStyle/>
          <a:p>
            <a:pPr marL="0" indent="0">
              <a:buNone/>
            </a:pPr>
            <a:r>
              <a:rPr lang="en-US" sz="1500" b="1" dirty="0">
                <a:solidFill>
                  <a:srgbClr val="14375F"/>
                </a:solidFill>
              </a:rPr>
              <a:t>Delivery Package</a:t>
            </a:r>
            <a:endParaRPr lang="en-US" sz="1500" dirty="0"/>
          </a:p>
        </p:txBody>
      </p:sp>
      <p:sp>
        <p:nvSpPr>
          <p:cNvPr id="44" name="Text 42"/>
          <p:cNvSpPr/>
          <p:nvPr/>
        </p:nvSpPr>
        <p:spPr>
          <a:xfrm>
            <a:off x="3063240" y="5093208"/>
            <a:ext cx="7178040" cy="164592"/>
          </a:xfrm>
          <a:prstGeom prst="rect">
            <a:avLst/>
          </a:prstGeom>
          <a:noFill/>
          <a:ln/>
        </p:spPr>
        <p:txBody>
          <a:bodyPr wrap="square" lIns="0" tIns="0" rIns="0" bIns="0" rtlCol="0" anchor="ctr"/>
          <a:lstStyle/>
          <a:p>
            <a:pPr marL="0" indent="0">
              <a:buNone/>
            </a:pPr>
            <a:r>
              <a:rPr lang="en-US" sz="1050" dirty="0">
                <a:solidFill>
                  <a:srgbClr val="1F2937"/>
                </a:solidFill>
              </a:rPr>
              <a:t>Automation source code, BDD scenarios, reports, screenshots, logs, documentation, and final presentation are prepared for evaluation.</a:t>
            </a:r>
            <a:endParaRPr lang="en-US" sz="1050" dirty="0"/>
          </a:p>
        </p:txBody>
      </p:sp>
      <p:sp>
        <p:nvSpPr>
          <p:cNvPr id="45" name="Shape 43"/>
          <p:cNvSpPr/>
          <p:nvPr/>
        </p:nvSpPr>
        <p:spPr>
          <a:xfrm>
            <a:off x="384048" y="6473952"/>
            <a:ext cx="11384280" cy="0"/>
          </a:xfrm>
          <a:prstGeom prst="line">
            <a:avLst/>
          </a:prstGeom>
          <a:noFill/>
          <a:ln w="12700">
            <a:solidFill>
              <a:srgbClr val="D6E4F2"/>
            </a:solidFill>
            <a:prstDash val="solid"/>
          </a:ln>
        </p:spPr>
      </p:sp>
      <p:sp>
        <p:nvSpPr>
          <p:cNvPr id="46" name="Text 44"/>
          <p:cNvSpPr/>
          <p:nvPr/>
        </p:nvSpPr>
        <p:spPr>
          <a:xfrm>
            <a:off x="384048" y="6547104"/>
            <a:ext cx="5303520" cy="164592"/>
          </a:xfrm>
          <a:prstGeom prst="rect">
            <a:avLst/>
          </a:prstGeom>
          <a:noFill/>
          <a:ln/>
        </p:spPr>
        <p:txBody>
          <a:bodyPr wrap="square" lIns="0" tIns="0" rIns="0" bIns="0" rtlCol="0" anchor="ctr"/>
          <a:lstStyle/>
          <a:p>
            <a:pPr marL="0" indent="0">
              <a:buNone/>
            </a:pPr>
            <a:r>
              <a:rPr lang="en-US" sz="750" dirty="0">
                <a:solidFill>
                  <a:srgbClr val="667085"/>
                </a:solidFill>
              </a:rPr>
              <a:t>Goibibo End-to-End Automation Testing Framework</a:t>
            </a:r>
            <a:endParaRPr lang="en-US" sz="750" dirty="0"/>
          </a:p>
        </p:txBody>
      </p:sp>
      <p:sp>
        <p:nvSpPr>
          <p:cNvPr id="47" name="Text 45"/>
          <p:cNvSpPr/>
          <p:nvPr/>
        </p:nvSpPr>
        <p:spPr>
          <a:xfrm>
            <a:off x="11384280" y="6528816"/>
            <a:ext cx="347472" cy="201168"/>
          </a:xfrm>
          <a:prstGeom prst="rect">
            <a:avLst/>
          </a:prstGeom>
          <a:noFill/>
          <a:ln/>
        </p:spPr>
        <p:txBody>
          <a:bodyPr wrap="square" lIns="0" tIns="0" rIns="0" bIns="0" rtlCol="0" anchor="ctr"/>
          <a:lstStyle/>
          <a:p>
            <a:pPr marL="0" indent="0" algn="r">
              <a:buNone/>
            </a:pPr>
            <a:r>
              <a:rPr lang="en-US" sz="850" b="1" dirty="0">
                <a:solidFill>
                  <a:srgbClr val="1677C8"/>
                </a:solidFill>
              </a:rPr>
              <a:t>08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375F"/>
        </a:solidFill>
        <a:effectLst/>
      </p:bgPr>
    </p:bg>
    <p:spTree>
      <p:nvGrpSpPr>
        <p:cNvPr id="1" name=""/>
        <p:cNvGrpSpPr/>
        <p:nvPr/>
      </p:nvGrpSpPr>
      <p:grpSpPr>
        <a:xfrm>
          <a:off x="0" y="0"/>
          <a:ext cx="0" cy="0"/>
          <a:chOff x="0" y="0"/>
          <a:chExt cx="0" cy="0"/>
        </a:xfrm>
      </p:grpSpPr>
      <p:sp>
        <p:nvSpPr>
          <p:cNvPr id="2" name="Shape 0"/>
          <p:cNvSpPr/>
          <p:nvPr/>
        </p:nvSpPr>
        <p:spPr>
          <a:xfrm>
            <a:off x="7863840" y="-640080"/>
            <a:ext cx="5120640" cy="3840480"/>
          </a:xfrm>
          <a:prstGeom prst="arc">
            <a:avLst/>
          </a:prstGeom>
          <a:noFill/>
          <a:ln w="38100">
            <a:solidFill>
              <a:srgbClr val="00A3E0">
                <a:alpha val="65000"/>
              </a:srgbClr>
            </a:solidFill>
            <a:prstDash val="solid"/>
          </a:ln>
        </p:spPr>
      </p:sp>
      <p:sp>
        <p:nvSpPr>
          <p:cNvPr id="3" name="Shape 1"/>
          <p:cNvSpPr/>
          <p:nvPr/>
        </p:nvSpPr>
        <p:spPr>
          <a:xfrm>
            <a:off x="9985248" y="1005840"/>
            <a:ext cx="914400" cy="320040"/>
          </a:xfrm>
          <a:prstGeom prst="line">
            <a:avLst/>
          </a:prstGeom>
          <a:noFill/>
          <a:ln w="50800">
            <a:solidFill>
              <a:srgbClr val="F05A28"/>
            </a:solidFill>
            <a:prstDash val="solid"/>
            <a:tailEnd type="triangle"/>
          </a:ln>
        </p:spPr>
      </p:sp>
      <p:sp>
        <p:nvSpPr>
          <p:cNvPr id="4" name="Text 2"/>
          <p:cNvSpPr/>
          <p:nvPr/>
        </p:nvSpPr>
        <p:spPr>
          <a:xfrm>
            <a:off x="731520" y="1325880"/>
            <a:ext cx="5669280" cy="594360"/>
          </a:xfrm>
          <a:prstGeom prst="rect">
            <a:avLst/>
          </a:prstGeom>
          <a:noFill/>
          <a:ln/>
        </p:spPr>
        <p:txBody>
          <a:bodyPr wrap="square" lIns="0" tIns="0" rIns="0" bIns="0" rtlCol="0" anchor="ctr"/>
          <a:lstStyle/>
          <a:p>
            <a:pPr marL="0" indent="0">
              <a:buNone/>
            </a:pPr>
            <a:r>
              <a:rPr lang="en-US" sz="4400" b="1" dirty="0">
                <a:solidFill>
                  <a:srgbClr val="FFFFFF"/>
                </a:solidFill>
                <a:latin typeface="Aptos Display" pitchFamily="34" charset="0"/>
                <a:ea typeface="Aptos Display" pitchFamily="34" charset="-122"/>
                <a:cs typeface="Aptos Display" pitchFamily="34" charset="-120"/>
              </a:rPr>
              <a:t>Thank You</a:t>
            </a:r>
            <a:endParaRPr lang="en-US" sz="4400" dirty="0"/>
          </a:p>
        </p:txBody>
      </p:sp>
      <p:sp>
        <p:nvSpPr>
          <p:cNvPr id="5" name="Text 3"/>
          <p:cNvSpPr/>
          <p:nvPr/>
        </p:nvSpPr>
        <p:spPr>
          <a:xfrm>
            <a:off x="777240" y="2084832"/>
            <a:ext cx="5303520" cy="292608"/>
          </a:xfrm>
          <a:prstGeom prst="rect">
            <a:avLst/>
          </a:prstGeom>
          <a:noFill/>
          <a:ln/>
        </p:spPr>
        <p:txBody>
          <a:bodyPr wrap="square" lIns="0" tIns="0" rIns="0" bIns="0" rtlCol="0" anchor="ctr"/>
          <a:lstStyle/>
          <a:p>
            <a:pPr marL="0" indent="0">
              <a:buNone/>
            </a:pPr>
            <a:r>
              <a:rPr lang="en-US" sz="1800" dirty="0">
                <a:solidFill>
                  <a:srgbClr val="D9EAF7"/>
                </a:solidFill>
              </a:rPr>
              <a:t>Goibibo Automation Testing Project</a:t>
            </a:r>
            <a:endParaRPr lang="en-US" sz="1800" dirty="0"/>
          </a:p>
        </p:txBody>
      </p:sp>
      <p:sp>
        <p:nvSpPr>
          <p:cNvPr id="6" name="Shape 4"/>
          <p:cNvSpPr/>
          <p:nvPr/>
        </p:nvSpPr>
        <p:spPr>
          <a:xfrm>
            <a:off x="822960" y="2852928"/>
            <a:ext cx="3840480" cy="658368"/>
          </a:xfrm>
          <a:prstGeom prst="roundRect">
            <a:avLst>
              <a:gd name="adj" fmla="val 16667"/>
            </a:avLst>
          </a:prstGeom>
          <a:solidFill>
            <a:srgbClr val="FFFFFF">
              <a:alpha val="95000"/>
            </a:srgbClr>
          </a:solidFill>
          <a:ln w="12700">
            <a:solidFill>
              <a:srgbClr val="00A3E0"/>
            </a:solidFill>
            <a:prstDash val="solid"/>
          </a:ln>
        </p:spPr>
      </p:sp>
      <p:sp>
        <p:nvSpPr>
          <p:cNvPr id="7" name="Text 5"/>
          <p:cNvSpPr/>
          <p:nvPr/>
        </p:nvSpPr>
        <p:spPr>
          <a:xfrm>
            <a:off x="1097280" y="3072384"/>
            <a:ext cx="3246120" cy="164592"/>
          </a:xfrm>
          <a:prstGeom prst="rect">
            <a:avLst/>
          </a:prstGeom>
          <a:noFill/>
          <a:ln/>
        </p:spPr>
        <p:txBody>
          <a:bodyPr wrap="square" lIns="0" tIns="0" rIns="0" bIns="0" rtlCol="0" anchor="ctr"/>
          <a:lstStyle/>
          <a:p>
            <a:pPr marL="0" indent="0" algn="ctr">
              <a:buNone/>
            </a:pPr>
            <a:r>
              <a:rPr lang="en-US" sz="1800" b="1" dirty="0">
                <a:solidFill>
                  <a:srgbClr val="FFFFFF"/>
                </a:solidFill>
              </a:rPr>
              <a:t>Questions &amp; Answers</a:t>
            </a:r>
            <a:endParaRPr lang="en-US" sz="1800" dirty="0"/>
          </a:p>
        </p:txBody>
      </p:sp>
      <p:sp>
        <p:nvSpPr>
          <p:cNvPr id="8" name="Shape 6"/>
          <p:cNvSpPr/>
          <p:nvPr/>
        </p:nvSpPr>
        <p:spPr>
          <a:xfrm>
            <a:off x="6766560" y="1508760"/>
            <a:ext cx="4434840" cy="2834640"/>
          </a:xfrm>
          <a:prstGeom prst="roundRect">
            <a:avLst>
              <a:gd name="adj" fmla="val 5806"/>
            </a:avLst>
          </a:prstGeom>
          <a:solidFill>
            <a:srgbClr val="FFFFFF">
              <a:alpha val="98000"/>
            </a:srgbClr>
          </a:solidFill>
          <a:ln w="12700">
            <a:solidFill>
              <a:srgbClr val="FFFFFF">
                <a:alpha val="30000"/>
              </a:srgbClr>
            </a:solidFill>
            <a:prstDash val="solid"/>
          </a:ln>
        </p:spPr>
      </p:sp>
      <p:sp>
        <p:nvSpPr>
          <p:cNvPr id="9" name="Shape 7"/>
          <p:cNvSpPr/>
          <p:nvPr/>
        </p:nvSpPr>
        <p:spPr>
          <a:xfrm>
            <a:off x="7150608" y="1993392"/>
            <a:ext cx="1417320" cy="310896"/>
          </a:xfrm>
          <a:prstGeom prst="roundRect">
            <a:avLst>
              <a:gd name="adj" fmla="val 23529"/>
            </a:avLst>
          </a:prstGeom>
          <a:solidFill>
            <a:srgbClr val="EAF4FF"/>
          </a:solidFill>
          <a:ln w="12700">
            <a:solidFill>
              <a:srgbClr val="1677C8">
                <a:alpha val="60000"/>
              </a:srgbClr>
            </a:solidFill>
            <a:prstDash val="solid"/>
          </a:ln>
        </p:spPr>
      </p:sp>
      <p:sp>
        <p:nvSpPr>
          <p:cNvPr id="10" name="Text 8"/>
          <p:cNvSpPr/>
          <p:nvPr/>
        </p:nvSpPr>
        <p:spPr>
          <a:xfrm>
            <a:off x="7223760" y="2066544"/>
            <a:ext cx="1271016" cy="128016"/>
          </a:xfrm>
          <a:prstGeom prst="rect">
            <a:avLst/>
          </a:prstGeom>
          <a:noFill/>
          <a:ln/>
        </p:spPr>
        <p:txBody>
          <a:bodyPr wrap="square" lIns="0" tIns="0" rIns="0" bIns="0" rtlCol="0" anchor="ctr"/>
          <a:lstStyle/>
          <a:p>
            <a:pPr marL="0" indent="0" algn="ctr">
              <a:buNone/>
            </a:pPr>
            <a:r>
              <a:rPr lang="en-US" sz="820" b="1" dirty="0">
                <a:solidFill>
                  <a:srgbClr val="1677C8"/>
                </a:solidFill>
              </a:rPr>
              <a:t>Hotels</a:t>
            </a:r>
            <a:endParaRPr lang="en-US" sz="820" dirty="0"/>
          </a:p>
        </p:txBody>
      </p:sp>
      <p:sp>
        <p:nvSpPr>
          <p:cNvPr id="11" name="Shape 9"/>
          <p:cNvSpPr/>
          <p:nvPr/>
        </p:nvSpPr>
        <p:spPr>
          <a:xfrm>
            <a:off x="8933688" y="1993392"/>
            <a:ext cx="1417320" cy="310896"/>
          </a:xfrm>
          <a:prstGeom prst="roundRect">
            <a:avLst>
              <a:gd name="adj" fmla="val 23529"/>
            </a:avLst>
          </a:prstGeom>
          <a:solidFill>
            <a:srgbClr val="EAF4FF"/>
          </a:solidFill>
          <a:ln w="12700">
            <a:solidFill>
              <a:srgbClr val="1677C8">
                <a:alpha val="60000"/>
              </a:srgbClr>
            </a:solidFill>
            <a:prstDash val="solid"/>
          </a:ln>
        </p:spPr>
      </p:sp>
      <p:sp>
        <p:nvSpPr>
          <p:cNvPr id="12" name="Text 10"/>
          <p:cNvSpPr/>
          <p:nvPr/>
        </p:nvSpPr>
        <p:spPr>
          <a:xfrm>
            <a:off x="9006840" y="2066544"/>
            <a:ext cx="1271016" cy="128016"/>
          </a:xfrm>
          <a:prstGeom prst="rect">
            <a:avLst/>
          </a:prstGeom>
          <a:noFill/>
          <a:ln/>
        </p:spPr>
        <p:txBody>
          <a:bodyPr wrap="square" lIns="0" tIns="0" rIns="0" bIns="0" rtlCol="0" anchor="ctr"/>
          <a:lstStyle/>
          <a:p>
            <a:pPr marL="0" indent="0" algn="ctr">
              <a:buNone/>
            </a:pPr>
            <a:r>
              <a:rPr lang="en-US" sz="820" b="1" dirty="0">
                <a:solidFill>
                  <a:srgbClr val="1677C8"/>
                </a:solidFill>
              </a:rPr>
              <a:t>Cabs</a:t>
            </a:r>
            <a:endParaRPr lang="en-US" sz="820" dirty="0"/>
          </a:p>
        </p:txBody>
      </p:sp>
      <p:sp>
        <p:nvSpPr>
          <p:cNvPr id="13" name="Shape 11"/>
          <p:cNvSpPr/>
          <p:nvPr/>
        </p:nvSpPr>
        <p:spPr>
          <a:xfrm>
            <a:off x="7150608" y="2523744"/>
            <a:ext cx="1417320" cy="310896"/>
          </a:xfrm>
          <a:prstGeom prst="roundRect">
            <a:avLst>
              <a:gd name="adj" fmla="val 23529"/>
            </a:avLst>
          </a:prstGeom>
          <a:solidFill>
            <a:srgbClr val="EAF4FF"/>
          </a:solidFill>
          <a:ln w="12700">
            <a:solidFill>
              <a:srgbClr val="1677C8">
                <a:alpha val="60000"/>
              </a:srgbClr>
            </a:solidFill>
            <a:prstDash val="solid"/>
          </a:ln>
        </p:spPr>
      </p:sp>
      <p:sp>
        <p:nvSpPr>
          <p:cNvPr id="14" name="Text 12"/>
          <p:cNvSpPr/>
          <p:nvPr/>
        </p:nvSpPr>
        <p:spPr>
          <a:xfrm>
            <a:off x="7223760" y="2596896"/>
            <a:ext cx="1271016" cy="128016"/>
          </a:xfrm>
          <a:prstGeom prst="rect">
            <a:avLst/>
          </a:prstGeom>
          <a:noFill/>
          <a:ln/>
        </p:spPr>
        <p:txBody>
          <a:bodyPr wrap="square" lIns="0" tIns="0" rIns="0" bIns="0" rtlCol="0" anchor="ctr"/>
          <a:lstStyle/>
          <a:p>
            <a:pPr marL="0" indent="0" algn="ctr">
              <a:buNone/>
            </a:pPr>
            <a:r>
              <a:rPr lang="en-US" sz="820" b="1" dirty="0">
                <a:solidFill>
                  <a:srgbClr val="1677C8"/>
                </a:solidFill>
              </a:rPr>
              <a:t>Bus</a:t>
            </a:r>
            <a:endParaRPr lang="en-US" sz="820" dirty="0"/>
          </a:p>
        </p:txBody>
      </p:sp>
      <p:sp>
        <p:nvSpPr>
          <p:cNvPr id="15" name="Shape 13"/>
          <p:cNvSpPr/>
          <p:nvPr/>
        </p:nvSpPr>
        <p:spPr>
          <a:xfrm>
            <a:off x="8933688" y="2523744"/>
            <a:ext cx="1417320" cy="310896"/>
          </a:xfrm>
          <a:prstGeom prst="roundRect">
            <a:avLst>
              <a:gd name="adj" fmla="val 23529"/>
            </a:avLst>
          </a:prstGeom>
          <a:solidFill>
            <a:srgbClr val="EAF4FF"/>
          </a:solidFill>
          <a:ln w="12700">
            <a:solidFill>
              <a:srgbClr val="1677C8">
                <a:alpha val="60000"/>
              </a:srgbClr>
            </a:solidFill>
            <a:prstDash val="solid"/>
          </a:ln>
        </p:spPr>
      </p:sp>
      <p:sp>
        <p:nvSpPr>
          <p:cNvPr id="16" name="Text 14"/>
          <p:cNvSpPr/>
          <p:nvPr/>
        </p:nvSpPr>
        <p:spPr>
          <a:xfrm>
            <a:off x="9006840" y="2596896"/>
            <a:ext cx="1271016" cy="128016"/>
          </a:xfrm>
          <a:prstGeom prst="rect">
            <a:avLst/>
          </a:prstGeom>
          <a:noFill/>
          <a:ln/>
        </p:spPr>
        <p:txBody>
          <a:bodyPr wrap="square" lIns="0" tIns="0" rIns="0" bIns="0" rtlCol="0" anchor="ctr"/>
          <a:lstStyle/>
          <a:p>
            <a:pPr marL="0" indent="0" algn="ctr">
              <a:buNone/>
            </a:pPr>
            <a:r>
              <a:rPr lang="en-US" sz="820" b="1" dirty="0">
                <a:solidFill>
                  <a:srgbClr val="1677C8"/>
                </a:solidFill>
              </a:rPr>
              <a:t>Trains</a:t>
            </a:r>
            <a:endParaRPr lang="en-US" sz="820" dirty="0"/>
          </a:p>
        </p:txBody>
      </p:sp>
      <p:sp>
        <p:nvSpPr>
          <p:cNvPr id="17" name="Shape 15"/>
          <p:cNvSpPr/>
          <p:nvPr/>
        </p:nvSpPr>
        <p:spPr>
          <a:xfrm>
            <a:off x="7150608" y="3054096"/>
            <a:ext cx="1417320" cy="310896"/>
          </a:xfrm>
          <a:prstGeom prst="roundRect">
            <a:avLst>
              <a:gd name="adj" fmla="val 23529"/>
            </a:avLst>
          </a:prstGeom>
          <a:solidFill>
            <a:srgbClr val="EAF4FF"/>
          </a:solidFill>
          <a:ln w="12700">
            <a:solidFill>
              <a:srgbClr val="1677C8">
                <a:alpha val="60000"/>
              </a:srgbClr>
            </a:solidFill>
            <a:prstDash val="solid"/>
          </a:ln>
        </p:spPr>
      </p:sp>
      <p:sp>
        <p:nvSpPr>
          <p:cNvPr id="18" name="Text 16"/>
          <p:cNvSpPr/>
          <p:nvPr/>
        </p:nvSpPr>
        <p:spPr>
          <a:xfrm>
            <a:off x="7223760" y="3127248"/>
            <a:ext cx="1271016" cy="128016"/>
          </a:xfrm>
          <a:prstGeom prst="rect">
            <a:avLst/>
          </a:prstGeom>
          <a:noFill/>
          <a:ln/>
        </p:spPr>
        <p:txBody>
          <a:bodyPr wrap="square" lIns="0" tIns="0" rIns="0" bIns="0" rtlCol="0" anchor="ctr"/>
          <a:lstStyle/>
          <a:p>
            <a:pPr marL="0" indent="0" algn="ctr">
              <a:buNone/>
            </a:pPr>
            <a:r>
              <a:rPr lang="en-US" sz="820" b="1" dirty="0">
                <a:solidFill>
                  <a:srgbClr val="1677C8"/>
                </a:solidFill>
              </a:rPr>
              <a:t>Holidays</a:t>
            </a:r>
            <a:endParaRPr lang="en-US" sz="820" dirty="0"/>
          </a:p>
        </p:txBody>
      </p:sp>
      <p:sp>
        <p:nvSpPr>
          <p:cNvPr id="19" name="Text 17"/>
          <p:cNvSpPr/>
          <p:nvPr/>
        </p:nvSpPr>
        <p:spPr>
          <a:xfrm>
            <a:off x="7086600" y="3858768"/>
            <a:ext cx="3566160" cy="164592"/>
          </a:xfrm>
          <a:prstGeom prst="rect">
            <a:avLst/>
          </a:prstGeom>
          <a:noFill/>
          <a:ln/>
        </p:spPr>
        <p:txBody>
          <a:bodyPr wrap="square" lIns="0" tIns="0" rIns="0" bIns="0" rtlCol="0" anchor="ctr"/>
          <a:lstStyle/>
          <a:p>
            <a:pPr marL="0" indent="0" algn="ctr">
              <a:buNone/>
            </a:pPr>
            <a:r>
              <a:rPr lang="en-US" sz="1050" dirty="0">
                <a:solidFill>
                  <a:srgbClr val="667085"/>
                </a:solidFill>
              </a:rPr>
              <a:t>Team Collaboration | Selenium | Python | BDD | Allure</a:t>
            </a:r>
            <a:endParaRPr lang="en-US" sz="1050" dirty="0"/>
          </a:p>
        </p:txBody>
      </p:sp>
      <p:sp>
        <p:nvSpPr>
          <p:cNvPr id="20" name="Shape 18"/>
          <p:cNvSpPr/>
          <p:nvPr/>
        </p:nvSpPr>
        <p:spPr>
          <a:xfrm>
            <a:off x="731520" y="6080760"/>
            <a:ext cx="10789920" cy="0"/>
          </a:xfrm>
          <a:prstGeom prst="line">
            <a:avLst/>
          </a:prstGeom>
          <a:noFill/>
          <a:ln w="12700">
            <a:solidFill>
              <a:srgbClr val="EAF4FF">
                <a:alpha val="35000"/>
              </a:srgbClr>
            </a:solidFill>
            <a:prstDash val="solid"/>
          </a:ln>
        </p:spPr>
      </p:sp>
      <p:sp>
        <p:nvSpPr>
          <p:cNvPr id="21" name="Text 19"/>
          <p:cNvSpPr/>
          <p:nvPr/>
        </p:nvSpPr>
        <p:spPr>
          <a:xfrm>
            <a:off x="777240" y="6236208"/>
            <a:ext cx="6583680" cy="164592"/>
          </a:xfrm>
          <a:prstGeom prst="rect">
            <a:avLst/>
          </a:prstGeom>
          <a:noFill/>
          <a:ln/>
        </p:spPr>
        <p:txBody>
          <a:bodyPr wrap="square" lIns="0" tIns="0" rIns="0" bIns="0" rtlCol="0" anchor="ctr"/>
          <a:lstStyle/>
          <a:p>
            <a:pPr marL="0" indent="0">
              <a:buNone/>
            </a:pPr>
            <a:r>
              <a:rPr lang="en-US" sz="950" dirty="0">
                <a:solidFill>
                  <a:srgbClr val="D9EAF7"/>
                </a:solidFill>
              </a:rPr>
              <a:t>Team Goibibo Automation | Final Project Demonstration</a:t>
            </a:r>
            <a:endParaRPr lang="en-US" sz="950" dirty="0"/>
          </a:p>
        </p:txBody>
      </p:sp>
      <p:sp>
        <p:nvSpPr>
          <p:cNvPr id="22" name="Text 20"/>
          <p:cNvSpPr/>
          <p:nvPr/>
        </p:nvSpPr>
        <p:spPr>
          <a:xfrm>
            <a:off x="11183112" y="6199632"/>
            <a:ext cx="320040" cy="182880"/>
          </a:xfrm>
          <a:prstGeom prst="rect">
            <a:avLst/>
          </a:prstGeom>
          <a:noFill/>
          <a:ln/>
        </p:spPr>
        <p:txBody>
          <a:bodyPr wrap="square" lIns="0" tIns="0" rIns="0" bIns="0" rtlCol="0" anchor="ctr"/>
          <a:lstStyle/>
          <a:p>
            <a:pPr marL="0" indent="0" algn="r">
              <a:buNone/>
            </a:pPr>
            <a:r>
              <a:rPr lang="en-US" sz="900" b="1" dirty="0">
                <a:solidFill>
                  <a:srgbClr val="00A3E0"/>
                </a:solidFill>
              </a:rPr>
              <a:t>09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1522</Words>
  <Application>Microsoft Office PowerPoint</Application>
  <PresentationFormat>Widescreen</PresentationFormat>
  <Paragraphs>407</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Goibibo Automation Testing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Goibibo End-to-End Automation Testing Framework</dc:title>
  <dc:subject>Selenium Python Behave BDD Automation Framework</dc:subject>
  <dc:creator>Vanaparthi Deekshith</dc:creator>
  <cp:lastModifiedBy>Deekshith Vanaparthi</cp:lastModifiedBy>
  <cp:revision>2</cp:revision>
  <dcterms:created xsi:type="dcterms:W3CDTF">2026-05-24T16:27:36Z</dcterms:created>
  <dcterms:modified xsi:type="dcterms:W3CDTF">2026-05-24T17:16:55Z</dcterms:modified>
</cp:coreProperties>
</file>